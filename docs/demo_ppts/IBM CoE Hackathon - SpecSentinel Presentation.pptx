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1" r:id="rId3"/>
    <p:sldId id="277" r:id="rId4"/>
    <p:sldId id="278" r:id="rId5"/>
    <p:sldId id="279" r:id="rId6"/>
    <p:sldId id="280" r:id="rId7"/>
    <p:sldId id="274" r:id="rId8"/>
    <p:sldId id="275" r:id="rId9"/>
    <p:sldId id="27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E4D659-C67D-4533-9215-20A948EAC346}">
          <p14:sldIdLst>
            <p14:sldId id="256"/>
            <p14:sldId id="281"/>
            <p14:sldId id="277"/>
            <p14:sldId id="278"/>
            <p14:sldId id="279"/>
            <p14:sldId id="280"/>
            <p14:sldId id="274"/>
            <p14:sldId id="275"/>
            <p14:sldId id="276"/>
          </p14:sldIdLst>
        </p14:section>
        <p14:section name="Backup" id="{0AC94B4D-05AE-402F-9ED3-EAB19F63F45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041"/>
    <a:srgbClr val="993C1D"/>
    <a:srgbClr val="0F6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2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0B4C7E-D777-43F7-BC7D-E42F6516552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2C66747-9586-4F9D-9DFD-F4FF73216C97}">
      <dgm:prSet/>
      <dgm:spPr/>
      <dgm:t>
        <a:bodyPr/>
        <a:lstStyle/>
        <a:p>
          <a:r>
            <a:rPr lang="en-US"/>
            <a:t>Table of Content</a:t>
          </a:r>
        </a:p>
      </dgm:t>
    </dgm:pt>
    <dgm:pt modelId="{FD12628A-A978-444D-8687-4F84C22D4524}" type="parTrans" cxnId="{B891C7A0-13B6-467F-9A8F-19F1FAE36002}">
      <dgm:prSet/>
      <dgm:spPr/>
      <dgm:t>
        <a:bodyPr/>
        <a:lstStyle/>
        <a:p>
          <a:endParaRPr lang="en-US"/>
        </a:p>
      </dgm:t>
    </dgm:pt>
    <dgm:pt modelId="{71F4072F-184D-4672-B4E2-2D100A649A37}" type="sibTrans" cxnId="{B891C7A0-13B6-467F-9A8F-19F1FAE36002}">
      <dgm:prSet/>
      <dgm:spPr/>
      <dgm:t>
        <a:bodyPr/>
        <a:lstStyle/>
        <a:p>
          <a:endParaRPr lang="en-US"/>
        </a:p>
      </dgm:t>
    </dgm:pt>
    <dgm:pt modelId="{781C85B8-FFD5-41FE-A8AD-CCA7A4894095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4F735615-9CB0-4D37-9908-366867A52494}" type="parTrans" cxnId="{09D7F6C2-B15D-4EAB-AB4A-C351FD722CF6}">
      <dgm:prSet/>
      <dgm:spPr/>
      <dgm:t>
        <a:bodyPr/>
        <a:lstStyle/>
        <a:p>
          <a:endParaRPr lang="en-US"/>
        </a:p>
      </dgm:t>
    </dgm:pt>
    <dgm:pt modelId="{FBE5E241-DA5B-4CF1-960D-C5FA631A431E}" type="sibTrans" cxnId="{09D7F6C2-B15D-4EAB-AB4A-C351FD722CF6}">
      <dgm:prSet/>
      <dgm:spPr/>
      <dgm:t>
        <a:bodyPr/>
        <a:lstStyle/>
        <a:p>
          <a:endParaRPr lang="en-US"/>
        </a:p>
      </dgm:t>
    </dgm:pt>
    <dgm:pt modelId="{E4DD8267-9A91-467F-BBDF-84F42730C50C}">
      <dgm:prSet/>
      <dgm:spPr/>
      <dgm:t>
        <a:bodyPr/>
        <a:lstStyle/>
        <a:p>
          <a:r>
            <a:rPr lang="en-US"/>
            <a:t>MVP Implementation Scope</a:t>
          </a:r>
        </a:p>
      </dgm:t>
    </dgm:pt>
    <dgm:pt modelId="{D89BF036-6DCD-42B5-99AC-AB6729DFB04D}" type="parTrans" cxnId="{03F7E0B6-9883-4206-BCAA-6F2EC5780436}">
      <dgm:prSet/>
      <dgm:spPr/>
      <dgm:t>
        <a:bodyPr/>
        <a:lstStyle/>
        <a:p>
          <a:endParaRPr lang="en-US"/>
        </a:p>
      </dgm:t>
    </dgm:pt>
    <dgm:pt modelId="{C752C7B9-FAA0-4F04-84C2-36D4D0C07F7A}" type="sibTrans" cxnId="{03F7E0B6-9883-4206-BCAA-6F2EC5780436}">
      <dgm:prSet/>
      <dgm:spPr/>
      <dgm:t>
        <a:bodyPr/>
        <a:lstStyle/>
        <a:p>
          <a:endParaRPr lang="en-US"/>
        </a:p>
      </dgm:t>
    </dgm:pt>
    <dgm:pt modelId="{BD2FEEC3-7585-4184-A474-DC37F1DA2BAE}">
      <dgm:prSet/>
      <dgm:spPr/>
      <dgm:t>
        <a:bodyPr/>
        <a:lstStyle/>
        <a:p>
          <a:r>
            <a:rPr lang="en-US"/>
            <a:t>Solution Design &amp; Architecture</a:t>
          </a:r>
        </a:p>
      </dgm:t>
    </dgm:pt>
    <dgm:pt modelId="{AD7AE86A-943B-4D2D-9AD0-341902B6430A}" type="parTrans" cxnId="{819C2633-7A47-42AE-8A2A-AC016CE6DF76}">
      <dgm:prSet/>
      <dgm:spPr/>
      <dgm:t>
        <a:bodyPr/>
        <a:lstStyle/>
        <a:p>
          <a:endParaRPr lang="en-US"/>
        </a:p>
      </dgm:t>
    </dgm:pt>
    <dgm:pt modelId="{EDA5DE27-F5FC-4C55-BAD1-758BF8C840DC}" type="sibTrans" cxnId="{819C2633-7A47-42AE-8A2A-AC016CE6DF76}">
      <dgm:prSet/>
      <dgm:spPr/>
      <dgm:t>
        <a:bodyPr/>
        <a:lstStyle/>
        <a:p>
          <a:endParaRPr lang="en-US"/>
        </a:p>
      </dgm:t>
    </dgm:pt>
    <dgm:pt modelId="{252E9577-1F82-41FA-8BBC-4E0E7F737FA5}">
      <dgm:prSet/>
      <dgm:spPr/>
      <dgm:t>
        <a:bodyPr/>
        <a:lstStyle/>
        <a:p>
          <a:r>
            <a:rPr lang="en-US"/>
            <a:t>Business Value/Impact</a:t>
          </a:r>
        </a:p>
      </dgm:t>
    </dgm:pt>
    <dgm:pt modelId="{324179EC-F34A-4FD9-8582-CD3A41D26AF5}" type="parTrans" cxnId="{03786741-2DEB-4BD5-8BA3-7164EEB7957C}">
      <dgm:prSet/>
      <dgm:spPr/>
      <dgm:t>
        <a:bodyPr/>
        <a:lstStyle/>
        <a:p>
          <a:endParaRPr lang="en-US"/>
        </a:p>
      </dgm:t>
    </dgm:pt>
    <dgm:pt modelId="{C050234C-BEBA-40A1-A83F-64B200D2DD41}" type="sibTrans" cxnId="{03786741-2DEB-4BD5-8BA3-7164EEB7957C}">
      <dgm:prSet/>
      <dgm:spPr/>
      <dgm:t>
        <a:bodyPr/>
        <a:lstStyle/>
        <a:p>
          <a:endParaRPr lang="en-US"/>
        </a:p>
      </dgm:t>
    </dgm:pt>
    <dgm:pt modelId="{3FC0263F-7062-4440-AA01-527DBDCB43C3}">
      <dgm:prSet/>
      <dgm:spPr/>
      <dgm:t>
        <a:bodyPr/>
        <a:lstStyle/>
        <a:p>
          <a:r>
            <a:rPr lang="en-US" dirty="0"/>
            <a:t>Future Enhancements/Implementation Scope</a:t>
          </a:r>
        </a:p>
      </dgm:t>
    </dgm:pt>
    <dgm:pt modelId="{9C5C5149-C28D-4DDF-850B-4847A91187F7}" type="parTrans" cxnId="{830A6086-C0EA-4A2D-A71D-400660CC6E55}">
      <dgm:prSet/>
      <dgm:spPr/>
      <dgm:t>
        <a:bodyPr/>
        <a:lstStyle/>
        <a:p>
          <a:endParaRPr lang="en-US"/>
        </a:p>
      </dgm:t>
    </dgm:pt>
    <dgm:pt modelId="{F6817E6C-C941-4A03-A274-D5DBD86066C2}" type="sibTrans" cxnId="{830A6086-C0EA-4A2D-A71D-400660CC6E55}">
      <dgm:prSet/>
      <dgm:spPr/>
      <dgm:t>
        <a:bodyPr/>
        <a:lstStyle/>
        <a:p>
          <a:endParaRPr lang="en-US"/>
        </a:p>
      </dgm:t>
    </dgm:pt>
    <dgm:pt modelId="{CA96CC84-12F6-4D04-92FB-22DDD97D022A}">
      <dgm:prSet/>
      <dgm:spPr/>
      <dgm:t>
        <a:bodyPr/>
        <a:lstStyle/>
        <a:p>
          <a:r>
            <a:rPr lang="en-US"/>
            <a:t>Demo and Code base</a:t>
          </a:r>
        </a:p>
      </dgm:t>
    </dgm:pt>
    <dgm:pt modelId="{73136F63-97BB-4F85-8BC7-118317CDB9E0}" type="parTrans" cxnId="{7CD9980B-8D71-4E1F-A03B-863CE015C901}">
      <dgm:prSet/>
      <dgm:spPr/>
      <dgm:t>
        <a:bodyPr/>
        <a:lstStyle/>
        <a:p>
          <a:endParaRPr lang="en-US"/>
        </a:p>
      </dgm:t>
    </dgm:pt>
    <dgm:pt modelId="{93AB3C2C-8A5D-4459-A5BF-F3C33D9D27BC}" type="sibTrans" cxnId="{7CD9980B-8D71-4E1F-A03B-863CE015C901}">
      <dgm:prSet/>
      <dgm:spPr/>
      <dgm:t>
        <a:bodyPr/>
        <a:lstStyle/>
        <a:p>
          <a:endParaRPr lang="en-US"/>
        </a:p>
      </dgm:t>
    </dgm:pt>
    <dgm:pt modelId="{CB2814B2-E4B1-4BB4-A64B-C51E92B39594}">
      <dgm:prSet/>
      <dgm:spPr/>
      <dgm:t>
        <a:bodyPr/>
        <a:lstStyle/>
        <a:p>
          <a:r>
            <a:rPr lang="en-US"/>
            <a:t>Team Details</a:t>
          </a:r>
        </a:p>
      </dgm:t>
    </dgm:pt>
    <dgm:pt modelId="{72A3C199-8188-4302-A1F3-90BAAF585DDA}" type="parTrans" cxnId="{25CF17FC-053C-4E0D-B87C-3639EBB49EAA}">
      <dgm:prSet/>
      <dgm:spPr/>
      <dgm:t>
        <a:bodyPr/>
        <a:lstStyle/>
        <a:p>
          <a:endParaRPr lang="en-US"/>
        </a:p>
      </dgm:t>
    </dgm:pt>
    <dgm:pt modelId="{56002F48-8BC8-4AE1-AA27-E7A9159A3E02}" type="sibTrans" cxnId="{25CF17FC-053C-4E0D-B87C-3639EBB49EAA}">
      <dgm:prSet/>
      <dgm:spPr/>
      <dgm:t>
        <a:bodyPr/>
        <a:lstStyle/>
        <a:p>
          <a:endParaRPr lang="en-US"/>
        </a:p>
      </dgm:t>
    </dgm:pt>
    <dgm:pt modelId="{0EE213A2-6390-4E7C-9685-F9512C6BF6DF}" type="pres">
      <dgm:prSet presAssocID="{4C0B4C7E-D777-43F7-BC7D-E42F65165527}" presName="vert0" presStyleCnt="0">
        <dgm:presLayoutVars>
          <dgm:dir/>
          <dgm:animOne val="branch"/>
          <dgm:animLvl val="lvl"/>
        </dgm:presLayoutVars>
      </dgm:prSet>
      <dgm:spPr/>
    </dgm:pt>
    <dgm:pt modelId="{649668EB-F798-407C-8845-0CC5B3DD18A9}" type="pres">
      <dgm:prSet presAssocID="{02C66747-9586-4F9D-9DFD-F4FF73216C97}" presName="thickLine" presStyleLbl="alignNode1" presStyleIdx="0" presStyleCnt="1"/>
      <dgm:spPr/>
    </dgm:pt>
    <dgm:pt modelId="{54F7981D-5EBE-41C9-AAE5-D6471363674F}" type="pres">
      <dgm:prSet presAssocID="{02C66747-9586-4F9D-9DFD-F4FF73216C97}" presName="horz1" presStyleCnt="0"/>
      <dgm:spPr/>
    </dgm:pt>
    <dgm:pt modelId="{517322FC-0937-4E25-93A4-3DDC5CA9AB6F}" type="pres">
      <dgm:prSet presAssocID="{02C66747-9586-4F9D-9DFD-F4FF73216C97}" presName="tx1" presStyleLbl="revTx" presStyleIdx="0" presStyleCnt="8"/>
      <dgm:spPr/>
    </dgm:pt>
    <dgm:pt modelId="{4F482195-0AE4-4D0A-BE55-6EE85F675A02}" type="pres">
      <dgm:prSet presAssocID="{02C66747-9586-4F9D-9DFD-F4FF73216C97}" presName="vert1" presStyleCnt="0"/>
      <dgm:spPr/>
    </dgm:pt>
    <dgm:pt modelId="{F8F658A8-F921-47F6-AB40-DDD2656F7990}" type="pres">
      <dgm:prSet presAssocID="{781C85B8-FFD5-41FE-A8AD-CCA7A4894095}" presName="vertSpace2a" presStyleCnt="0"/>
      <dgm:spPr/>
    </dgm:pt>
    <dgm:pt modelId="{5198B020-1119-4CA4-8F07-B42EF0BE6606}" type="pres">
      <dgm:prSet presAssocID="{781C85B8-FFD5-41FE-A8AD-CCA7A4894095}" presName="horz2" presStyleCnt="0"/>
      <dgm:spPr/>
    </dgm:pt>
    <dgm:pt modelId="{67C32064-9AEA-4424-8B8F-5F7071617EAF}" type="pres">
      <dgm:prSet presAssocID="{781C85B8-FFD5-41FE-A8AD-CCA7A4894095}" presName="horzSpace2" presStyleCnt="0"/>
      <dgm:spPr/>
    </dgm:pt>
    <dgm:pt modelId="{55FC8539-7161-4FEC-A87C-CF674BB57ED1}" type="pres">
      <dgm:prSet presAssocID="{781C85B8-FFD5-41FE-A8AD-CCA7A4894095}" presName="tx2" presStyleLbl="revTx" presStyleIdx="1" presStyleCnt="8"/>
      <dgm:spPr/>
    </dgm:pt>
    <dgm:pt modelId="{9B0169B9-D574-4532-9037-A3E9358FE3F0}" type="pres">
      <dgm:prSet presAssocID="{781C85B8-FFD5-41FE-A8AD-CCA7A4894095}" presName="vert2" presStyleCnt="0"/>
      <dgm:spPr/>
    </dgm:pt>
    <dgm:pt modelId="{1580A8C5-DF19-4E41-AF72-A83C0A7F13D3}" type="pres">
      <dgm:prSet presAssocID="{781C85B8-FFD5-41FE-A8AD-CCA7A4894095}" presName="thinLine2b" presStyleLbl="callout" presStyleIdx="0" presStyleCnt="7"/>
      <dgm:spPr/>
    </dgm:pt>
    <dgm:pt modelId="{E9F9F7AB-436F-4875-9D49-8AF1C9BBBC9B}" type="pres">
      <dgm:prSet presAssocID="{781C85B8-FFD5-41FE-A8AD-CCA7A4894095}" presName="vertSpace2b" presStyleCnt="0"/>
      <dgm:spPr/>
    </dgm:pt>
    <dgm:pt modelId="{4342E966-FC02-49E8-8902-567FB4E4CA2C}" type="pres">
      <dgm:prSet presAssocID="{E4DD8267-9A91-467F-BBDF-84F42730C50C}" presName="horz2" presStyleCnt="0"/>
      <dgm:spPr/>
    </dgm:pt>
    <dgm:pt modelId="{2806619B-E7FD-4840-BAC3-A39E6843E6ED}" type="pres">
      <dgm:prSet presAssocID="{E4DD8267-9A91-467F-BBDF-84F42730C50C}" presName="horzSpace2" presStyleCnt="0"/>
      <dgm:spPr/>
    </dgm:pt>
    <dgm:pt modelId="{BDC128B0-FD29-4264-A180-0446FC575B63}" type="pres">
      <dgm:prSet presAssocID="{E4DD8267-9A91-467F-BBDF-84F42730C50C}" presName="tx2" presStyleLbl="revTx" presStyleIdx="2" presStyleCnt="8"/>
      <dgm:spPr/>
    </dgm:pt>
    <dgm:pt modelId="{352C5D05-DD4A-4B89-8F7A-10AC03E6B672}" type="pres">
      <dgm:prSet presAssocID="{E4DD8267-9A91-467F-BBDF-84F42730C50C}" presName="vert2" presStyleCnt="0"/>
      <dgm:spPr/>
    </dgm:pt>
    <dgm:pt modelId="{96DACFA0-B828-43FF-B229-F851960BEE31}" type="pres">
      <dgm:prSet presAssocID="{E4DD8267-9A91-467F-BBDF-84F42730C50C}" presName="thinLine2b" presStyleLbl="callout" presStyleIdx="1" presStyleCnt="7"/>
      <dgm:spPr/>
    </dgm:pt>
    <dgm:pt modelId="{8B45F542-4342-4F0B-9C56-C06DAD5E26A9}" type="pres">
      <dgm:prSet presAssocID="{E4DD8267-9A91-467F-BBDF-84F42730C50C}" presName="vertSpace2b" presStyleCnt="0"/>
      <dgm:spPr/>
    </dgm:pt>
    <dgm:pt modelId="{C4BB32FB-ED1F-434B-B020-D52B723FAB1A}" type="pres">
      <dgm:prSet presAssocID="{BD2FEEC3-7585-4184-A474-DC37F1DA2BAE}" presName="horz2" presStyleCnt="0"/>
      <dgm:spPr/>
    </dgm:pt>
    <dgm:pt modelId="{426B033C-9F5D-4CF2-97C3-BF59E05038E9}" type="pres">
      <dgm:prSet presAssocID="{BD2FEEC3-7585-4184-A474-DC37F1DA2BAE}" presName="horzSpace2" presStyleCnt="0"/>
      <dgm:spPr/>
    </dgm:pt>
    <dgm:pt modelId="{491AC8C5-8FBE-4487-A91E-FAD52E48F44C}" type="pres">
      <dgm:prSet presAssocID="{BD2FEEC3-7585-4184-A474-DC37F1DA2BAE}" presName="tx2" presStyleLbl="revTx" presStyleIdx="3" presStyleCnt="8"/>
      <dgm:spPr/>
    </dgm:pt>
    <dgm:pt modelId="{55C156E8-5F05-4B76-B97E-39C89DC80847}" type="pres">
      <dgm:prSet presAssocID="{BD2FEEC3-7585-4184-A474-DC37F1DA2BAE}" presName="vert2" presStyleCnt="0"/>
      <dgm:spPr/>
    </dgm:pt>
    <dgm:pt modelId="{4BA7FDA5-8FC7-4F57-A0A2-200EB8140264}" type="pres">
      <dgm:prSet presAssocID="{BD2FEEC3-7585-4184-A474-DC37F1DA2BAE}" presName="thinLine2b" presStyleLbl="callout" presStyleIdx="2" presStyleCnt="7"/>
      <dgm:spPr/>
    </dgm:pt>
    <dgm:pt modelId="{E4A8EF2A-D3E4-4007-8815-C0AFE186F192}" type="pres">
      <dgm:prSet presAssocID="{BD2FEEC3-7585-4184-A474-DC37F1DA2BAE}" presName="vertSpace2b" presStyleCnt="0"/>
      <dgm:spPr/>
    </dgm:pt>
    <dgm:pt modelId="{A785EAE0-CAE3-4162-B7CC-0D09D5BEE75F}" type="pres">
      <dgm:prSet presAssocID="{252E9577-1F82-41FA-8BBC-4E0E7F737FA5}" presName="horz2" presStyleCnt="0"/>
      <dgm:spPr/>
    </dgm:pt>
    <dgm:pt modelId="{DFE6939B-FACE-4630-A94A-47CAC27FFE13}" type="pres">
      <dgm:prSet presAssocID="{252E9577-1F82-41FA-8BBC-4E0E7F737FA5}" presName="horzSpace2" presStyleCnt="0"/>
      <dgm:spPr/>
    </dgm:pt>
    <dgm:pt modelId="{671866B1-77B4-4BAD-9486-8F2D09A3E382}" type="pres">
      <dgm:prSet presAssocID="{252E9577-1F82-41FA-8BBC-4E0E7F737FA5}" presName="tx2" presStyleLbl="revTx" presStyleIdx="4" presStyleCnt="8"/>
      <dgm:spPr/>
    </dgm:pt>
    <dgm:pt modelId="{4E0D1F9F-4DBE-4C11-9900-60F9CF1606F6}" type="pres">
      <dgm:prSet presAssocID="{252E9577-1F82-41FA-8BBC-4E0E7F737FA5}" presName="vert2" presStyleCnt="0"/>
      <dgm:spPr/>
    </dgm:pt>
    <dgm:pt modelId="{F4C45151-279D-4CFC-BDCB-8E81AED9601A}" type="pres">
      <dgm:prSet presAssocID="{252E9577-1F82-41FA-8BBC-4E0E7F737FA5}" presName="thinLine2b" presStyleLbl="callout" presStyleIdx="3" presStyleCnt="7"/>
      <dgm:spPr/>
    </dgm:pt>
    <dgm:pt modelId="{257CA5EC-DD42-458E-95B4-E62F80BA49E3}" type="pres">
      <dgm:prSet presAssocID="{252E9577-1F82-41FA-8BBC-4E0E7F737FA5}" presName="vertSpace2b" presStyleCnt="0"/>
      <dgm:spPr/>
    </dgm:pt>
    <dgm:pt modelId="{7AE9A107-E734-432D-928D-FEDE8C118D4C}" type="pres">
      <dgm:prSet presAssocID="{3FC0263F-7062-4440-AA01-527DBDCB43C3}" presName="horz2" presStyleCnt="0"/>
      <dgm:spPr/>
    </dgm:pt>
    <dgm:pt modelId="{39DA84CD-28E2-4AE5-914C-7EC4A4C7B21E}" type="pres">
      <dgm:prSet presAssocID="{3FC0263F-7062-4440-AA01-527DBDCB43C3}" presName="horzSpace2" presStyleCnt="0"/>
      <dgm:spPr/>
    </dgm:pt>
    <dgm:pt modelId="{BDFE42E1-95AC-45BE-9457-CC02256AE40F}" type="pres">
      <dgm:prSet presAssocID="{3FC0263F-7062-4440-AA01-527DBDCB43C3}" presName="tx2" presStyleLbl="revTx" presStyleIdx="5" presStyleCnt="8"/>
      <dgm:spPr/>
    </dgm:pt>
    <dgm:pt modelId="{A710AA7F-8295-41A1-B8FC-7724E9C7CE72}" type="pres">
      <dgm:prSet presAssocID="{3FC0263F-7062-4440-AA01-527DBDCB43C3}" presName="vert2" presStyleCnt="0"/>
      <dgm:spPr/>
    </dgm:pt>
    <dgm:pt modelId="{A6CD08BF-36AC-40D2-AD45-19EF52C5FC32}" type="pres">
      <dgm:prSet presAssocID="{3FC0263F-7062-4440-AA01-527DBDCB43C3}" presName="thinLine2b" presStyleLbl="callout" presStyleIdx="4" presStyleCnt="7"/>
      <dgm:spPr/>
    </dgm:pt>
    <dgm:pt modelId="{A51510E2-97F2-490B-92DD-09D0121415ED}" type="pres">
      <dgm:prSet presAssocID="{3FC0263F-7062-4440-AA01-527DBDCB43C3}" presName="vertSpace2b" presStyleCnt="0"/>
      <dgm:spPr/>
    </dgm:pt>
    <dgm:pt modelId="{0843A153-5FD3-42D4-BDAE-42E22BAEBC16}" type="pres">
      <dgm:prSet presAssocID="{CA96CC84-12F6-4D04-92FB-22DDD97D022A}" presName="horz2" presStyleCnt="0"/>
      <dgm:spPr/>
    </dgm:pt>
    <dgm:pt modelId="{087C5223-EDD1-4BB1-86D6-DF6B4A6BD4EC}" type="pres">
      <dgm:prSet presAssocID="{CA96CC84-12F6-4D04-92FB-22DDD97D022A}" presName="horzSpace2" presStyleCnt="0"/>
      <dgm:spPr/>
    </dgm:pt>
    <dgm:pt modelId="{E97029FE-0BB3-49AF-9E87-2B0B0F1F08C0}" type="pres">
      <dgm:prSet presAssocID="{CA96CC84-12F6-4D04-92FB-22DDD97D022A}" presName="tx2" presStyleLbl="revTx" presStyleIdx="6" presStyleCnt="8"/>
      <dgm:spPr/>
    </dgm:pt>
    <dgm:pt modelId="{D1109806-D695-4FED-9EEC-0CC0DA7DDE93}" type="pres">
      <dgm:prSet presAssocID="{CA96CC84-12F6-4D04-92FB-22DDD97D022A}" presName="vert2" presStyleCnt="0"/>
      <dgm:spPr/>
    </dgm:pt>
    <dgm:pt modelId="{FF26BF34-C9CD-4E37-8973-241A1EDFE36C}" type="pres">
      <dgm:prSet presAssocID="{CA96CC84-12F6-4D04-92FB-22DDD97D022A}" presName="thinLine2b" presStyleLbl="callout" presStyleIdx="5" presStyleCnt="7"/>
      <dgm:spPr/>
    </dgm:pt>
    <dgm:pt modelId="{CA35347A-33BB-433F-AF51-84A3B6429DDA}" type="pres">
      <dgm:prSet presAssocID="{CA96CC84-12F6-4D04-92FB-22DDD97D022A}" presName="vertSpace2b" presStyleCnt="0"/>
      <dgm:spPr/>
    </dgm:pt>
    <dgm:pt modelId="{FF88DA84-1335-4B06-8E95-DA569D6B34BC}" type="pres">
      <dgm:prSet presAssocID="{CB2814B2-E4B1-4BB4-A64B-C51E92B39594}" presName="horz2" presStyleCnt="0"/>
      <dgm:spPr/>
    </dgm:pt>
    <dgm:pt modelId="{92C2B2DA-F669-4627-B46E-637B5C445983}" type="pres">
      <dgm:prSet presAssocID="{CB2814B2-E4B1-4BB4-A64B-C51E92B39594}" presName="horzSpace2" presStyleCnt="0"/>
      <dgm:spPr/>
    </dgm:pt>
    <dgm:pt modelId="{8DD0A47B-F31B-4EA9-9CF2-CFBC88ACBB9B}" type="pres">
      <dgm:prSet presAssocID="{CB2814B2-E4B1-4BB4-A64B-C51E92B39594}" presName="tx2" presStyleLbl="revTx" presStyleIdx="7" presStyleCnt="8"/>
      <dgm:spPr/>
    </dgm:pt>
    <dgm:pt modelId="{01A022F3-1C89-4541-A4EE-226C248867AF}" type="pres">
      <dgm:prSet presAssocID="{CB2814B2-E4B1-4BB4-A64B-C51E92B39594}" presName="vert2" presStyleCnt="0"/>
      <dgm:spPr/>
    </dgm:pt>
    <dgm:pt modelId="{403681C8-F93A-4877-AD8A-EC80D83AE6A3}" type="pres">
      <dgm:prSet presAssocID="{CB2814B2-E4B1-4BB4-A64B-C51E92B39594}" presName="thinLine2b" presStyleLbl="callout" presStyleIdx="6" presStyleCnt="7"/>
      <dgm:spPr/>
    </dgm:pt>
    <dgm:pt modelId="{95FF347D-BBA7-4D23-AFC9-7F8E79D702FD}" type="pres">
      <dgm:prSet presAssocID="{CB2814B2-E4B1-4BB4-A64B-C51E92B39594}" presName="vertSpace2b" presStyleCnt="0"/>
      <dgm:spPr/>
    </dgm:pt>
  </dgm:ptLst>
  <dgm:cxnLst>
    <dgm:cxn modelId="{7CD9980B-8D71-4E1F-A03B-863CE015C901}" srcId="{02C66747-9586-4F9D-9DFD-F4FF73216C97}" destId="{CA96CC84-12F6-4D04-92FB-22DDD97D022A}" srcOrd="5" destOrd="0" parTransId="{73136F63-97BB-4F85-8BC7-118317CDB9E0}" sibTransId="{93AB3C2C-8A5D-4459-A5BF-F3C33D9D27BC}"/>
    <dgm:cxn modelId="{5B517818-2CFF-476C-A777-27A2A11B7B97}" type="presOf" srcId="{252E9577-1F82-41FA-8BBC-4E0E7F737FA5}" destId="{671866B1-77B4-4BAD-9486-8F2D09A3E382}" srcOrd="0" destOrd="0" presId="urn:microsoft.com/office/officeart/2008/layout/LinedList"/>
    <dgm:cxn modelId="{819C2633-7A47-42AE-8A2A-AC016CE6DF76}" srcId="{02C66747-9586-4F9D-9DFD-F4FF73216C97}" destId="{BD2FEEC3-7585-4184-A474-DC37F1DA2BAE}" srcOrd="2" destOrd="0" parTransId="{AD7AE86A-943B-4D2D-9AD0-341902B6430A}" sibTransId="{EDA5DE27-F5FC-4C55-BAD1-758BF8C840DC}"/>
    <dgm:cxn modelId="{D6EE1635-005F-437D-8331-7AC2A0492766}" type="presOf" srcId="{4C0B4C7E-D777-43F7-BC7D-E42F65165527}" destId="{0EE213A2-6390-4E7C-9685-F9512C6BF6DF}" srcOrd="0" destOrd="0" presId="urn:microsoft.com/office/officeart/2008/layout/LinedList"/>
    <dgm:cxn modelId="{03786741-2DEB-4BD5-8BA3-7164EEB7957C}" srcId="{02C66747-9586-4F9D-9DFD-F4FF73216C97}" destId="{252E9577-1F82-41FA-8BBC-4E0E7F737FA5}" srcOrd="3" destOrd="0" parTransId="{324179EC-F34A-4FD9-8582-CD3A41D26AF5}" sibTransId="{C050234C-BEBA-40A1-A83F-64B200D2DD41}"/>
    <dgm:cxn modelId="{7D3BC068-DDD1-4858-BC7D-CCCB8614C2EC}" type="presOf" srcId="{3FC0263F-7062-4440-AA01-527DBDCB43C3}" destId="{BDFE42E1-95AC-45BE-9457-CC02256AE40F}" srcOrd="0" destOrd="0" presId="urn:microsoft.com/office/officeart/2008/layout/LinedList"/>
    <dgm:cxn modelId="{9677704A-8CB6-4B58-8574-5FF3DC1B518C}" type="presOf" srcId="{CA96CC84-12F6-4D04-92FB-22DDD97D022A}" destId="{E97029FE-0BB3-49AF-9E87-2B0B0F1F08C0}" srcOrd="0" destOrd="0" presId="urn:microsoft.com/office/officeart/2008/layout/LinedList"/>
    <dgm:cxn modelId="{C5C72F71-1F4E-43E7-8C51-11D115F6ECBF}" type="presOf" srcId="{CB2814B2-E4B1-4BB4-A64B-C51E92B39594}" destId="{8DD0A47B-F31B-4EA9-9CF2-CFBC88ACBB9B}" srcOrd="0" destOrd="0" presId="urn:microsoft.com/office/officeart/2008/layout/LinedList"/>
    <dgm:cxn modelId="{F70B7D7D-6E62-4E6D-8066-B5573456ECC0}" type="presOf" srcId="{BD2FEEC3-7585-4184-A474-DC37F1DA2BAE}" destId="{491AC8C5-8FBE-4487-A91E-FAD52E48F44C}" srcOrd="0" destOrd="0" presId="urn:microsoft.com/office/officeart/2008/layout/LinedList"/>
    <dgm:cxn modelId="{830A6086-C0EA-4A2D-A71D-400660CC6E55}" srcId="{02C66747-9586-4F9D-9DFD-F4FF73216C97}" destId="{3FC0263F-7062-4440-AA01-527DBDCB43C3}" srcOrd="4" destOrd="0" parTransId="{9C5C5149-C28D-4DDF-850B-4847A91187F7}" sibTransId="{F6817E6C-C941-4A03-A274-D5DBD86066C2}"/>
    <dgm:cxn modelId="{E77FE799-2AAD-4214-815B-EF396A7FE709}" type="presOf" srcId="{781C85B8-FFD5-41FE-A8AD-CCA7A4894095}" destId="{55FC8539-7161-4FEC-A87C-CF674BB57ED1}" srcOrd="0" destOrd="0" presId="urn:microsoft.com/office/officeart/2008/layout/LinedList"/>
    <dgm:cxn modelId="{B891C7A0-13B6-467F-9A8F-19F1FAE36002}" srcId="{4C0B4C7E-D777-43F7-BC7D-E42F65165527}" destId="{02C66747-9586-4F9D-9DFD-F4FF73216C97}" srcOrd="0" destOrd="0" parTransId="{FD12628A-A978-444D-8687-4F84C22D4524}" sibTransId="{71F4072F-184D-4672-B4E2-2D100A649A37}"/>
    <dgm:cxn modelId="{D6BAF7B1-041D-42D6-A3A6-DDF86138CE95}" type="presOf" srcId="{E4DD8267-9A91-467F-BBDF-84F42730C50C}" destId="{BDC128B0-FD29-4264-A180-0446FC575B63}" srcOrd="0" destOrd="0" presId="urn:microsoft.com/office/officeart/2008/layout/LinedList"/>
    <dgm:cxn modelId="{03F7E0B6-9883-4206-BCAA-6F2EC5780436}" srcId="{02C66747-9586-4F9D-9DFD-F4FF73216C97}" destId="{E4DD8267-9A91-467F-BBDF-84F42730C50C}" srcOrd="1" destOrd="0" parTransId="{D89BF036-6DCD-42B5-99AC-AB6729DFB04D}" sibTransId="{C752C7B9-FAA0-4F04-84C2-36D4D0C07F7A}"/>
    <dgm:cxn modelId="{09D7F6C2-B15D-4EAB-AB4A-C351FD722CF6}" srcId="{02C66747-9586-4F9D-9DFD-F4FF73216C97}" destId="{781C85B8-FFD5-41FE-A8AD-CCA7A4894095}" srcOrd="0" destOrd="0" parTransId="{4F735615-9CB0-4D37-9908-366867A52494}" sibTransId="{FBE5E241-DA5B-4CF1-960D-C5FA631A431E}"/>
    <dgm:cxn modelId="{9EB98BF4-53B9-40B8-832E-45E1FBFC2255}" type="presOf" srcId="{02C66747-9586-4F9D-9DFD-F4FF73216C97}" destId="{517322FC-0937-4E25-93A4-3DDC5CA9AB6F}" srcOrd="0" destOrd="0" presId="urn:microsoft.com/office/officeart/2008/layout/LinedList"/>
    <dgm:cxn modelId="{25CF17FC-053C-4E0D-B87C-3639EBB49EAA}" srcId="{02C66747-9586-4F9D-9DFD-F4FF73216C97}" destId="{CB2814B2-E4B1-4BB4-A64B-C51E92B39594}" srcOrd="6" destOrd="0" parTransId="{72A3C199-8188-4302-A1F3-90BAAF585DDA}" sibTransId="{56002F48-8BC8-4AE1-AA27-E7A9159A3E02}"/>
    <dgm:cxn modelId="{EFB595A7-4B83-4761-9976-4DBD426CEDB4}" type="presParOf" srcId="{0EE213A2-6390-4E7C-9685-F9512C6BF6DF}" destId="{649668EB-F798-407C-8845-0CC5B3DD18A9}" srcOrd="0" destOrd="0" presId="urn:microsoft.com/office/officeart/2008/layout/LinedList"/>
    <dgm:cxn modelId="{11C2846D-0C32-4218-BC07-EC9E11B910C8}" type="presParOf" srcId="{0EE213A2-6390-4E7C-9685-F9512C6BF6DF}" destId="{54F7981D-5EBE-41C9-AAE5-D6471363674F}" srcOrd="1" destOrd="0" presId="urn:microsoft.com/office/officeart/2008/layout/LinedList"/>
    <dgm:cxn modelId="{392E2658-41AF-4BC7-9586-8669960B1306}" type="presParOf" srcId="{54F7981D-5EBE-41C9-AAE5-D6471363674F}" destId="{517322FC-0937-4E25-93A4-3DDC5CA9AB6F}" srcOrd="0" destOrd="0" presId="urn:microsoft.com/office/officeart/2008/layout/LinedList"/>
    <dgm:cxn modelId="{23DA705C-BEC3-4257-B078-1E443FE3AE1D}" type="presParOf" srcId="{54F7981D-5EBE-41C9-AAE5-D6471363674F}" destId="{4F482195-0AE4-4D0A-BE55-6EE85F675A02}" srcOrd="1" destOrd="0" presId="urn:microsoft.com/office/officeart/2008/layout/LinedList"/>
    <dgm:cxn modelId="{8CE3FDE3-BD1D-4EEE-8E27-340C4F6B6D61}" type="presParOf" srcId="{4F482195-0AE4-4D0A-BE55-6EE85F675A02}" destId="{F8F658A8-F921-47F6-AB40-DDD2656F7990}" srcOrd="0" destOrd="0" presId="urn:microsoft.com/office/officeart/2008/layout/LinedList"/>
    <dgm:cxn modelId="{3F691587-05FC-46CF-8E49-A93AC20A8C55}" type="presParOf" srcId="{4F482195-0AE4-4D0A-BE55-6EE85F675A02}" destId="{5198B020-1119-4CA4-8F07-B42EF0BE6606}" srcOrd="1" destOrd="0" presId="urn:microsoft.com/office/officeart/2008/layout/LinedList"/>
    <dgm:cxn modelId="{F0FCDC71-4990-4EAF-938C-72712290486E}" type="presParOf" srcId="{5198B020-1119-4CA4-8F07-B42EF0BE6606}" destId="{67C32064-9AEA-4424-8B8F-5F7071617EAF}" srcOrd="0" destOrd="0" presId="urn:microsoft.com/office/officeart/2008/layout/LinedList"/>
    <dgm:cxn modelId="{935B20B6-7307-48D1-A97C-4DA5AB210D82}" type="presParOf" srcId="{5198B020-1119-4CA4-8F07-B42EF0BE6606}" destId="{55FC8539-7161-4FEC-A87C-CF674BB57ED1}" srcOrd="1" destOrd="0" presId="urn:microsoft.com/office/officeart/2008/layout/LinedList"/>
    <dgm:cxn modelId="{5499198E-65FD-47FC-83A4-B745ACCD5DF1}" type="presParOf" srcId="{5198B020-1119-4CA4-8F07-B42EF0BE6606}" destId="{9B0169B9-D574-4532-9037-A3E9358FE3F0}" srcOrd="2" destOrd="0" presId="urn:microsoft.com/office/officeart/2008/layout/LinedList"/>
    <dgm:cxn modelId="{387CD565-0C89-4330-BBBF-688CF5F5BB11}" type="presParOf" srcId="{4F482195-0AE4-4D0A-BE55-6EE85F675A02}" destId="{1580A8C5-DF19-4E41-AF72-A83C0A7F13D3}" srcOrd="2" destOrd="0" presId="urn:microsoft.com/office/officeart/2008/layout/LinedList"/>
    <dgm:cxn modelId="{3F66B3F5-813C-4263-8F1E-EB3566AAAC69}" type="presParOf" srcId="{4F482195-0AE4-4D0A-BE55-6EE85F675A02}" destId="{E9F9F7AB-436F-4875-9D49-8AF1C9BBBC9B}" srcOrd="3" destOrd="0" presId="urn:microsoft.com/office/officeart/2008/layout/LinedList"/>
    <dgm:cxn modelId="{D6DE0DE5-821D-4767-A244-F8583E844623}" type="presParOf" srcId="{4F482195-0AE4-4D0A-BE55-6EE85F675A02}" destId="{4342E966-FC02-49E8-8902-567FB4E4CA2C}" srcOrd="4" destOrd="0" presId="urn:microsoft.com/office/officeart/2008/layout/LinedList"/>
    <dgm:cxn modelId="{8F5BC876-8BBE-4A23-BB4E-D6D22E3A50D2}" type="presParOf" srcId="{4342E966-FC02-49E8-8902-567FB4E4CA2C}" destId="{2806619B-E7FD-4840-BAC3-A39E6843E6ED}" srcOrd="0" destOrd="0" presId="urn:microsoft.com/office/officeart/2008/layout/LinedList"/>
    <dgm:cxn modelId="{B1580FB8-5A96-4041-91C8-6BC1513F1B0E}" type="presParOf" srcId="{4342E966-FC02-49E8-8902-567FB4E4CA2C}" destId="{BDC128B0-FD29-4264-A180-0446FC575B63}" srcOrd="1" destOrd="0" presId="urn:microsoft.com/office/officeart/2008/layout/LinedList"/>
    <dgm:cxn modelId="{9D4C246B-DC14-43A8-8E0B-6BFA1D4CF8F3}" type="presParOf" srcId="{4342E966-FC02-49E8-8902-567FB4E4CA2C}" destId="{352C5D05-DD4A-4B89-8F7A-10AC03E6B672}" srcOrd="2" destOrd="0" presId="urn:microsoft.com/office/officeart/2008/layout/LinedList"/>
    <dgm:cxn modelId="{81205AFF-A1EB-41BA-82A7-CB0CE2A0285A}" type="presParOf" srcId="{4F482195-0AE4-4D0A-BE55-6EE85F675A02}" destId="{96DACFA0-B828-43FF-B229-F851960BEE31}" srcOrd="5" destOrd="0" presId="urn:microsoft.com/office/officeart/2008/layout/LinedList"/>
    <dgm:cxn modelId="{C34E1E0A-B322-4CE8-9209-D777DF09B77D}" type="presParOf" srcId="{4F482195-0AE4-4D0A-BE55-6EE85F675A02}" destId="{8B45F542-4342-4F0B-9C56-C06DAD5E26A9}" srcOrd="6" destOrd="0" presId="urn:microsoft.com/office/officeart/2008/layout/LinedList"/>
    <dgm:cxn modelId="{C160D2A0-0256-4D7C-AF7F-9FBBFC74F338}" type="presParOf" srcId="{4F482195-0AE4-4D0A-BE55-6EE85F675A02}" destId="{C4BB32FB-ED1F-434B-B020-D52B723FAB1A}" srcOrd="7" destOrd="0" presId="urn:microsoft.com/office/officeart/2008/layout/LinedList"/>
    <dgm:cxn modelId="{05633C80-7EB8-480E-9DCD-09D194DA2430}" type="presParOf" srcId="{C4BB32FB-ED1F-434B-B020-D52B723FAB1A}" destId="{426B033C-9F5D-4CF2-97C3-BF59E05038E9}" srcOrd="0" destOrd="0" presId="urn:microsoft.com/office/officeart/2008/layout/LinedList"/>
    <dgm:cxn modelId="{02673CF5-69CC-4E35-B125-B49A3E6E73B7}" type="presParOf" srcId="{C4BB32FB-ED1F-434B-B020-D52B723FAB1A}" destId="{491AC8C5-8FBE-4487-A91E-FAD52E48F44C}" srcOrd="1" destOrd="0" presId="urn:microsoft.com/office/officeart/2008/layout/LinedList"/>
    <dgm:cxn modelId="{648162C8-D0A3-41D3-94B5-FD4D034306A9}" type="presParOf" srcId="{C4BB32FB-ED1F-434B-B020-D52B723FAB1A}" destId="{55C156E8-5F05-4B76-B97E-39C89DC80847}" srcOrd="2" destOrd="0" presId="urn:microsoft.com/office/officeart/2008/layout/LinedList"/>
    <dgm:cxn modelId="{FFDB691F-DC33-4291-B68B-DA1F519CE883}" type="presParOf" srcId="{4F482195-0AE4-4D0A-BE55-6EE85F675A02}" destId="{4BA7FDA5-8FC7-4F57-A0A2-200EB8140264}" srcOrd="8" destOrd="0" presId="urn:microsoft.com/office/officeart/2008/layout/LinedList"/>
    <dgm:cxn modelId="{CAC09141-41F6-418C-98AD-10F9BBB0A963}" type="presParOf" srcId="{4F482195-0AE4-4D0A-BE55-6EE85F675A02}" destId="{E4A8EF2A-D3E4-4007-8815-C0AFE186F192}" srcOrd="9" destOrd="0" presId="urn:microsoft.com/office/officeart/2008/layout/LinedList"/>
    <dgm:cxn modelId="{525444F8-D7B7-42A5-BD32-3DF4144D0018}" type="presParOf" srcId="{4F482195-0AE4-4D0A-BE55-6EE85F675A02}" destId="{A785EAE0-CAE3-4162-B7CC-0D09D5BEE75F}" srcOrd="10" destOrd="0" presId="urn:microsoft.com/office/officeart/2008/layout/LinedList"/>
    <dgm:cxn modelId="{DAFF0AD4-B3CB-4D05-875F-2E86F806A7F3}" type="presParOf" srcId="{A785EAE0-CAE3-4162-B7CC-0D09D5BEE75F}" destId="{DFE6939B-FACE-4630-A94A-47CAC27FFE13}" srcOrd="0" destOrd="0" presId="urn:microsoft.com/office/officeart/2008/layout/LinedList"/>
    <dgm:cxn modelId="{39A629D7-95FB-4B1E-BA61-25A611E6E261}" type="presParOf" srcId="{A785EAE0-CAE3-4162-B7CC-0D09D5BEE75F}" destId="{671866B1-77B4-4BAD-9486-8F2D09A3E382}" srcOrd="1" destOrd="0" presId="urn:microsoft.com/office/officeart/2008/layout/LinedList"/>
    <dgm:cxn modelId="{57E47737-97F1-416C-AA2C-F58771019149}" type="presParOf" srcId="{A785EAE0-CAE3-4162-B7CC-0D09D5BEE75F}" destId="{4E0D1F9F-4DBE-4C11-9900-60F9CF1606F6}" srcOrd="2" destOrd="0" presId="urn:microsoft.com/office/officeart/2008/layout/LinedList"/>
    <dgm:cxn modelId="{532795DF-7E5F-447F-BE58-3DD668ECA811}" type="presParOf" srcId="{4F482195-0AE4-4D0A-BE55-6EE85F675A02}" destId="{F4C45151-279D-4CFC-BDCB-8E81AED9601A}" srcOrd="11" destOrd="0" presId="urn:microsoft.com/office/officeart/2008/layout/LinedList"/>
    <dgm:cxn modelId="{3B273AA0-B394-466C-AFC0-6A2A49BEE9AD}" type="presParOf" srcId="{4F482195-0AE4-4D0A-BE55-6EE85F675A02}" destId="{257CA5EC-DD42-458E-95B4-E62F80BA49E3}" srcOrd="12" destOrd="0" presId="urn:microsoft.com/office/officeart/2008/layout/LinedList"/>
    <dgm:cxn modelId="{B2F9D37F-E565-4756-8ABD-A7238F22E3C1}" type="presParOf" srcId="{4F482195-0AE4-4D0A-BE55-6EE85F675A02}" destId="{7AE9A107-E734-432D-928D-FEDE8C118D4C}" srcOrd="13" destOrd="0" presId="urn:microsoft.com/office/officeart/2008/layout/LinedList"/>
    <dgm:cxn modelId="{E7227F68-97EB-4FD2-89D5-94667968D448}" type="presParOf" srcId="{7AE9A107-E734-432D-928D-FEDE8C118D4C}" destId="{39DA84CD-28E2-4AE5-914C-7EC4A4C7B21E}" srcOrd="0" destOrd="0" presId="urn:microsoft.com/office/officeart/2008/layout/LinedList"/>
    <dgm:cxn modelId="{9BEECAA8-DC08-4691-B7E9-DEBCFF1221BF}" type="presParOf" srcId="{7AE9A107-E734-432D-928D-FEDE8C118D4C}" destId="{BDFE42E1-95AC-45BE-9457-CC02256AE40F}" srcOrd="1" destOrd="0" presId="urn:microsoft.com/office/officeart/2008/layout/LinedList"/>
    <dgm:cxn modelId="{E4420BF7-2D1B-4D7E-B26E-B2EC21D1FB4C}" type="presParOf" srcId="{7AE9A107-E734-432D-928D-FEDE8C118D4C}" destId="{A710AA7F-8295-41A1-B8FC-7724E9C7CE72}" srcOrd="2" destOrd="0" presId="urn:microsoft.com/office/officeart/2008/layout/LinedList"/>
    <dgm:cxn modelId="{FD916B68-C1D3-427F-98BA-817B220D4DAF}" type="presParOf" srcId="{4F482195-0AE4-4D0A-BE55-6EE85F675A02}" destId="{A6CD08BF-36AC-40D2-AD45-19EF52C5FC32}" srcOrd="14" destOrd="0" presId="urn:microsoft.com/office/officeart/2008/layout/LinedList"/>
    <dgm:cxn modelId="{9D5A7695-B1B9-476C-968C-92B8C4C7B27B}" type="presParOf" srcId="{4F482195-0AE4-4D0A-BE55-6EE85F675A02}" destId="{A51510E2-97F2-490B-92DD-09D0121415ED}" srcOrd="15" destOrd="0" presId="urn:microsoft.com/office/officeart/2008/layout/LinedList"/>
    <dgm:cxn modelId="{EF593AC9-6211-4065-A7DB-D322FDB991A4}" type="presParOf" srcId="{4F482195-0AE4-4D0A-BE55-6EE85F675A02}" destId="{0843A153-5FD3-42D4-BDAE-42E22BAEBC16}" srcOrd="16" destOrd="0" presId="urn:microsoft.com/office/officeart/2008/layout/LinedList"/>
    <dgm:cxn modelId="{335AACC7-6FDD-4443-AD6E-B51D070297C9}" type="presParOf" srcId="{0843A153-5FD3-42D4-BDAE-42E22BAEBC16}" destId="{087C5223-EDD1-4BB1-86D6-DF6B4A6BD4EC}" srcOrd="0" destOrd="0" presId="urn:microsoft.com/office/officeart/2008/layout/LinedList"/>
    <dgm:cxn modelId="{E9E971EC-3237-4C79-B7FF-35A92556E6B5}" type="presParOf" srcId="{0843A153-5FD3-42D4-BDAE-42E22BAEBC16}" destId="{E97029FE-0BB3-49AF-9E87-2B0B0F1F08C0}" srcOrd="1" destOrd="0" presId="urn:microsoft.com/office/officeart/2008/layout/LinedList"/>
    <dgm:cxn modelId="{6EE0818E-8DFE-4A7F-B1C3-D50C343CDA14}" type="presParOf" srcId="{0843A153-5FD3-42D4-BDAE-42E22BAEBC16}" destId="{D1109806-D695-4FED-9EEC-0CC0DA7DDE93}" srcOrd="2" destOrd="0" presId="urn:microsoft.com/office/officeart/2008/layout/LinedList"/>
    <dgm:cxn modelId="{DE6D7BF0-C3DD-461E-8CA1-8AA247235C4C}" type="presParOf" srcId="{4F482195-0AE4-4D0A-BE55-6EE85F675A02}" destId="{FF26BF34-C9CD-4E37-8973-241A1EDFE36C}" srcOrd="17" destOrd="0" presId="urn:microsoft.com/office/officeart/2008/layout/LinedList"/>
    <dgm:cxn modelId="{599856F4-281C-4804-BD6B-862BC8A24CE7}" type="presParOf" srcId="{4F482195-0AE4-4D0A-BE55-6EE85F675A02}" destId="{CA35347A-33BB-433F-AF51-84A3B6429DDA}" srcOrd="18" destOrd="0" presId="urn:microsoft.com/office/officeart/2008/layout/LinedList"/>
    <dgm:cxn modelId="{F8D0FDA4-6A29-401B-85EE-4C411F1F1242}" type="presParOf" srcId="{4F482195-0AE4-4D0A-BE55-6EE85F675A02}" destId="{FF88DA84-1335-4B06-8E95-DA569D6B34BC}" srcOrd="19" destOrd="0" presId="urn:microsoft.com/office/officeart/2008/layout/LinedList"/>
    <dgm:cxn modelId="{AF413926-3543-4612-803C-DA12261AC097}" type="presParOf" srcId="{FF88DA84-1335-4B06-8E95-DA569D6B34BC}" destId="{92C2B2DA-F669-4627-B46E-637B5C445983}" srcOrd="0" destOrd="0" presId="urn:microsoft.com/office/officeart/2008/layout/LinedList"/>
    <dgm:cxn modelId="{2C722F8A-6435-4CEB-A5C5-09BFC8563824}" type="presParOf" srcId="{FF88DA84-1335-4B06-8E95-DA569D6B34BC}" destId="{8DD0A47B-F31B-4EA9-9CF2-CFBC88ACBB9B}" srcOrd="1" destOrd="0" presId="urn:microsoft.com/office/officeart/2008/layout/LinedList"/>
    <dgm:cxn modelId="{A85930D4-124F-409F-9054-0A2B6F9A6788}" type="presParOf" srcId="{FF88DA84-1335-4B06-8E95-DA569D6B34BC}" destId="{01A022F3-1C89-4541-A4EE-226C248867AF}" srcOrd="2" destOrd="0" presId="urn:microsoft.com/office/officeart/2008/layout/LinedList"/>
    <dgm:cxn modelId="{21018F2C-F9D1-48EE-AE56-7767DC391891}" type="presParOf" srcId="{4F482195-0AE4-4D0A-BE55-6EE85F675A02}" destId="{403681C8-F93A-4877-AD8A-EC80D83AE6A3}" srcOrd="20" destOrd="0" presId="urn:microsoft.com/office/officeart/2008/layout/LinedList"/>
    <dgm:cxn modelId="{3D20B0EE-CB26-4523-83A3-2E659F819E12}" type="presParOf" srcId="{4F482195-0AE4-4D0A-BE55-6EE85F675A02}" destId="{95FF347D-BBA7-4D23-AFC9-7F8E79D702FD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668EB-F798-407C-8845-0CC5B3DD18A9}">
      <dsp:nvSpPr>
        <dsp:cNvPr id="0" name=""/>
        <dsp:cNvSpPr/>
      </dsp:nvSpPr>
      <dsp:spPr>
        <a:xfrm>
          <a:off x="0" y="0"/>
          <a:ext cx="100738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322FC-0937-4E25-93A4-3DDC5CA9AB6F}">
      <dsp:nvSpPr>
        <dsp:cNvPr id="0" name=""/>
        <dsp:cNvSpPr/>
      </dsp:nvSpPr>
      <dsp:spPr>
        <a:xfrm>
          <a:off x="0" y="0"/>
          <a:ext cx="2014779" cy="4623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Table of Content</a:t>
          </a:r>
        </a:p>
      </dsp:txBody>
      <dsp:txXfrm>
        <a:off x="0" y="0"/>
        <a:ext cx="2014779" cy="4623661"/>
      </dsp:txXfrm>
    </dsp:sp>
    <dsp:sp modelId="{55FC8539-7161-4FEC-A87C-CF674BB57ED1}">
      <dsp:nvSpPr>
        <dsp:cNvPr id="0" name=""/>
        <dsp:cNvSpPr/>
      </dsp:nvSpPr>
      <dsp:spPr>
        <a:xfrm>
          <a:off x="2165888" y="31211"/>
          <a:ext cx="7908009" cy="624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Problem Statement</a:t>
          </a:r>
        </a:p>
      </dsp:txBody>
      <dsp:txXfrm>
        <a:off x="2165888" y="31211"/>
        <a:ext cx="7908009" cy="624239"/>
      </dsp:txXfrm>
    </dsp:sp>
    <dsp:sp modelId="{1580A8C5-DF19-4E41-AF72-A83C0A7F13D3}">
      <dsp:nvSpPr>
        <dsp:cNvPr id="0" name=""/>
        <dsp:cNvSpPr/>
      </dsp:nvSpPr>
      <dsp:spPr>
        <a:xfrm>
          <a:off x="2014779" y="655451"/>
          <a:ext cx="80591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128B0-FD29-4264-A180-0446FC575B63}">
      <dsp:nvSpPr>
        <dsp:cNvPr id="0" name=""/>
        <dsp:cNvSpPr/>
      </dsp:nvSpPr>
      <dsp:spPr>
        <a:xfrm>
          <a:off x="2165888" y="686663"/>
          <a:ext cx="7908009" cy="624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MVP Implementation Scope</a:t>
          </a:r>
        </a:p>
      </dsp:txBody>
      <dsp:txXfrm>
        <a:off x="2165888" y="686663"/>
        <a:ext cx="7908009" cy="624239"/>
      </dsp:txXfrm>
    </dsp:sp>
    <dsp:sp modelId="{96DACFA0-B828-43FF-B229-F851960BEE31}">
      <dsp:nvSpPr>
        <dsp:cNvPr id="0" name=""/>
        <dsp:cNvSpPr/>
      </dsp:nvSpPr>
      <dsp:spPr>
        <a:xfrm>
          <a:off x="2014779" y="1310902"/>
          <a:ext cx="80591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AC8C5-8FBE-4487-A91E-FAD52E48F44C}">
      <dsp:nvSpPr>
        <dsp:cNvPr id="0" name=""/>
        <dsp:cNvSpPr/>
      </dsp:nvSpPr>
      <dsp:spPr>
        <a:xfrm>
          <a:off x="2165888" y="1342114"/>
          <a:ext cx="7908009" cy="624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Solution Design &amp; Architecture</a:t>
          </a:r>
        </a:p>
      </dsp:txBody>
      <dsp:txXfrm>
        <a:off x="2165888" y="1342114"/>
        <a:ext cx="7908009" cy="624239"/>
      </dsp:txXfrm>
    </dsp:sp>
    <dsp:sp modelId="{4BA7FDA5-8FC7-4F57-A0A2-200EB8140264}">
      <dsp:nvSpPr>
        <dsp:cNvPr id="0" name=""/>
        <dsp:cNvSpPr/>
      </dsp:nvSpPr>
      <dsp:spPr>
        <a:xfrm>
          <a:off x="2014779" y="1966354"/>
          <a:ext cx="80591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866B1-77B4-4BAD-9486-8F2D09A3E382}">
      <dsp:nvSpPr>
        <dsp:cNvPr id="0" name=""/>
        <dsp:cNvSpPr/>
      </dsp:nvSpPr>
      <dsp:spPr>
        <a:xfrm>
          <a:off x="2165888" y="1997566"/>
          <a:ext cx="7908009" cy="624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Business Value/Impact</a:t>
          </a:r>
        </a:p>
      </dsp:txBody>
      <dsp:txXfrm>
        <a:off x="2165888" y="1997566"/>
        <a:ext cx="7908009" cy="624239"/>
      </dsp:txXfrm>
    </dsp:sp>
    <dsp:sp modelId="{F4C45151-279D-4CFC-BDCB-8E81AED9601A}">
      <dsp:nvSpPr>
        <dsp:cNvPr id="0" name=""/>
        <dsp:cNvSpPr/>
      </dsp:nvSpPr>
      <dsp:spPr>
        <a:xfrm>
          <a:off x="2014779" y="2621805"/>
          <a:ext cx="80591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E42E1-95AC-45BE-9457-CC02256AE40F}">
      <dsp:nvSpPr>
        <dsp:cNvPr id="0" name=""/>
        <dsp:cNvSpPr/>
      </dsp:nvSpPr>
      <dsp:spPr>
        <a:xfrm>
          <a:off x="2165888" y="2653017"/>
          <a:ext cx="7908009" cy="624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Future Enhancements/Implementation Scope</a:t>
          </a:r>
        </a:p>
      </dsp:txBody>
      <dsp:txXfrm>
        <a:off x="2165888" y="2653017"/>
        <a:ext cx="7908009" cy="624239"/>
      </dsp:txXfrm>
    </dsp:sp>
    <dsp:sp modelId="{A6CD08BF-36AC-40D2-AD45-19EF52C5FC32}">
      <dsp:nvSpPr>
        <dsp:cNvPr id="0" name=""/>
        <dsp:cNvSpPr/>
      </dsp:nvSpPr>
      <dsp:spPr>
        <a:xfrm>
          <a:off x="2014779" y="3277256"/>
          <a:ext cx="80591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029FE-0BB3-49AF-9E87-2B0B0F1F08C0}">
      <dsp:nvSpPr>
        <dsp:cNvPr id="0" name=""/>
        <dsp:cNvSpPr/>
      </dsp:nvSpPr>
      <dsp:spPr>
        <a:xfrm>
          <a:off x="2165888" y="3308468"/>
          <a:ext cx="7908009" cy="624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Demo and Code base</a:t>
          </a:r>
        </a:p>
      </dsp:txBody>
      <dsp:txXfrm>
        <a:off x="2165888" y="3308468"/>
        <a:ext cx="7908009" cy="624239"/>
      </dsp:txXfrm>
    </dsp:sp>
    <dsp:sp modelId="{FF26BF34-C9CD-4E37-8973-241A1EDFE36C}">
      <dsp:nvSpPr>
        <dsp:cNvPr id="0" name=""/>
        <dsp:cNvSpPr/>
      </dsp:nvSpPr>
      <dsp:spPr>
        <a:xfrm>
          <a:off x="2014779" y="3932708"/>
          <a:ext cx="80591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0A47B-F31B-4EA9-9CF2-CFBC88ACBB9B}">
      <dsp:nvSpPr>
        <dsp:cNvPr id="0" name=""/>
        <dsp:cNvSpPr/>
      </dsp:nvSpPr>
      <dsp:spPr>
        <a:xfrm>
          <a:off x="2165888" y="3963920"/>
          <a:ext cx="7908009" cy="624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Team Details</a:t>
          </a:r>
        </a:p>
      </dsp:txBody>
      <dsp:txXfrm>
        <a:off x="2165888" y="3963920"/>
        <a:ext cx="7908009" cy="624239"/>
      </dsp:txXfrm>
    </dsp:sp>
    <dsp:sp modelId="{403681C8-F93A-4877-AD8A-EC80D83AE6A3}">
      <dsp:nvSpPr>
        <dsp:cNvPr id="0" name=""/>
        <dsp:cNvSpPr/>
      </dsp:nvSpPr>
      <dsp:spPr>
        <a:xfrm>
          <a:off x="2014779" y="4588159"/>
          <a:ext cx="80591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15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312A-7D2E-8BAC-E3A8-88E2615C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0B4BF-1C44-7B13-24E3-E4EB804E5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19837-68D3-F143-367F-B87E900AD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4A3EB-CF28-B68B-155B-F9144C2D8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53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7342-7F24-482D-72F4-E3593A2FA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4C5E0-9063-5ABC-AFF8-4B3E7F908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6A333-1EF8-F06D-1A9D-C948CF2BF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F10DA-97CC-6AA2-1EBA-E730FAA9C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68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8DEC4-A083-FC3C-0DCB-6CDD2188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CDEBD-E36A-D450-CA4E-60106DF16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DF9FD-BB55-92EC-558D-DE16262B8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145D9-FCD0-FAA9-FEB0-E29027965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14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3180-4DC9-8255-48EB-6F5F41D3C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B9B8E-2C40-14AC-6F7E-DDB9F59F2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91647-30BC-390C-8FD1-E55771EE2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9E681-28FD-8173-437F-EEAAF4E72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27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64F3-88BA-77BE-7C13-E8206E43A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29EAC-0A34-F327-DA2E-7ADA8AD56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CADEF3-1180-37AD-E1A4-B78276173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05FFA-E2E7-37C7-2237-832F6A66E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002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8C321-7C37-72E8-BF0A-86E7E246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AC92F-FE80-BFC6-3735-42DA4EC9F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301CF-C452-035C-4109-83D70851A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9D361-B571-4120-1547-3B4765797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15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35F56-96FF-56EE-8D07-480C063B8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0BED3-E913-C2BA-9233-2BD3D3B8A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3ECD6-B784-C286-DB41-03FD3AD8B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43E44-F677-EF26-7BCC-3951C2E75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5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bm.box.com/s/2nifq7arom2umnqa7eok26hg93ug8zhz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bm.box.com/s/2ni5xiv5256heqf6tpg3s2lyy8ezg7su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44393" y="318056"/>
            <a:ext cx="2857500" cy="2857500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 txBox="1"/>
          <p:nvPr/>
        </p:nvSpPr>
        <p:spPr>
          <a:xfrm>
            <a:off x="952805" y="2392985"/>
            <a:ext cx="1115385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dirty="0" err="1">
                <a:solidFill>
                  <a:srgbClr val="161616"/>
                </a:solidFill>
                <a:latin typeface="IBM Plex Sans" pitchFamily="34" charset="0"/>
              </a:rPr>
              <a:t>SpecSentinel</a:t>
            </a:r>
            <a:endParaRPr lang="en-US" sz="5100" dirty="0"/>
          </a:p>
        </p:txBody>
      </p:sp>
      <p:sp>
        <p:nvSpPr>
          <p:cNvPr id="8" name="Shape 6"/>
          <p:cNvSpPr/>
          <p:nvPr/>
        </p:nvSpPr>
        <p:spPr>
          <a:xfrm>
            <a:off x="952805" y="3333902"/>
            <a:ext cx="38405" cy="381305"/>
          </a:xfrm>
          <a:prstGeom prst="rect">
            <a:avLst/>
          </a:prstGeom>
          <a:solidFill>
            <a:srgbClr val="C6C6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952805" y="4707331"/>
            <a:ext cx="10552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52805" y="4959706"/>
            <a:ext cx="3268412" cy="62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61616"/>
                </a:solidFill>
                <a:latin typeface="IBM Plex Sans" pitchFamily="34" charset="0"/>
              </a:rPr>
              <a:t>Team Sentinel :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61616"/>
                </a:solidFill>
                <a:latin typeface="IBM Plex Sans" pitchFamily="34" charset="0"/>
              </a:rPr>
              <a:t>Debapriyo Dasgupta</a:t>
            </a:r>
          </a:p>
          <a:p>
            <a:r>
              <a:rPr lang="en-US" sz="1300" dirty="0" err="1">
                <a:solidFill>
                  <a:srgbClr val="161616"/>
                </a:solidFill>
                <a:latin typeface="IBM Plex Sans" pitchFamily="34" charset="0"/>
              </a:rPr>
              <a:t>Niveed</a:t>
            </a:r>
            <a:r>
              <a:rPr lang="en-US" sz="1300" dirty="0">
                <a:solidFill>
                  <a:srgbClr val="161616"/>
                </a:solidFill>
                <a:latin typeface="IBM Plex Sans" pitchFamily="34" charset="0"/>
              </a:rPr>
              <a:t> Kumar Reddy </a:t>
            </a:r>
            <a:r>
              <a:rPr lang="en-US" sz="1300" dirty="0" err="1">
                <a:solidFill>
                  <a:srgbClr val="161616"/>
                </a:solidFill>
                <a:latin typeface="IBM Plex Sans" pitchFamily="34" charset="0"/>
              </a:rPr>
              <a:t>Bollapally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74620" y="4707331"/>
            <a:ext cx="75986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06924" y="4707331"/>
            <a:ext cx="4270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106924" y="4959706"/>
            <a:ext cx="12152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0"/>
            <a:ext cx="152705" cy="68580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5D47C-F5A9-D123-1171-10C0B2A90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70" y="-105590"/>
            <a:ext cx="3855545" cy="3855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397B8BD7-EDFE-619F-29A1-EFCF41E29F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5977905"/>
              </p:ext>
            </p:extLst>
          </p:nvPr>
        </p:nvGraphicFramePr>
        <p:xfrm>
          <a:off x="645763" y="1451674"/>
          <a:ext cx="10073898" cy="4623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368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6F42D-0E87-E1EA-5285-DD2F655BE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4E59F2-FD07-688F-F67B-0BAFA8BE1DA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23725D-08C2-4BA8-3033-CF3E16930E34}"/>
              </a:ext>
            </a:extLst>
          </p:cNvPr>
          <p:cNvSpPr/>
          <p:nvPr/>
        </p:nvSpPr>
        <p:spPr>
          <a:xfrm>
            <a:off x="-9" y="6562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6FD529-25FD-6DA6-6512-AB1CD81BE198}"/>
              </a:ext>
            </a:extLst>
          </p:cNvPr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ED3827-6352-F65F-789A-FB34EDC0551A}"/>
              </a:ext>
            </a:extLst>
          </p:cNvPr>
          <p:cNvSpPr/>
          <p:nvPr/>
        </p:nvSpPr>
        <p:spPr>
          <a:xfrm>
            <a:off x="0" y="1172261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36AEE8-C6AF-8625-AD33-83AADAF38F6A}"/>
              </a:ext>
            </a:extLst>
          </p:cNvPr>
          <p:cNvSpPr txBox="1"/>
          <p:nvPr/>
        </p:nvSpPr>
        <p:spPr>
          <a:xfrm>
            <a:off x="571500" y="466344"/>
            <a:ext cx="495787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/>
              <a:t>Problem Statement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6884700-1E76-766B-A3EC-58493A877CEF}"/>
              </a:ext>
            </a:extLst>
          </p:cNvPr>
          <p:cNvSpPr/>
          <p:nvPr/>
        </p:nvSpPr>
        <p:spPr>
          <a:xfrm>
            <a:off x="0" y="6372454"/>
            <a:ext cx="12191695" cy="485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AE463D9-0EFC-21C1-FC46-52A079CF53E8}"/>
              </a:ext>
            </a:extLst>
          </p:cNvPr>
          <p:cNvSpPr/>
          <p:nvPr/>
        </p:nvSpPr>
        <p:spPr>
          <a:xfrm>
            <a:off x="0" y="6372454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74DA3C4-7892-F426-A46E-BE06037F0DF0}"/>
              </a:ext>
            </a:extLst>
          </p:cNvPr>
          <p:cNvSpPr txBox="1"/>
          <p:nvPr/>
        </p:nvSpPr>
        <p:spPr>
          <a:xfrm>
            <a:off x="571500" y="6543446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COE Automation Hackathon 2026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C4F05CB-19F0-7459-A03A-B921F1BF2AD9}"/>
              </a:ext>
            </a:extLst>
          </p:cNvPr>
          <p:cNvSpPr txBox="1"/>
          <p:nvPr/>
        </p:nvSpPr>
        <p:spPr>
          <a:xfrm>
            <a:off x="10006279" y="6543446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- Internal Use Only</a:t>
            </a:r>
            <a:endParaRPr lang="en-US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ED4004-FBBF-F5F1-8181-171ACE3CC326}"/>
              </a:ext>
            </a:extLst>
          </p:cNvPr>
          <p:cNvSpPr txBox="1"/>
          <p:nvPr/>
        </p:nvSpPr>
        <p:spPr>
          <a:xfrm>
            <a:off x="869937" y="124746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7EAFAAB5-BD85-B0BA-3AAF-1584C8131102}"/>
              </a:ext>
            </a:extLst>
          </p:cNvPr>
          <p:cNvSpPr/>
          <p:nvPr/>
        </p:nvSpPr>
        <p:spPr>
          <a:xfrm>
            <a:off x="658211" y="124547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Problem</a:t>
            </a:r>
            <a:endParaRPr lang="en-US" sz="1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4A3FDB4A-035A-B583-F299-45CC5176AB5C}"/>
              </a:ext>
            </a:extLst>
          </p:cNvPr>
          <p:cNvSpPr/>
          <p:nvPr/>
        </p:nvSpPr>
        <p:spPr>
          <a:xfrm>
            <a:off x="8019131" y="13369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IBM watsonx.ai</a:t>
            </a:r>
            <a:endParaRPr lang="en-US" sz="9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04B48A97-AC2A-29DF-531C-BB3CB46BDDC1}"/>
              </a:ext>
            </a:extLst>
          </p:cNvPr>
          <p:cNvSpPr/>
          <p:nvPr/>
        </p:nvSpPr>
        <p:spPr>
          <a:xfrm>
            <a:off x="161277" y="1411913"/>
            <a:ext cx="5260273" cy="1417320"/>
          </a:xfrm>
          <a:prstGeom prst="rect">
            <a:avLst/>
          </a:prstGeom>
          <a:solidFill>
            <a:srgbClr val="EEEDFE"/>
          </a:solidFill>
          <a:ln w="9525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BE9DB3D6-900F-E234-657E-7A7C57C4264A}"/>
              </a:ext>
            </a:extLst>
          </p:cNvPr>
          <p:cNvSpPr/>
          <p:nvPr/>
        </p:nvSpPr>
        <p:spPr>
          <a:xfrm>
            <a:off x="244374" y="1249419"/>
            <a:ext cx="1529405" cy="339562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7991B6EC-DDF2-9317-55FD-099F14DE530A}"/>
              </a:ext>
            </a:extLst>
          </p:cNvPr>
          <p:cNvSpPr/>
          <p:nvPr/>
        </p:nvSpPr>
        <p:spPr>
          <a:xfrm>
            <a:off x="161277" y="1236015"/>
            <a:ext cx="1612502" cy="345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 problem</a:t>
            </a:r>
            <a:endParaRPr lang="en-US" sz="10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7723171-250E-4334-65C4-D7F0072F5471}"/>
              </a:ext>
            </a:extLst>
          </p:cNvPr>
          <p:cNvSpPr/>
          <p:nvPr/>
        </p:nvSpPr>
        <p:spPr>
          <a:xfrm>
            <a:off x="357512" y="161823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215C"/>
                </a:solidFill>
              </a:rPr>
              <a:t>Enterprises expose 100s of APIs</a:t>
            </a:r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92B4FA5-3004-3EF9-2546-248FF36C53F6}"/>
              </a:ext>
            </a:extLst>
          </p:cNvPr>
          <p:cNvSpPr/>
          <p:nvPr/>
        </p:nvSpPr>
        <p:spPr>
          <a:xfrm>
            <a:off x="337804" y="1908416"/>
            <a:ext cx="511811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34AB7"/>
                </a:solidFill>
              </a:rPr>
              <a:t>OpenAPI specs are the contract — but they routinely ship without security schemes, error handling, or governance standards. Ungoverned APIs become attack surfaces, integration failures, and compliance liabilities.</a:t>
            </a:r>
            <a:endParaRPr lang="en-US" sz="11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ED923446-6E1A-FD5E-E21F-9529FAD414CB}"/>
              </a:ext>
            </a:extLst>
          </p:cNvPr>
          <p:cNvSpPr/>
          <p:nvPr/>
        </p:nvSpPr>
        <p:spPr>
          <a:xfrm>
            <a:off x="6130210" y="1428293"/>
            <a:ext cx="5089321" cy="1371600"/>
          </a:xfrm>
          <a:prstGeom prst="rect">
            <a:avLst/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BDDB0650-7158-D35A-45C0-D0D3517FF130}"/>
              </a:ext>
            </a:extLst>
          </p:cNvPr>
          <p:cNvSpPr/>
          <p:nvPr/>
        </p:nvSpPr>
        <p:spPr>
          <a:xfrm>
            <a:off x="6258283" y="1295501"/>
            <a:ext cx="1486528" cy="267020"/>
          </a:xfrm>
          <a:prstGeom prst="roundRect">
            <a:avLst>
              <a:gd name="adj" fmla="val 50000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1823802-8E7B-E921-D9D2-E459C12298D5}"/>
              </a:ext>
            </a:extLst>
          </p:cNvPr>
          <p:cNvSpPr/>
          <p:nvPr/>
        </p:nvSpPr>
        <p:spPr>
          <a:xfrm>
            <a:off x="6095839" y="1302773"/>
            <a:ext cx="1648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3AE1F77-8637-1E17-7729-E21285D409CD}"/>
              </a:ext>
            </a:extLst>
          </p:cNvPr>
          <p:cNvSpPr/>
          <p:nvPr/>
        </p:nvSpPr>
        <p:spPr>
          <a:xfrm>
            <a:off x="6327491" y="1624249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1B0C"/>
                </a:solidFill>
              </a:rPr>
              <a:t>The cost of API insecurity is measurable</a:t>
            </a:r>
            <a:endParaRPr lang="en-US" sz="12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EAA531F6-7F62-620C-6D40-4C8E2EA31412}"/>
              </a:ext>
            </a:extLst>
          </p:cNvPr>
          <p:cNvSpPr/>
          <p:nvPr/>
        </p:nvSpPr>
        <p:spPr>
          <a:xfrm>
            <a:off x="6327491" y="1879099"/>
            <a:ext cx="47986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93C1D"/>
                </a:solidFill>
              </a:rPr>
              <a:t>Breaches via exposed APIs average $3.8M per incident. OWASP ranks broken API security in its Top 10 every year. Poor spec quality compounds every downstream integration, review cycle, and production risk.</a:t>
            </a:r>
            <a:endParaRPr lang="en-US" sz="110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AFD816A-0E8A-D8B0-82E4-8FD6CE34D0CA}"/>
              </a:ext>
            </a:extLst>
          </p:cNvPr>
          <p:cNvGrpSpPr/>
          <p:nvPr/>
        </p:nvGrpSpPr>
        <p:grpSpPr>
          <a:xfrm>
            <a:off x="453048" y="2953830"/>
            <a:ext cx="2732585" cy="749808"/>
            <a:chOff x="658211" y="3392030"/>
            <a:chExt cx="2732585" cy="749808"/>
          </a:xfrm>
        </p:grpSpPr>
        <p:sp>
          <p:nvSpPr>
            <p:cNvPr id="29" name="Shape 15">
              <a:extLst>
                <a:ext uri="{FF2B5EF4-FFF2-40B4-BE49-F238E27FC236}">
                  <a16:creationId xmlns:a16="http://schemas.microsoft.com/office/drawing/2014/main" id="{09BADB6F-035C-79FE-E074-232B2B1188C9}"/>
                </a:ext>
              </a:extLst>
            </p:cNvPr>
            <p:cNvSpPr/>
            <p:nvPr/>
          </p:nvSpPr>
          <p:spPr>
            <a:xfrm>
              <a:off x="693316" y="3392030"/>
              <a:ext cx="2697480" cy="749808"/>
            </a:xfrm>
            <a:prstGeom prst="rect">
              <a:avLst/>
            </a:prstGeom>
            <a:solidFill>
              <a:srgbClr val="FCEBEB"/>
            </a:solidFill>
            <a:ln w="9525">
              <a:solidFill>
                <a:srgbClr val="E24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80F2A4FB-6533-12E0-4D0E-6A2DBAA2BD10}"/>
                </a:ext>
              </a:extLst>
            </p:cNvPr>
            <p:cNvSpPr/>
            <p:nvPr/>
          </p:nvSpPr>
          <p:spPr>
            <a:xfrm>
              <a:off x="658211" y="3458324"/>
              <a:ext cx="2697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A32D2D"/>
                  </a:solidFill>
                </a:rPr>
                <a:t>$3.8M</a:t>
              </a:r>
              <a:endParaRPr lang="en-US" sz="2200" dirty="0"/>
            </a:p>
          </p:txBody>
        </p:sp>
        <p:sp>
          <p:nvSpPr>
            <p:cNvPr id="31" name="Text 17">
              <a:extLst>
                <a:ext uri="{FF2B5EF4-FFF2-40B4-BE49-F238E27FC236}">
                  <a16:creationId xmlns:a16="http://schemas.microsoft.com/office/drawing/2014/main" id="{D77A1A86-F184-10CD-013E-E5FE999B58A6}"/>
                </a:ext>
              </a:extLst>
            </p:cNvPr>
            <p:cNvSpPr/>
            <p:nvPr/>
          </p:nvSpPr>
          <p:spPr>
            <a:xfrm>
              <a:off x="658211" y="3805796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791F1F"/>
                  </a:solidFill>
                </a:rPr>
                <a:t>avg. cost per API breach incident</a:t>
              </a:r>
              <a:endParaRPr lang="en-US" sz="12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A782796-8FE4-B1F9-14D5-3F793E528B61}"/>
              </a:ext>
            </a:extLst>
          </p:cNvPr>
          <p:cNvGrpSpPr/>
          <p:nvPr/>
        </p:nvGrpSpPr>
        <p:grpSpPr>
          <a:xfrm>
            <a:off x="3914255" y="2932862"/>
            <a:ext cx="2697480" cy="749808"/>
            <a:chOff x="3648299" y="3421748"/>
            <a:chExt cx="2697480" cy="749808"/>
          </a:xfrm>
        </p:grpSpPr>
        <p:sp>
          <p:nvSpPr>
            <p:cNvPr id="32" name="Shape 18">
              <a:extLst>
                <a:ext uri="{FF2B5EF4-FFF2-40B4-BE49-F238E27FC236}">
                  <a16:creationId xmlns:a16="http://schemas.microsoft.com/office/drawing/2014/main" id="{593B291E-B71B-1D71-23A2-FFC7A1025BEA}"/>
                </a:ext>
              </a:extLst>
            </p:cNvPr>
            <p:cNvSpPr/>
            <p:nvPr/>
          </p:nvSpPr>
          <p:spPr>
            <a:xfrm>
              <a:off x="3648299" y="3421748"/>
              <a:ext cx="2697480" cy="749808"/>
            </a:xfrm>
            <a:prstGeom prst="rect">
              <a:avLst/>
            </a:prstGeom>
            <a:solidFill>
              <a:srgbClr val="FAEEDA"/>
            </a:solidFill>
            <a:ln w="9525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19">
              <a:extLst>
                <a:ext uri="{FF2B5EF4-FFF2-40B4-BE49-F238E27FC236}">
                  <a16:creationId xmlns:a16="http://schemas.microsoft.com/office/drawing/2014/main" id="{3BC754EC-634E-FCE2-1739-25C2DF7E8712}"/>
                </a:ext>
              </a:extLst>
            </p:cNvPr>
            <p:cNvSpPr/>
            <p:nvPr/>
          </p:nvSpPr>
          <p:spPr>
            <a:xfrm>
              <a:off x="3648299" y="3458324"/>
              <a:ext cx="2697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854F0B"/>
                  </a:solidFill>
                </a:rPr>
                <a:t>57%</a:t>
              </a:r>
              <a:endParaRPr lang="en-US" sz="2200" dirty="0"/>
            </a:p>
          </p:txBody>
        </p:sp>
        <p:sp>
          <p:nvSpPr>
            <p:cNvPr id="34" name="Text 20">
              <a:extLst>
                <a:ext uri="{FF2B5EF4-FFF2-40B4-BE49-F238E27FC236}">
                  <a16:creationId xmlns:a16="http://schemas.microsoft.com/office/drawing/2014/main" id="{AF603E2B-DCF7-4665-E74B-3FAB04391EF2}"/>
                </a:ext>
              </a:extLst>
            </p:cNvPr>
            <p:cNvSpPr/>
            <p:nvPr/>
          </p:nvSpPr>
          <p:spPr>
            <a:xfrm>
              <a:off x="3648299" y="3805796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33806"/>
                  </a:solidFill>
                </a:rPr>
                <a:t>of orgs hit by an API breach (last 2 yrs)</a:t>
              </a:r>
              <a:endParaRPr lang="en-US" sz="11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F057E1B-AA4E-976D-7D2D-7FE65433B9D5}"/>
              </a:ext>
            </a:extLst>
          </p:cNvPr>
          <p:cNvGrpSpPr/>
          <p:nvPr/>
        </p:nvGrpSpPr>
        <p:grpSpPr>
          <a:xfrm>
            <a:off x="7680172" y="2908427"/>
            <a:ext cx="2697480" cy="749808"/>
            <a:chOff x="6647531" y="3421748"/>
            <a:chExt cx="2697480" cy="749808"/>
          </a:xfrm>
        </p:grpSpPr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E9B7B3A9-7818-29AB-0D2C-95FA93367874}"/>
                </a:ext>
              </a:extLst>
            </p:cNvPr>
            <p:cNvSpPr/>
            <p:nvPr/>
          </p:nvSpPr>
          <p:spPr>
            <a:xfrm>
              <a:off x="6647531" y="3421748"/>
              <a:ext cx="2697480" cy="749808"/>
            </a:xfrm>
            <a:prstGeom prst="rect">
              <a:avLst/>
            </a:prstGeom>
            <a:solidFill>
              <a:srgbClr val="EEEDFE"/>
            </a:solidFill>
            <a:ln w="9525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27E624B3-BC8B-EE60-ED1E-B77D158EA2D9}"/>
                </a:ext>
              </a:extLst>
            </p:cNvPr>
            <p:cNvSpPr/>
            <p:nvPr/>
          </p:nvSpPr>
          <p:spPr>
            <a:xfrm>
              <a:off x="6647531" y="3458324"/>
              <a:ext cx="2697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3C3489"/>
                  </a:solidFill>
                </a:rPr>
                <a:t>100s of APIs</a:t>
              </a:r>
              <a:endParaRPr lang="en-US" sz="1800" dirty="0"/>
            </a:p>
          </p:txBody>
        </p:sp>
        <p:sp>
          <p:nvSpPr>
            <p:cNvPr id="37" name="Text 23">
              <a:extLst>
                <a:ext uri="{FF2B5EF4-FFF2-40B4-BE49-F238E27FC236}">
                  <a16:creationId xmlns:a16="http://schemas.microsoft.com/office/drawing/2014/main" id="{DA93BA92-3D8D-C1BE-421F-3C61A1253908}"/>
                </a:ext>
              </a:extLst>
            </p:cNvPr>
            <p:cNvSpPr/>
            <p:nvPr/>
          </p:nvSpPr>
          <p:spPr>
            <a:xfrm>
              <a:off x="6647531" y="3805796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6215C"/>
                  </a:solidFill>
                </a:rPr>
                <a:t>reviewed manually — slow &amp; inconsistent</a:t>
              </a:r>
              <a:endParaRPr lang="en-US" sz="1100" dirty="0"/>
            </a:p>
          </p:txBody>
        </p:sp>
      </p:grpSp>
      <p:sp>
        <p:nvSpPr>
          <p:cNvPr id="38" name="Shape 24">
            <a:extLst>
              <a:ext uri="{FF2B5EF4-FFF2-40B4-BE49-F238E27FC236}">
                <a16:creationId xmlns:a16="http://schemas.microsoft.com/office/drawing/2014/main" id="{43FECA9E-75F5-FB78-B23B-D5AD5FDF19FB}"/>
              </a:ext>
            </a:extLst>
          </p:cNvPr>
          <p:cNvSpPr/>
          <p:nvPr/>
        </p:nvSpPr>
        <p:spPr>
          <a:xfrm>
            <a:off x="170322" y="3922071"/>
            <a:ext cx="5801702" cy="1932321"/>
          </a:xfrm>
          <a:prstGeom prst="rect">
            <a:avLst/>
          </a:prstGeom>
          <a:solidFill>
            <a:srgbClr val="F1EFE8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D0307D4-0BD5-9129-27F7-AED27BB8EC42}"/>
              </a:ext>
            </a:extLst>
          </p:cNvPr>
          <p:cNvGrpSpPr/>
          <p:nvPr/>
        </p:nvGrpSpPr>
        <p:grpSpPr>
          <a:xfrm>
            <a:off x="211890" y="3798198"/>
            <a:ext cx="5617410" cy="2009591"/>
            <a:chOff x="730469" y="4106160"/>
            <a:chExt cx="5129784" cy="1741486"/>
          </a:xfrm>
        </p:grpSpPr>
        <p:sp>
          <p:nvSpPr>
            <p:cNvPr id="41" name="Shape 27">
              <a:extLst>
                <a:ext uri="{FF2B5EF4-FFF2-40B4-BE49-F238E27FC236}">
                  <a16:creationId xmlns:a16="http://schemas.microsoft.com/office/drawing/2014/main" id="{C31C1130-C983-9E2D-848B-BA8627DF8689}"/>
                </a:ext>
              </a:extLst>
            </p:cNvPr>
            <p:cNvSpPr/>
            <p:nvPr/>
          </p:nvSpPr>
          <p:spPr>
            <a:xfrm>
              <a:off x="777083" y="4427588"/>
              <a:ext cx="109728" cy="109728"/>
            </a:xfrm>
            <a:prstGeom prst="rect">
              <a:avLst/>
            </a:prstGeom>
            <a:solidFill>
              <a:srgbClr val="E24B4A"/>
            </a:solidFill>
            <a:ln w="12700">
              <a:solidFill>
                <a:srgbClr val="E24B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33">
              <a:extLst>
                <a:ext uri="{FF2B5EF4-FFF2-40B4-BE49-F238E27FC236}">
                  <a16:creationId xmlns:a16="http://schemas.microsoft.com/office/drawing/2014/main" id="{A865EA36-9A57-6C9E-E1F3-3A812FD23C7B}"/>
                </a:ext>
              </a:extLst>
            </p:cNvPr>
            <p:cNvSpPr/>
            <p:nvPr/>
          </p:nvSpPr>
          <p:spPr>
            <a:xfrm>
              <a:off x="777083" y="5195684"/>
              <a:ext cx="109728" cy="109728"/>
            </a:xfrm>
            <a:prstGeom prst="rect">
              <a:avLst/>
            </a:prstGeom>
            <a:solidFill>
              <a:srgbClr val="D85A30"/>
            </a:solidFill>
            <a:ln w="12700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407E42B-E167-2606-1DC5-AA8C2F460B80}"/>
                </a:ext>
              </a:extLst>
            </p:cNvPr>
            <p:cNvGrpSpPr/>
            <p:nvPr/>
          </p:nvGrpSpPr>
          <p:grpSpPr>
            <a:xfrm>
              <a:off x="730469" y="4106160"/>
              <a:ext cx="5129784" cy="1741486"/>
              <a:chOff x="749651" y="4149142"/>
              <a:chExt cx="5129784" cy="1741486"/>
            </a:xfrm>
          </p:grpSpPr>
          <p:sp>
            <p:nvSpPr>
              <p:cNvPr id="44" name="Shape 30">
                <a:extLst>
                  <a:ext uri="{FF2B5EF4-FFF2-40B4-BE49-F238E27FC236}">
                    <a16:creationId xmlns:a16="http://schemas.microsoft.com/office/drawing/2014/main" id="{17578B4F-8712-D945-1FD1-846459CB934C}"/>
                  </a:ext>
                </a:extLst>
              </p:cNvPr>
              <p:cNvSpPr/>
              <p:nvPr/>
            </p:nvSpPr>
            <p:spPr>
              <a:xfrm>
                <a:off x="777083" y="4811636"/>
                <a:ext cx="109728" cy="109728"/>
              </a:xfrm>
              <a:prstGeom prst="rect">
                <a:avLst/>
              </a:prstGeom>
              <a:solidFill>
                <a:srgbClr val="BA7517"/>
              </a:solidFill>
              <a:ln w="12700">
                <a:solidFill>
                  <a:srgbClr val="BA751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Shape 36">
                <a:extLst>
                  <a:ext uri="{FF2B5EF4-FFF2-40B4-BE49-F238E27FC236}">
                    <a16:creationId xmlns:a16="http://schemas.microsoft.com/office/drawing/2014/main" id="{101FA57A-7796-E40D-D29D-EEBB6BB3CE70}"/>
                  </a:ext>
                </a:extLst>
              </p:cNvPr>
              <p:cNvSpPr/>
              <p:nvPr/>
            </p:nvSpPr>
            <p:spPr>
              <a:xfrm>
                <a:off x="777083" y="5579732"/>
                <a:ext cx="109728" cy="109728"/>
              </a:xfrm>
              <a:prstGeom prst="rect">
                <a:avLst/>
              </a:prstGeom>
              <a:solidFill>
                <a:srgbClr val="888780"/>
              </a:solidFill>
              <a:ln w="12700">
                <a:solidFill>
                  <a:srgbClr val="88878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230B200-2783-C97F-6BCB-B9BA9E946CE3}"/>
                  </a:ext>
                </a:extLst>
              </p:cNvPr>
              <p:cNvGrpSpPr/>
              <p:nvPr/>
            </p:nvGrpSpPr>
            <p:grpSpPr>
              <a:xfrm>
                <a:off x="749651" y="4149142"/>
                <a:ext cx="5129784" cy="1741486"/>
                <a:chOff x="749651" y="4149142"/>
                <a:chExt cx="5129784" cy="1741486"/>
              </a:xfrm>
            </p:grpSpPr>
            <p:sp>
              <p:nvSpPr>
                <p:cNvPr id="39" name="Shape 25">
                  <a:extLst>
                    <a:ext uri="{FF2B5EF4-FFF2-40B4-BE49-F238E27FC236}">
                      <a16:creationId xmlns:a16="http://schemas.microsoft.com/office/drawing/2014/main" id="{67D4D9DC-35F6-4471-02DC-EB0B6C48E054}"/>
                    </a:ext>
                  </a:extLst>
                </p:cNvPr>
                <p:cNvSpPr/>
                <p:nvPr/>
              </p:nvSpPr>
              <p:spPr>
                <a:xfrm>
                  <a:off x="782178" y="4149142"/>
                  <a:ext cx="1508760" cy="20116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5F5E5A"/>
                </a:solidFill>
                <a:ln w="12700">
                  <a:solidFill>
                    <a:srgbClr val="5F5E5A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Text 26">
                  <a:extLst>
                    <a:ext uri="{FF2B5EF4-FFF2-40B4-BE49-F238E27FC236}">
                      <a16:creationId xmlns:a16="http://schemas.microsoft.com/office/drawing/2014/main" id="{BC2B6CCA-7F86-E936-72FA-0264475DABDC}"/>
                    </a:ext>
                  </a:extLst>
                </p:cNvPr>
                <p:cNvSpPr/>
                <p:nvPr/>
              </p:nvSpPr>
              <p:spPr>
                <a:xfrm>
                  <a:off x="749651" y="4153270"/>
                  <a:ext cx="1508760" cy="18476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</a:rPr>
                    <a:t>Current challenges</a:t>
                  </a:r>
                  <a:endParaRPr lang="en-US" sz="1100" dirty="0"/>
                </a:p>
              </p:txBody>
            </p:sp>
            <p:sp>
              <p:nvSpPr>
                <p:cNvPr id="42" name="Text 28">
                  <a:extLst>
                    <a:ext uri="{FF2B5EF4-FFF2-40B4-BE49-F238E27FC236}">
                      <a16:creationId xmlns:a16="http://schemas.microsoft.com/office/drawing/2014/main" id="{321420BA-5B71-66DB-7C45-73C59DAC3784}"/>
                    </a:ext>
                  </a:extLst>
                </p:cNvPr>
                <p:cNvSpPr/>
                <p:nvPr/>
              </p:nvSpPr>
              <p:spPr>
                <a:xfrm>
                  <a:off x="941675" y="4372724"/>
                  <a:ext cx="228600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2C2C2A"/>
                      </a:solidFill>
                    </a:rPr>
                    <a:t>No security schemes</a:t>
                  </a:r>
                  <a:endParaRPr lang="en-US" sz="1100" dirty="0"/>
                </a:p>
              </p:txBody>
            </p:sp>
            <p:sp>
              <p:nvSpPr>
                <p:cNvPr id="43" name="Text 29">
                  <a:extLst>
                    <a:ext uri="{FF2B5EF4-FFF2-40B4-BE49-F238E27FC236}">
                      <a16:creationId xmlns:a16="http://schemas.microsoft.com/office/drawing/2014/main" id="{B41CA3CC-4EDC-4879-CB84-AD924E88755B}"/>
                    </a:ext>
                  </a:extLst>
                </p:cNvPr>
                <p:cNvSpPr/>
                <p:nvPr/>
              </p:nvSpPr>
              <p:spPr>
                <a:xfrm>
                  <a:off x="941675" y="4573892"/>
                  <a:ext cx="4937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5F5E5A"/>
                      </a:solidFill>
                    </a:rPr>
                    <a:t>OAuth2, JWT, scopes absent — endpoints ship unprotected</a:t>
                  </a:r>
                  <a:endParaRPr lang="en-US" sz="1050" dirty="0"/>
                </a:p>
              </p:txBody>
            </p:sp>
            <p:sp>
              <p:nvSpPr>
                <p:cNvPr id="45" name="Text 31">
                  <a:extLst>
                    <a:ext uri="{FF2B5EF4-FFF2-40B4-BE49-F238E27FC236}">
                      <a16:creationId xmlns:a16="http://schemas.microsoft.com/office/drawing/2014/main" id="{5A886C8B-78D0-5CFB-EBB3-25D66A217273}"/>
                    </a:ext>
                  </a:extLst>
                </p:cNvPr>
                <p:cNvSpPr/>
                <p:nvPr/>
              </p:nvSpPr>
              <p:spPr>
                <a:xfrm>
                  <a:off x="941675" y="4756772"/>
                  <a:ext cx="228600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2C2C2A"/>
                      </a:solidFill>
                    </a:rPr>
                    <a:t>Missing critical response codes</a:t>
                  </a:r>
                  <a:endParaRPr lang="en-US" sz="1100" dirty="0"/>
                </a:p>
              </p:txBody>
            </p:sp>
            <p:sp>
              <p:nvSpPr>
                <p:cNvPr id="46" name="Text 32">
                  <a:extLst>
                    <a:ext uri="{FF2B5EF4-FFF2-40B4-BE49-F238E27FC236}">
                      <a16:creationId xmlns:a16="http://schemas.microsoft.com/office/drawing/2014/main" id="{7E4E26B9-ADC9-3996-9D77-9A2F91C45797}"/>
                    </a:ext>
                  </a:extLst>
                </p:cNvPr>
                <p:cNvSpPr/>
                <p:nvPr/>
              </p:nvSpPr>
              <p:spPr>
                <a:xfrm>
                  <a:off x="941675" y="4957940"/>
                  <a:ext cx="4937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F5E5A"/>
                      </a:solidFill>
                    </a:rPr>
                    <a:t>401, 403, 429 undocumented — blind spots in error handling</a:t>
                  </a:r>
                  <a:endParaRPr lang="en-US" sz="1100" dirty="0"/>
                </a:p>
              </p:txBody>
            </p:sp>
            <p:sp>
              <p:nvSpPr>
                <p:cNvPr id="48" name="Text 34">
                  <a:extLst>
                    <a:ext uri="{FF2B5EF4-FFF2-40B4-BE49-F238E27FC236}">
                      <a16:creationId xmlns:a16="http://schemas.microsoft.com/office/drawing/2014/main" id="{748C81F1-6831-99BA-B880-7D2B324D59A0}"/>
                    </a:ext>
                  </a:extLst>
                </p:cNvPr>
                <p:cNvSpPr/>
                <p:nvPr/>
              </p:nvSpPr>
              <p:spPr>
                <a:xfrm>
                  <a:off x="941675" y="5140820"/>
                  <a:ext cx="228600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2C2C2A"/>
                      </a:solidFill>
                    </a:rPr>
                    <a:t>Inconsistent errors &amp; REST violations</a:t>
                  </a:r>
                  <a:endParaRPr lang="en-US" sz="1100" dirty="0"/>
                </a:p>
              </p:txBody>
            </p:sp>
            <p:sp>
              <p:nvSpPr>
                <p:cNvPr id="50" name="Text 35">
                  <a:extLst>
                    <a:ext uri="{FF2B5EF4-FFF2-40B4-BE49-F238E27FC236}">
                      <a16:creationId xmlns:a16="http://schemas.microsoft.com/office/drawing/2014/main" id="{10464EB2-70B6-C91F-7ED3-030C94FBA6B8}"/>
                    </a:ext>
                  </a:extLst>
                </p:cNvPr>
                <p:cNvSpPr/>
                <p:nvPr/>
              </p:nvSpPr>
              <p:spPr>
                <a:xfrm>
                  <a:off x="941675" y="5341988"/>
                  <a:ext cx="4937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F5E5A"/>
                      </a:solidFill>
                    </a:rPr>
                    <a:t>No reusable schemas, poor versioning and naming conventions</a:t>
                  </a:r>
                  <a:endParaRPr lang="en-US" sz="1100" dirty="0"/>
                </a:p>
              </p:txBody>
            </p:sp>
            <p:sp>
              <p:nvSpPr>
                <p:cNvPr id="52" name="Text 37">
                  <a:extLst>
                    <a:ext uri="{FF2B5EF4-FFF2-40B4-BE49-F238E27FC236}">
                      <a16:creationId xmlns:a16="http://schemas.microsoft.com/office/drawing/2014/main" id="{FC1A4F8D-85B6-EDED-2930-A49DB65E0E7D}"/>
                    </a:ext>
                  </a:extLst>
                </p:cNvPr>
                <p:cNvSpPr/>
                <p:nvPr/>
              </p:nvSpPr>
              <p:spPr>
                <a:xfrm>
                  <a:off x="941675" y="5524868"/>
                  <a:ext cx="228600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2C2C2A"/>
                      </a:solidFill>
                    </a:rPr>
                    <a:t>No continuous governance</a:t>
                  </a:r>
                  <a:endParaRPr lang="en-US" sz="1100" dirty="0"/>
                </a:p>
              </p:txBody>
            </p:sp>
            <p:sp>
              <p:nvSpPr>
                <p:cNvPr id="53" name="Text 38">
                  <a:extLst>
                    <a:ext uri="{FF2B5EF4-FFF2-40B4-BE49-F238E27FC236}">
                      <a16:creationId xmlns:a16="http://schemas.microsoft.com/office/drawing/2014/main" id="{B7574012-C08D-BC7A-976B-BA0BE3160ECC}"/>
                    </a:ext>
                  </a:extLst>
                </p:cNvPr>
                <p:cNvSpPr/>
                <p:nvPr/>
              </p:nvSpPr>
              <p:spPr>
                <a:xfrm>
                  <a:off x="941675" y="5726036"/>
                  <a:ext cx="4937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F5E5A"/>
                      </a:solidFill>
                    </a:rPr>
                    <a:t>Standards drift silently — no OWASP / ISO alignment at design time</a:t>
                  </a:r>
                  <a:endParaRPr lang="en-US" sz="1100" dirty="0"/>
                </a:p>
              </p:txBody>
            </p:sp>
          </p:grpSp>
        </p:grpSp>
      </p:grpSp>
      <p:sp>
        <p:nvSpPr>
          <p:cNvPr id="67" name="Shape 52">
            <a:extLst>
              <a:ext uri="{FF2B5EF4-FFF2-40B4-BE49-F238E27FC236}">
                <a16:creationId xmlns:a16="http://schemas.microsoft.com/office/drawing/2014/main" id="{EFF36EC6-331B-524A-7FF8-8D520E7B7A9F}"/>
              </a:ext>
            </a:extLst>
          </p:cNvPr>
          <p:cNvSpPr/>
          <p:nvPr/>
        </p:nvSpPr>
        <p:spPr>
          <a:xfrm>
            <a:off x="161278" y="5962130"/>
            <a:ext cx="11126356" cy="34912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3">
            <a:extLst>
              <a:ext uri="{FF2B5EF4-FFF2-40B4-BE49-F238E27FC236}">
                <a16:creationId xmlns:a16="http://schemas.microsoft.com/office/drawing/2014/main" id="{248D552C-04B3-E1EB-2744-CC10910A74A7}"/>
              </a:ext>
            </a:extLst>
          </p:cNvPr>
          <p:cNvSpPr/>
          <p:nvPr/>
        </p:nvSpPr>
        <p:spPr>
          <a:xfrm>
            <a:off x="658211" y="5970811"/>
            <a:ext cx="8686800" cy="31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Without automated governance, every new API is a liability waiting to be discovered.</a:t>
            </a:r>
            <a:endParaRPr lang="en-US" sz="120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71ABB4B-7252-191C-7A26-DB860718DD6A}"/>
              </a:ext>
            </a:extLst>
          </p:cNvPr>
          <p:cNvGrpSpPr/>
          <p:nvPr/>
        </p:nvGrpSpPr>
        <p:grpSpPr>
          <a:xfrm>
            <a:off x="6277070" y="3825811"/>
            <a:ext cx="5010564" cy="2047047"/>
            <a:chOff x="6277070" y="3750932"/>
            <a:chExt cx="5010564" cy="2047047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B9165345-5296-0587-B963-6A21EDAF30FC}"/>
                </a:ext>
              </a:extLst>
            </p:cNvPr>
            <p:cNvGrpSpPr/>
            <p:nvPr/>
          </p:nvGrpSpPr>
          <p:grpSpPr>
            <a:xfrm>
              <a:off x="6277070" y="3750932"/>
              <a:ext cx="5010564" cy="2047047"/>
              <a:chOff x="7997433" y="3909016"/>
              <a:chExt cx="3108960" cy="1815889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98754641-B388-2026-797B-29AF17C801C0}"/>
                  </a:ext>
                </a:extLst>
              </p:cNvPr>
              <p:cNvGrpSpPr/>
              <p:nvPr/>
            </p:nvGrpSpPr>
            <p:grpSpPr>
              <a:xfrm>
                <a:off x="7997433" y="3909016"/>
                <a:ext cx="3108960" cy="1815889"/>
                <a:chOff x="6236051" y="4208131"/>
                <a:chExt cx="3108960" cy="1815889"/>
              </a:xfrm>
            </p:grpSpPr>
            <p:sp>
              <p:nvSpPr>
                <p:cNvPr id="54" name="Shape 39">
                  <a:extLst>
                    <a:ext uri="{FF2B5EF4-FFF2-40B4-BE49-F238E27FC236}">
                      <a16:creationId xmlns:a16="http://schemas.microsoft.com/office/drawing/2014/main" id="{7708C9D6-3CF4-367C-F7A2-5F24089B2C43}"/>
                    </a:ext>
                  </a:extLst>
                </p:cNvPr>
                <p:cNvSpPr/>
                <p:nvPr/>
              </p:nvSpPr>
              <p:spPr>
                <a:xfrm>
                  <a:off x="6236051" y="4332380"/>
                  <a:ext cx="3108960" cy="1691640"/>
                </a:xfrm>
                <a:prstGeom prst="rect">
                  <a:avLst/>
                </a:prstGeom>
                <a:solidFill>
                  <a:srgbClr val="E1F5EE"/>
                </a:solidFill>
                <a:ln w="9525">
                  <a:solidFill>
                    <a:srgbClr val="1D9E75"/>
                  </a:solidFill>
                  <a:prstDash val="solid"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5" name="Shape 40">
                  <a:extLst>
                    <a:ext uri="{FF2B5EF4-FFF2-40B4-BE49-F238E27FC236}">
                      <a16:creationId xmlns:a16="http://schemas.microsoft.com/office/drawing/2014/main" id="{F2D4DA09-B446-801A-ABA9-3F64800A3F32}"/>
                    </a:ext>
                  </a:extLst>
                </p:cNvPr>
                <p:cNvSpPr/>
                <p:nvPr/>
              </p:nvSpPr>
              <p:spPr>
                <a:xfrm>
                  <a:off x="6327491" y="4208131"/>
                  <a:ext cx="1417320" cy="2620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F6E56"/>
                </a:solidFill>
                <a:ln w="12700">
                  <a:solidFill>
                    <a:srgbClr val="0F6E56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" name="Text 41">
                  <a:extLst>
                    <a:ext uri="{FF2B5EF4-FFF2-40B4-BE49-F238E27FC236}">
                      <a16:creationId xmlns:a16="http://schemas.microsoft.com/office/drawing/2014/main" id="{DC962EE4-5CFE-C4FE-4154-8F68255E5D28}"/>
                    </a:ext>
                  </a:extLst>
                </p:cNvPr>
                <p:cNvSpPr/>
                <p:nvPr/>
              </p:nvSpPr>
              <p:spPr>
                <a:xfrm>
                  <a:off x="6327491" y="4208132"/>
                  <a:ext cx="141732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FFFFFF"/>
                      </a:solidFill>
                    </a:rPr>
                    <a:t>IBM product in scope</a:t>
                  </a:r>
                  <a:endParaRPr lang="en-US" sz="1100" dirty="0"/>
                </a:p>
              </p:txBody>
            </p:sp>
            <p:sp>
              <p:nvSpPr>
                <p:cNvPr id="57" name="Shape 42">
                  <a:extLst>
                    <a:ext uri="{FF2B5EF4-FFF2-40B4-BE49-F238E27FC236}">
                      <a16:creationId xmlns:a16="http://schemas.microsoft.com/office/drawing/2014/main" id="{932D7D53-B0E2-FFFC-D338-A7F704569378}"/>
                    </a:ext>
                  </a:extLst>
                </p:cNvPr>
                <p:cNvSpPr/>
                <p:nvPr/>
              </p:nvSpPr>
              <p:spPr>
                <a:xfrm>
                  <a:off x="6443704" y="4528384"/>
                  <a:ext cx="348447" cy="350364"/>
                </a:xfrm>
                <a:prstGeom prst="rect">
                  <a:avLst/>
                </a:prstGeom>
                <a:solidFill>
                  <a:srgbClr val="9FE1CB"/>
                </a:solidFill>
                <a:ln w="9525">
                  <a:solidFill>
                    <a:srgbClr val="1D9E75"/>
                  </a:solidFill>
                  <a:prstDash val="solid"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9" name="Text 44">
                  <a:extLst>
                    <a:ext uri="{FF2B5EF4-FFF2-40B4-BE49-F238E27FC236}">
                      <a16:creationId xmlns:a16="http://schemas.microsoft.com/office/drawing/2014/main" id="{E69A71C0-148F-96F0-0F47-2B19F66A3523}"/>
                    </a:ext>
                  </a:extLst>
                </p:cNvPr>
                <p:cNvSpPr/>
                <p:nvPr/>
              </p:nvSpPr>
              <p:spPr>
                <a:xfrm>
                  <a:off x="6865494" y="4442742"/>
                  <a:ext cx="228600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04342C"/>
                      </a:solidFill>
                    </a:rPr>
                    <a:t>IBM watsonx.ai</a:t>
                  </a:r>
                  <a:endParaRPr lang="en-US" sz="1100" dirty="0"/>
                </a:p>
              </p:txBody>
            </p:sp>
            <p:sp>
              <p:nvSpPr>
                <p:cNvPr id="60" name="Text 45">
                  <a:extLst>
                    <a:ext uri="{FF2B5EF4-FFF2-40B4-BE49-F238E27FC236}">
                      <a16:creationId xmlns:a16="http://schemas.microsoft.com/office/drawing/2014/main" id="{F540125E-0FEF-D25E-1BCE-F9245A6BD6EB}"/>
                    </a:ext>
                  </a:extLst>
                </p:cNvPr>
                <p:cNvSpPr/>
                <p:nvPr/>
              </p:nvSpPr>
              <p:spPr>
                <a:xfrm>
                  <a:off x="6869736" y="4656188"/>
                  <a:ext cx="228600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0F6E56"/>
                      </a:solidFill>
                    </a:rPr>
                    <a:t>Foundation model for agentic reasoning</a:t>
                  </a:r>
                  <a:endParaRPr lang="en-US" sz="1100" dirty="0"/>
                </a:p>
              </p:txBody>
            </p:sp>
            <p:sp>
              <p:nvSpPr>
                <p:cNvPr id="62" name="Text 47">
                  <a:extLst>
                    <a:ext uri="{FF2B5EF4-FFF2-40B4-BE49-F238E27FC236}">
                      <a16:creationId xmlns:a16="http://schemas.microsoft.com/office/drawing/2014/main" id="{9098291B-3751-5397-6B46-639D00E8E8D7}"/>
                    </a:ext>
                  </a:extLst>
                </p:cNvPr>
                <p:cNvSpPr/>
                <p:nvPr/>
              </p:nvSpPr>
              <p:spPr>
                <a:xfrm>
                  <a:off x="6327491" y="5040236"/>
                  <a:ext cx="288036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085041"/>
                      </a:solidFill>
                    </a:rPr>
                    <a:t>Powers SpecSentinel to:</a:t>
                  </a:r>
                  <a:endParaRPr lang="en-US" sz="1100" dirty="0"/>
                </a:p>
              </p:txBody>
            </p:sp>
            <p:sp>
              <p:nvSpPr>
                <p:cNvPr id="63" name="Text 48">
                  <a:extLst>
                    <a:ext uri="{FF2B5EF4-FFF2-40B4-BE49-F238E27FC236}">
                      <a16:creationId xmlns:a16="http://schemas.microsoft.com/office/drawing/2014/main" id="{70AE15D0-8046-5322-3CF9-06EA5B7429FC}"/>
                    </a:ext>
                  </a:extLst>
                </p:cNvPr>
                <p:cNvSpPr/>
                <p:nvPr/>
              </p:nvSpPr>
              <p:spPr>
                <a:xfrm>
                  <a:off x="6327491" y="5241404"/>
                  <a:ext cx="28803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0F6E56"/>
                      </a:solidFill>
                    </a:rPr>
                    <a:t>· Dynamically plan validation rules</a:t>
                  </a:r>
                  <a:endParaRPr lang="en-US" sz="1050" dirty="0"/>
                </a:p>
              </p:txBody>
            </p:sp>
            <p:sp>
              <p:nvSpPr>
                <p:cNvPr id="64" name="Text 49">
                  <a:extLst>
                    <a:ext uri="{FF2B5EF4-FFF2-40B4-BE49-F238E27FC236}">
                      <a16:creationId xmlns:a16="http://schemas.microsoft.com/office/drawing/2014/main" id="{16AD07EE-EC26-3AC2-5380-82D6A6EBB6DE}"/>
                    </a:ext>
                  </a:extLst>
                </p:cNvPr>
                <p:cNvSpPr/>
                <p:nvPr/>
              </p:nvSpPr>
              <p:spPr>
                <a:xfrm>
                  <a:off x="6327491" y="5405996"/>
                  <a:ext cx="28803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0F6E56"/>
                      </a:solidFill>
                    </a:rPr>
                    <a:t>· Reason over spec findings &amp; risks</a:t>
                  </a:r>
                  <a:endParaRPr lang="en-US" sz="1050" dirty="0"/>
                </a:p>
              </p:txBody>
            </p:sp>
            <p:sp>
              <p:nvSpPr>
                <p:cNvPr id="65" name="Text 50">
                  <a:extLst>
                    <a:ext uri="{FF2B5EF4-FFF2-40B4-BE49-F238E27FC236}">
                      <a16:creationId xmlns:a16="http://schemas.microsoft.com/office/drawing/2014/main" id="{8E0A92E5-918C-3826-413E-D5915664F075}"/>
                    </a:ext>
                  </a:extLst>
                </p:cNvPr>
                <p:cNvSpPr/>
                <p:nvPr/>
              </p:nvSpPr>
              <p:spPr>
                <a:xfrm>
                  <a:off x="6327491" y="5570588"/>
                  <a:ext cx="28803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0F6E56"/>
                      </a:solidFill>
                    </a:rPr>
                    <a:t>· Generate fix-ready YAML guidance</a:t>
                  </a:r>
                  <a:endParaRPr lang="en-US" sz="1050" dirty="0"/>
                </a:p>
              </p:txBody>
            </p:sp>
            <p:sp>
              <p:nvSpPr>
                <p:cNvPr id="66" name="Text 51">
                  <a:extLst>
                    <a:ext uri="{FF2B5EF4-FFF2-40B4-BE49-F238E27FC236}">
                      <a16:creationId xmlns:a16="http://schemas.microsoft.com/office/drawing/2014/main" id="{B67E1444-E1E1-49D8-9F3D-A6885118C60A}"/>
                    </a:ext>
                  </a:extLst>
                </p:cNvPr>
                <p:cNvSpPr/>
                <p:nvPr/>
              </p:nvSpPr>
              <p:spPr>
                <a:xfrm>
                  <a:off x="6327491" y="5735180"/>
                  <a:ext cx="28803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0F6E56"/>
                      </a:solidFill>
                    </a:rPr>
                    <a:t>· Score &amp; project maturity improvements</a:t>
                  </a:r>
                  <a:endParaRPr lang="en-US" sz="1050" dirty="0"/>
                </a:p>
              </p:txBody>
            </p:sp>
          </p:grpSp>
          <p:sp>
            <p:nvSpPr>
              <p:cNvPr id="58" name="Text 43">
                <a:extLst>
                  <a:ext uri="{FF2B5EF4-FFF2-40B4-BE49-F238E27FC236}">
                    <a16:creationId xmlns:a16="http://schemas.microsoft.com/office/drawing/2014/main" id="{A1362B61-74E5-9E59-E5E7-8334F5F141DE}"/>
                  </a:ext>
                </a:extLst>
              </p:cNvPr>
              <p:cNvSpPr/>
              <p:nvPr/>
            </p:nvSpPr>
            <p:spPr>
              <a:xfrm>
                <a:off x="8055707" y="4071009"/>
                <a:ext cx="566928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085041"/>
                    </a:solidFill>
                  </a:rPr>
                  <a:t>WX.ai</a:t>
                </a:r>
                <a:endParaRPr lang="en-US" sz="1000" dirty="0"/>
              </a:p>
            </p:txBody>
          </p:sp>
        </p:grpSp>
        <p:sp>
          <p:nvSpPr>
            <p:cNvPr id="61" name="Shape 46">
              <a:extLst>
                <a:ext uri="{FF2B5EF4-FFF2-40B4-BE49-F238E27FC236}">
                  <a16:creationId xmlns:a16="http://schemas.microsoft.com/office/drawing/2014/main" id="{12252C6C-AD32-BBFD-DF60-72CB30BFA163}"/>
                </a:ext>
              </a:extLst>
            </p:cNvPr>
            <p:cNvSpPr/>
            <p:nvPr/>
          </p:nvSpPr>
          <p:spPr>
            <a:xfrm>
              <a:off x="6370987" y="4599689"/>
              <a:ext cx="4755114" cy="0"/>
            </a:xfrm>
            <a:prstGeom prst="line">
              <a:avLst/>
            </a:prstGeom>
            <a:noFill/>
            <a:ln w="6350">
              <a:solidFill>
                <a:srgbClr val="5DCAA5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4011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727D-8FA3-8669-D978-0D832B2B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E9B31BCC-7624-937B-3345-ADF590857DF1}"/>
              </a:ext>
            </a:extLst>
          </p:cNvPr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AD85F0-4DD0-11BD-CE10-22402D626E3B}"/>
              </a:ext>
            </a:extLst>
          </p:cNvPr>
          <p:cNvSpPr/>
          <p:nvPr/>
        </p:nvSpPr>
        <p:spPr>
          <a:xfrm>
            <a:off x="0" y="1172261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DF867E-13E6-EFD8-CF85-875C3F4BAC7D}"/>
              </a:ext>
            </a:extLst>
          </p:cNvPr>
          <p:cNvSpPr txBox="1"/>
          <p:nvPr/>
        </p:nvSpPr>
        <p:spPr>
          <a:xfrm>
            <a:off x="571500" y="466344"/>
            <a:ext cx="61652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/>
              <a:t>MVP Implementation Scope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EAB266D-D741-FD40-45C2-5B95DD75B108}"/>
              </a:ext>
            </a:extLst>
          </p:cNvPr>
          <p:cNvSpPr/>
          <p:nvPr/>
        </p:nvSpPr>
        <p:spPr>
          <a:xfrm>
            <a:off x="0" y="6372454"/>
            <a:ext cx="12191695" cy="485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FA20091-A580-18E6-1392-EA98861D1AD9}"/>
              </a:ext>
            </a:extLst>
          </p:cNvPr>
          <p:cNvSpPr/>
          <p:nvPr/>
        </p:nvSpPr>
        <p:spPr>
          <a:xfrm>
            <a:off x="0" y="6372454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0497C5A-FF39-8A85-CE54-AC79EE0D1A80}"/>
              </a:ext>
            </a:extLst>
          </p:cNvPr>
          <p:cNvSpPr txBox="1"/>
          <p:nvPr/>
        </p:nvSpPr>
        <p:spPr>
          <a:xfrm>
            <a:off x="571500" y="6543446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COE Automation Hackathon 2026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A6786AD-0CE2-E132-8A07-A09DA6E1E4B5}"/>
              </a:ext>
            </a:extLst>
          </p:cNvPr>
          <p:cNvSpPr txBox="1"/>
          <p:nvPr/>
        </p:nvSpPr>
        <p:spPr>
          <a:xfrm>
            <a:off x="10006279" y="6543446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- Internal Use Only</a:t>
            </a:r>
            <a:endParaRPr lang="en-US" sz="9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721F2C2-6394-0B44-AD87-30F1232E8C86}"/>
              </a:ext>
            </a:extLst>
          </p:cNvPr>
          <p:cNvSpPr/>
          <p:nvPr/>
        </p:nvSpPr>
        <p:spPr>
          <a:xfrm>
            <a:off x="3391408" y="135229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Categorize</a:t>
            </a:r>
            <a:endParaRPr lang="en-US" sz="8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BB128746-3F3D-C0C5-45C5-A57D9038B756}"/>
              </a:ext>
            </a:extLst>
          </p:cNvPr>
          <p:cNvSpPr/>
          <p:nvPr/>
        </p:nvSpPr>
        <p:spPr>
          <a:xfrm>
            <a:off x="4053332" y="134518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Recommend</a:t>
            </a:r>
            <a:endParaRPr lang="en-US" sz="8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EC2A40C6-2F80-E857-0B1A-65096045BBDF}"/>
              </a:ext>
            </a:extLst>
          </p:cNvPr>
          <p:cNvSpPr/>
          <p:nvPr/>
        </p:nvSpPr>
        <p:spPr>
          <a:xfrm>
            <a:off x="1821180" y="2231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 features</a:t>
            </a:r>
            <a:endParaRPr lang="en-US" sz="800" dirty="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B8E3A08-4C8D-9AE6-F400-DE51832D58CD}"/>
              </a:ext>
            </a:extLst>
          </p:cNvPr>
          <p:cNvGrpSpPr/>
          <p:nvPr/>
        </p:nvGrpSpPr>
        <p:grpSpPr>
          <a:xfrm>
            <a:off x="5331005" y="2637967"/>
            <a:ext cx="3361209" cy="1024128"/>
            <a:chOff x="4628388" y="2450592"/>
            <a:chExt cx="2651760" cy="1024128"/>
          </a:xfrm>
        </p:grpSpPr>
        <p:sp>
          <p:nvSpPr>
            <p:cNvPr id="43" name="Shape 38">
              <a:extLst>
                <a:ext uri="{FF2B5EF4-FFF2-40B4-BE49-F238E27FC236}">
                  <a16:creationId xmlns:a16="http://schemas.microsoft.com/office/drawing/2014/main" id="{C809FE88-8B66-30F9-D253-C8B56D744C79}"/>
                </a:ext>
              </a:extLst>
            </p:cNvPr>
            <p:cNvSpPr/>
            <p:nvPr/>
          </p:nvSpPr>
          <p:spPr>
            <a:xfrm>
              <a:off x="4628388" y="2450592"/>
              <a:ext cx="2651760" cy="1024128"/>
            </a:xfrm>
            <a:prstGeom prst="rect">
              <a:avLst/>
            </a:prstGeom>
            <a:solidFill>
              <a:srgbClr val="E1F5EE"/>
            </a:solidFill>
            <a:ln w="9525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39">
              <a:extLst>
                <a:ext uri="{FF2B5EF4-FFF2-40B4-BE49-F238E27FC236}">
                  <a16:creationId xmlns:a16="http://schemas.microsoft.com/office/drawing/2014/main" id="{5918BDDD-028E-75BF-F41D-7361785D1B60}"/>
                </a:ext>
              </a:extLst>
            </p:cNvPr>
            <p:cNvSpPr/>
            <p:nvPr/>
          </p:nvSpPr>
          <p:spPr>
            <a:xfrm>
              <a:off x="4628388" y="2450592"/>
              <a:ext cx="73152" cy="1024128"/>
            </a:xfrm>
            <a:prstGeom prst="rect">
              <a:avLst/>
            </a:prstGeom>
            <a:solidFill>
              <a:srgbClr val="1D9E75"/>
            </a:solidFill>
            <a:ln w="1270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0">
              <a:extLst>
                <a:ext uri="{FF2B5EF4-FFF2-40B4-BE49-F238E27FC236}">
                  <a16:creationId xmlns:a16="http://schemas.microsoft.com/office/drawing/2014/main" id="{40913729-D5E4-2CE1-84F5-2D1BB641294B}"/>
                </a:ext>
              </a:extLst>
            </p:cNvPr>
            <p:cNvSpPr/>
            <p:nvPr/>
          </p:nvSpPr>
          <p:spPr>
            <a:xfrm>
              <a:off x="4792980" y="2615184"/>
              <a:ext cx="420624" cy="420624"/>
            </a:xfrm>
            <a:prstGeom prst="ellipse">
              <a:avLst/>
            </a:prstGeom>
            <a:solidFill>
              <a:srgbClr val="1D9E75"/>
            </a:solidFill>
            <a:ln w="1270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1">
              <a:extLst>
                <a:ext uri="{FF2B5EF4-FFF2-40B4-BE49-F238E27FC236}">
                  <a16:creationId xmlns:a16="http://schemas.microsoft.com/office/drawing/2014/main" id="{95EADC7B-C018-3D76-3105-0C95F2E217F5}"/>
                </a:ext>
              </a:extLst>
            </p:cNvPr>
            <p:cNvSpPr/>
            <p:nvPr/>
          </p:nvSpPr>
          <p:spPr>
            <a:xfrm>
              <a:off x="4792980" y="2615184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</a:rPr>
                <a:t>◈</a:t>
              </a:r>
              <a:endParaRPr lang="en-US" sz="1400" dirty="0"/>
            </a:p>
          </p:txBody>
        </p:sp>
        <p:sp>
          <p:nvSpPr>
            <p:cNvPr id="47" name="Text 42">
              <a:extLst>
                <a:ext uri="{FF2B5EF4-FFF2-40B4-BE49-F238E27FC236}">
                  <a16:creationId xmlns:a16="http://schemas.microsoft.com/office/drawing/2014/main" id="{53E54155-E985-7B38-7FCE-408955988832}"/>
                </a:ext>
              </a:extLst>
            </p:cNvPr>
            <p:cNvSpPr/>
            <p:nvPr/>
          </p:nvSpPr>
          <p:spPr>
            <a:xfrm>
              <a:off x="5286756" y="2542032"/>
              <a:ext cx="19019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dirty="0">
                  <a:solidFill>
                    <a:srgbClr val="085041"/>
                  </a:solidFill>
                </a:rPr>
                <a:t>API design checks</a:t>
              </a:r>
              <a:endParaRPr lang="en-US" sz="1100" dirty="0"/>
            </a:p>
          </p:txBody>
        </p:sp>
        <p:sp>
          <p:nvSpPr>
            <p:cNvPr id="48" name="Text 43">
              <a:extLst>
                <a:ext uri="{FF2B5EF4-FFF2-40B4-BE49-F238E27FC236}">
                  <a16:creationId xmlns:a16="http://schemas.microsoft.com/office/drawing/2014/main" id="{8C03B21C-7CED-C16D-46A1-83CE9E2C9F2A}"/>
                </a:ext>
              </a:extLst>
            </p:cNvPr>
            <p:cNvSpPr/>
            <p:nvPr/>
          </p:nvSpPr>
          <p:spPr>
            <a:xfrm>
              <a:off x="5286756" y="2798064"/>
              <a:ext cx="190195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50" dirty="0">
                  <a:solidFill>
                    <a:srgbClr val="444441"/>
                  </a:solidFill>
                </a:rPr>
                <a:t>Validates REST method usage, versioning strategy, operationId presence, naming conventions and pagination.</a:t>
              </a:r>
              <a:endParaRPr lang="en-US" sz="105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4D043F2-29ED-450A-2D6E-233C8D426616}"/>
              </a:ext>
            </a:extLst>
          </p:cNvPr>
          <p:cNvGrpSpPr/>
          <p:nvPr/>
        </p:nvGrpSpPr>
        <p:grpSpPr>
          <a:xfrm>
            <a:off x="8837346" y="2626060"/>
            <a:ext cx="3063650" cy="1024128"/>
            <a:chOff x="7517892" y="2450592"/>
            <a:chExt cx="2651760" cy="1024128"/>
          </a:xfrm>
        </p:grpSpPr>
        <p:sp>
          <p:nvSpPr>
            <p:cNvPr id="50" name="Shape 44">
              <a:extLst>
                <a:ext uri="{FF2B5EF4-FFF2-40B4-BE49-F238E27FC236}">
                  <a16:creationId xmlns:a16="http://schemas.microsoft.com/office/drawing/2014/main" id="{1322155E-0B98-E724-507F-8E1D4D9E2AC6}"/>
                </a:ext>
              </a:extLst>
            </p:cNvPr>
            <p:cNvSpPr/>
            <p:nvPr/>
          </p:nvSpPr>
          <p:spPr>
            <a:xfrm>
              <a:off x="7517892" y="2450592"/>
              <a:ext cx="2651760" cy="1024128"/>
            </a:xfrm>
            <a:prstGeom prst="rect">
              <a:avLst/>
            </a:prstGeom>
            <a:solidFill>
              <a:srgbClr val="EEEDFE"/>
            </a:solidFill>
            <a:ln w="9525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5">
              <a:extLst>
                <a:ext uri="{FF2B5EF4-FFF2-40B4-BE49-F238E27FC236}">
                  <a16:creationId xmlns:a16="http://schemas.microsoft.com/office/drawing/2014/main" id="{9E8F0A42-0A1D-667E-B227-DAAE3D5A2AC5}"/>
                </a:ext>
              </a:extLst>
            </p:cNvPr>
            <p:cNvSpPr/>
            <p:nvPr/>
          </p:nvSpPr>
          <p:spPr>
            <a:xfrm>
              <a:off x="7517892" y="2450592"/>
              <a:ext cx="73152" cy="1024128"/>
            </a:xfrm>
            <a:prstGeom prst="rect">
              <a:avLst/>
            </a:prstGeom>
            <a:solidFill>
              <a:srgbClr val="7F77DD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46">
              <a:extLst>
                <a:ext uri="{FF2B5EF4-FFF2-40B4-BE49-F238E27FC236}">
                  <a16:creationId xmlns:a16="http://schemas.microsoft.com/office/drawing/2014/main" id="{E6DF90F2-ED80-3B59-AB29-FFCD27FF2032}"/>
                </a:ext>
              </a:extLst>
            </p:cNvPr>
            <p:cNvSpPr/>
            <p:nvPr/>
          </p:nvSpPr>
          <p:spPr>
            <a:xfrm>
              <a:off x="7682484" y="2615184"/>
              <a:ext cx="420624" cy="420624"/>
            </a:xfrm>
            <a:prstGeom prst="ellipse">
              <a:avLst/>
            </a:prstGeom>
            <a:solidFill>
              <a:srgbClr val="7F77DD"/>
            </a:solidFill>
            <a:ln w="12700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47">
              <a:extLst>
                <a:ext uri="{FF2B5EF4-FFF2-40B4-BE49-F238E27FC236}">
                  <a16:creationId xmlns:a16="http://schemas.microsoft.com/office/drawing/2014/main" id="{8C098690-FCFC-2151-B762-C016D66931D8}"/>
                </a:ext>
              </a:extLst>
            </p:cNvPr>
            <p:cNvSpPr/>
            <p:nvPr/>
          </p:nvSpPr>
          <p:spPr>
            <a:xfrm>
              <a:off x="7682484" y="2615184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</a:rPr>
                <a:t>◉</a:t>
              </a:r>
              <a:endParaRPr lang="en-US" sz="1400" dirty="0"/>
            </a:p>
          </p:txBody>
        </p:sp>
        <p:sp>
          <p:nvSpPr>
            <p:cNvPr id="54" name="Text 48">
              <a:extLst>
                <a:ext uri="{FF2B5EF4-FFF2-40B4-BE49-F238E27FC236}">
                  <a16:creationId xmlns:a16="http://schemas.microsoft.com/office/drawing/2014/main" id="{FB1456C1-E993-FF7D-50BD-97679F4D7615}"/>
                </a:ext>
              </a:extLst>
            </p:cNvPr>
            <p:cNvSpPr/>
            <p:nvPr/>
          </p:nvSpPr>
          <p:spPr>
            <a:xfrm>
              <a:off x="8176260" y="2542032"/>
              <a:ext cx="19019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dirty="0">
                  <a:solidFill>
                    <a:srgbClr val="3C3489"/>
                  </a:solidFill>
                </a:rPr>
                <a:t>Health score engine</a:t>
              </a:r>
              <a:endParaRPr lang="en-US" sz="1100" dirty="0"/>
            </a:p>
          </p:txBody>
        </p:sp>
        <p:sp>
          <p:nvSpPr>
            <p:cNvPr id="55" name="Text 49">
              <a:extLst>
                <a:ext uri="{FF2B5EF4-FFF2-40B4-BE49-F238E27FC236}">
                  <a16:creationId xmlns:a16="http://schemas.microsoft.com/office/drawing/2014/main" id="{984CEB3B-DE90-8821-4052-93DAFE64CC3B}"/>
                </a:ext>
              </a:extLst>
            </p:cNvPr>
            <p:cNvSpPr/>
            <p:nvPr/>
          </p:nvSpPr>
          <p:spPr>
            <a:xfrm>
              <a:off x="8176260" y="2798064"/>
              <a:ext cx="190195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50" dirty="0">
                  <a:solidFill>
                    <a:srgbClr val="444441"/>
                  </a:solidFill>
                </a:rPr>
                <a:t>Computes 0–100 score across 5 weighted categories. Maps result to Poor / Moderate / Good / Excellent bands.</a:t>
              </a:r>
              <a:endParaRPr lang="en-US" sz="1050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A9120B1-F3FA-5209-38F9-102F96029CA3}"/>
              </a:ext>
            </a:extLst>
          </p:cNvPr>
          <p:cNvGrpSpPr/>
          <p:nvPr/>
        </p:nvGrpSpPr>
        <p:grpSpPr>
          <a:xfrm>
            <a:off x="2067701" y="3841291"/>
            <a:ext cx="3036437" cy="1109006"/>
            <a:chOff x="1729740" y="3639312"/>
            <a:chExt cx="2733058" cy="1024128"/>
          </a:xfrm>
        </p:grpSpPr>
        <p:sp>
          <p:nvSpPr>
            <p:cNvPr id="57" name="Shape 51">
              <a:extLst>
                <a:ext uri="{FF2B5EF4-FFF2-40B4-BE49-F238E27FC236}">
                  <a16:creationId xmlns:a16="http://schemas.microsoft.com/office/drawing/2014/main" id="{06CEC862-1D61-A585-D8DA-C9435F7F89ED}"/>
                </a:ext>
              </a:extLst>
            </p:cNvPr>
            <p:cNvSpPr/>
            <p:nvPr/>
          </p:nvSpPr>
          <p:spPr>
            <a:xfrm>
              <a:off x="1729740" y="3639312"/>
              <a:ext cx="73152" cy="1024128"/>
            </a:xfrm>
            <a:prstGeom prst="rect">
              <a:avLst/>
            </a:prstGeom>
            <a:solidFill>
              <a:srgbClr val="BA7517"/>
            </a:solidFill>
            <a:ln w="12700">
              <a:solidFill>
                <a:srgbClr val="BA751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759D337-6714-A500-CB66-96877F49271C}"/>
                </a:ext>
              </a:extLst>
            </p:cNvPr>
            <p:cNvGrpSpPr/>
            <p:nvPr/>
          </p:nvGrpSpPr>
          <p:grpSpPr>
            <a:xfrm>
              <a:off x="1811038" y="3639312"/>
              <a:ext cx="2651760" cy="1024128"/>
              <a:chOff x="1729740" y="3639312"/>
              <a:chExt cx="2651760" cy="1024128"/>
            </a:xfrm>
          </p:grpSpPr>
          <p:sp>
            <p:nvSpPr>
              <p:cNvPr id="56" name="Shape 50">
                <a:extLst>
                  <a:ext uri="{FF2B5EF4-FFF2-40B4-BE49-F238E27FC236}">
                    <a16:creationId xmlns:a16="http://schemas.microsoft.com/office/drawing/2014/main" id="{ECCD23BA-B94C-CC3F-D955-EC19C9197934}"/>
                  </a:ext>
                </a:extLst>
              </p:cNvPr>
              <p:cNvSpPr/>
              <p:nvPr/>
            </p:nvSpPr>
            <p:spPr>
              <a:xfrm>
                <a:off x="1729740" y="3639312"/>
                <a:ext cx="2651760" cy="1024128"/>
              </a:xfrm>
              <a:prstGeom prst="rect">
                <a:avLst/>
              </a:prstGeom>
              <a:solidFill>
                <a:srgbClr val="FAEEDA"/>
              </a:solidFill>
              <a:ln w="9525">
                <a:solidFill>
                  <a:srgbClr val="BA751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Shape 52">
                <a:extLst>
                  <a:ext uri="{FF2B5EF4-FFF2-40B4-BE49-F238E27FC236}">
                    <a16:creationId xmlns:a16="http://schemas.microsoft.com/office/drawing/2014/main" id="{5309F580-007E-E79F-21D1-3C2CF69552F2}"/>
                  </a:ext>
                </a:extLst>
              </p:cNvPr>
              <p:cNvSpPr/>
              <p:nvPr/>
            </p:nvSpPr>
            <p:spPr>
              <a:xfrm>
                <a:off x="1894332" y="3803904"/>
                <a:ext cx="420624" cy="420624"/>
              </a:xfrm>
              <a:prstGeom prst="ellipse">
                <a:avLst/>
              </a:prstGeom>
              <a:solidFill>
                <a:srgbClr val="BA7517"/>
              </a:solidFill>
              <a:ln w="12700">
                <a:solidFill>
                  <a:srgbClr val="BA751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 53">
                <a:extLst>
                  <a:ext uri="{FF2B5EF4-FFF2-40B4-BE49-F238E27FC236}">
                    <a16:creationId xmlns:a16="http://schemas.microsoft.com/office/drawing/2014/main" id="{69528C42-DF0C-0140-F254-1C9720D1D8D2}"/>
                  </a:ext>
                </a:extLst>
              </p:cNvPr>
              <p:cNvSpPr/>
              <p:nvPr/>
            </p:nvSpPr>
            <p:spPr>
              <a:xfrm>
                <a:off x="1894332" y="3803904"/>
                <a:ext cx="420624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400" dirty="0">
                    <a:solidFill>
                      <a:srgbClr val="FFFFFF"/>
                    </a:solidFill>
                  </a:rPr>
                  <a:t>▲</a:t>
                </a:r>
                <a:endParaRPr lang="en-US" sz="1400" dirty="0"/>
              </a:p>
            </p:txBody>
          </p:sp>
          <p:sp>
            <p:nvSpPr>
              <p:cNvPr id="60" name="Text 54">
                <a:extLst>
                  <a:ext uri="{FF2B5EF4-FFF2-40B4-BE49-F238E27FC236}">
                    <a16:creationId xmlns:a16="http://schemas.microsoft.com/office/drawing/2014/main" id="{550982E5-C2A6-46E8-2912-CF0CB4E53AD7}"/>
                  </a:ext>
                </a:extLst>
              </p:cNvPr>
              <p:cNvSpPr/>
              <p:nvPr/>
            </p:nvSpPr>
            <p:spPr>
              <a:xfrm>
                <a:off x="2388108" y="3730752"/>
                <a:ext cx="190195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633806"/>
                    </a:solidFill>
                  </a:rPr>
                  <a:t>Threat classification</a:t>
                </a:r>
                <a:endParaRPr lang="en-US" sz="1100" dirty="0"/>
              </a:p>
            </p:txBody>
          </p:sp>
          <p:sp>
            <p:nvSpPr>
              <p:cNvPr id="61" name="Text 55">
                <a:extLst>
                  <a:ext uri="{FF2B5EF4-FFF2-40B4-BE49-F238E27FC236}">
                    <a16:creationId xmlns:a16="http://schemas.microsoft.com/office/drawing/2014/main" id="{2694D47F-FC27-59BC-A0E1-86D40529EA69}"/>
                  </a:ext>
                </a:extLst>
              </p:cNvPr>
              <p:cNvSpPr/>
              <p:nvPr/>
            </p:nvSpPr>
            <p:spPr>
              <a:xfrm>
                <a:off x="2388108" y="3986784"/>
                <a:ext cx="1901952" cy="6035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050" dirty="0">
                    <a:solidFill>
                      <a:srgbClr val="444441"/>
                    </a:solidFill>
                  </a:rPr>
                  <a:t>Every finding rated Critical / High / Medium / Low and mapped to Security, Design, Operational or Governance risk.</a:t>
                </a:r>
                <a:endParaRPr lang="en-US" sz="1050" dirty="0"/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0AE0B0C-6639-BB0A-A652-3D103ABC7C0D}"/>
              </a:ext>
            </a:extLst>
          </p:cNvPr>
          <p:cNvGrpSpPr/>
          <p:nvPr/>
        </p:nvGrpSpPr>
        <p:grpSpPr>
          <a:xfrm>
            <a:off x="8837346" y="3816665"/>
            <a:ext cx="2958294" cy="1131269"/>
            <a:chOff x="7517892" y="3639312"/>
            <a:chExt cx="2734032" cy="1030893"/>
          </a:xfrm>
        </p:grpSpPr>
        <p:sp>
          <p:nvSpPr>
            <p:cNvPr id="68" name="Shape 62">
              <a:extLst>
                <a:ext uri="{FF2B5EF4-FFF2-40B4-BE49-F238E27FC236}">
                  <a16:creationId xmlns:a16="http://schemas.microsoft.com/office/drawing/2014/main" id="{B0B20914-E017-32B4-8105-44F63774175D}"/>
                </a:ext>
              </a:extLst>
            </p:cNvPr>
            <p:cNvSpPr/>
            <p:nvPr/>
          </p:nvSpPr>
          <p:spPr>
            <a:xfrm>
              <a:off x="7600164" y="3646077"/>
              <a:ext cx="2651760" cy="1024128"/>
            </a:xfrm>
            <a:prstGeom prst="rect">
              <a:avLst/>
            </a:prstGeom>
            <a:solidFill>
              <a:srgbClr val="E1F5EE"/>
            </a:solidFill>
            <a:ln w="9525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F2A6AE5-5D71-712E-FD85-7B1469BEB9C5}"/>
                </a:ext>
              </a:extLst>
            </p:cNvPr>
            <p:cNvGrpSpPr/>
            <p:nvPr/>
          </p:nvGrpSpPr>
          <p:grpSpPr>
            <a:xfrm>
              <a:off x="7517892" y="3639312"/>
              <a:ext cx="2586476" cy="1024128"/>
              <a:chOff x="7517892" y="3639312"/>
              <a:chExt cx="2586476" cy="1024128"/>
            </a:xfrm>
          </p:grpSpPr>
          <p:sp>
            <p:nvSpPr>
              <p:cNvPr id="69" name="Shape 63">
                <a:extLst>
                  <a:ext uri="{FF2B5EF4-FFF2-40B4-BE49-F238E27FC236}">
                    <a16:creationId xmlns:a16="http://schemas.microsoft.com/office/drawing/2014/main" id="{47B29A8C-B991-47DA-68FD-942ED9CC7C74}"/>
                  </a:ext>
                </a:extLst>
              </p:cNvPr>
              <p:cNvSpPr/>
              <p:nvPr/>
            </p:nvSpPr>
            <p:spPr>
              <a:xfrm>
                <a:off x="7517892" y="3639312"/>
                <a:ext cx="73152" cy="1024128"/>
              </a:xfrm>
              <a:prstGeom prst="rect">
                <a:avLst/>
              </a:prstGeom>
              <a:solidFill>
                <a:srgbClr val="0F6E56"/>
              </a:solidFill>
              <a:ln w="12700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95E3348C-C68D-8DDD-A7E6-3ADE056C23AA}"/>
                  </a:ext>
                </a:extLst>
              </p:cNvPr>
              <p:cNvGrpSpPr/>
              <p:nvPr/>
            </p:nvGrpSpPr>
            <p:grpSpPr>
              <a:xfrm>
                <a:off x="7708640" y="3705494"/>
                <a:ext cx="2395728" cy="859536"/>
                <a:chOff x="7682484" y="3730752"/>
                <a:chExt cx="2395728" cy="859536"/>
              </a:xfrm>
            </p:grpSpPr>
            <p:sp>
              <p:nvSpPr>
                <p:cNvPr id="70" name="Shape 64">
                  <a:extLst>
                    <a:ext uri="{FF2B5EF4-FFF2-40B4-BE49-F238E27FC236}">
                      <a16:creationId xmlns:a16="http://schemas.microsoft.com/office/drawing/2014/main" id="{823FC286-9451-1D2B-67E1-67DCB3BDF502}"/>
                    </a:ext>
                  </a:extLst>
                </p:cNvPr>
                <p:cNvSpPr/>
                <p:nvPr/>
              </p:nvSpPr>
              <p:spPr>
                <a:xfrm>
                  <a:off x="7682484" y="3803904"/>
                  <a:ext cx="420624" cy="420624"/>
                </a:xfrm>
                <a:prstGeom prst="ellipse">
                  <a:avLst/>
                </a:prstGeom>
                <a:solidFill>
                  <a:srgbClr val="0F6E56"/>
                </a:solidFill>
                <a:ln w="12700">
                  <a:solidFill>
                    <a:srgbClr val="0F6E56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US" dirty="0">
                      <a:solidFill>
                        <a:srgbClr val="FFFFFF"/>
                      </a:solidFill>
                    </a:rPr>
                    <a:t>≡</a:t>
                  </a:r>
                  <a:endParaRPr lang="en-US" dirty="0"/>
                </a:p>
              </p:txBody>
            </p:sp>
            <p:sp>
              <p:nvSpPr>
                <p:cNvPr id="72" name="Text 66">
                  <a:extLst>
                    <a:ext uri="{FF2B5EF4-FFF2-40B4-BE49-F238E27FC236}">
                      <a16:creationId xmlns:a16="http://schemas.microsoft.com/office/drawing/2014/main" id="{C2E814E3-69B1-7902-9AAD-C8DA5E0DC9C3}"/>
                    </a:ext>
                  </a:extLst>
                </p:cNvPr>
                <p:cNvSpPr/>
                <p:nvPr/>
              </p:nvSpPr>
              <p:spPr>
                <a:xfrm>
                  <a:off x="8176260" y="3730752"/>
                  <a:ext cx="1901952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04342C"/>
                      </a:solidFill>
                    </a:rPr>
                    <a:t>Benchmark alignment</a:t>
                  </a:r>
                  <a:endParaRPr lang="en-US" sz="1100" dirty="0"/>
                </a:p>
              </p:txBody>
            </p:sp>
            <p:sp>
              <p:nvSpPr>
                <p:cNvPr id="73" name="Text 67">
                  <a:extLst>
                    <a:ext uri="{FF2B5EF4-FFF2-40B4-BE49-F238E27FC236}">
                      <a16:creationId xmlns:a16="http://schemas.microsoft.com/office/drawing/2014/main" id="{5E6801C6-A4BC-24BC-C9AC-30A3086E9E5E}"/>
                    </a:ext>
                  </a:extLst>
                </p:cNvPr>
                <p:cNvSpPr/>
                <p:nvPr/>
              </p:nvSpPr>
              <p:spPr>
                <a:xfrm>
                  <a:off x="8176260" y="3986784"/>
                  <a:ext cx="1901952" cy="6035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444441"/>
                      </a:solidFill>
                    </a:rPr>
                    <a:t>Maps findings to OWASP API Top 10, OpenAPI best practices and ISO governance. Shows compliance % per standard.</a:t>
                  </a:r>
                  <a:endParaRPr lang="en-US" sz="1050" dirty="0"/>
                </a:p>
              </p:txBody>
            </p:sp>
          </p:grp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83F89EC-22A2-95FC-153C-29E20602F04F}"/>
              </a:ext>
            </a:extLst>
          </p:cNvPr>
          <p:cNvGrpSpPr/>
          <p:nvPr/>
        </p:nvGrpSpPr>
        <p:grpSpPr>
          <a:xfrm>
            <a:off x="1631721" y="5168085"/>
            <a:ext cx="2976927" cy="750454"/>
            <a:chOff x="1729740" y="4828032"/>
            <a:chExt cx="2788920" cy="530352"/>
          </a:xfrm>
        </p:grpSpPr>
        <p:sp>
          <p:nvSpPr>
            <p:cNvPr id="76" name="Shape 70">
              <a:extLst>
                <a:ext uri="{FF2B5EF4-FFF2-40B4-BE49-F238E27FC236}">
                  <a16:creationId xmlns:a16="http://schemas.microsoft.com/office/drawing/2014/main" id="{920C2482-614F-7827-06CC-87B04113178D}"/>
                </a:ext>
              </a:extLst>
            </p:cNvPr>
            <p:cNvSpPr/>
            <p:nvPr/>
          </p:nvSpPr>
          <p:spPr>
            <a:xfrm>
              <a:off x="1729740" y="4828032"/>
              <a:ext cx="2788920" cy="530352"/>
            </a:xfrm>
            <a:prstGeom prst="rect">
              <a:avLst/>
            </a:prstGeom>
            <a:solidFill>
              <a:srgbClr val="EEEDFE"/>
            </a:solidFill>
            <a:ln w="9525">
              <a:solidFill>
                <a:srgbClr val="7F77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71">
              <a:extLst>
                <a:ext uri="{FF2B5EF4-FFF2-40B4-BE49-F238E27FC236}">
                  <a16:creationId xmlns:a16="http://schemas.microsoft.com/office/drawing/2014/main" id="{3EBFB84E-6B90-57E5-2345-1318641A004D}"/>
                </a:ext>
              </a:extLst>
            </p:cNvPr>
            <p:cNvSpPr/>
            <p:nvPr/>
          </p:nvSpPr>
          <p:spPr>
            <a:xfrm>
              <a:off x="1848612" y="4919472"/>
              <a:ext cx="146304" cy="146304"/>
            </a:xfrm>
            <a:prstGeom prst="ellipse">
              <a:avLst/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 72">
              <a:extLst>
                <a:ext uri="{FF2B5EF4-FFF2-40B4-BE49-F238E27FC236}">
                  <a16:creationId xmlns:a16="http://schemas.microsoft.com/office/drawing/2014/main" id="{A66CF76E-2C62-3125-3D22-C883BB54E6B4}"/>
                </a:ext>
              </a:extLst>
            </p:cNvPr>
            <p:cNvSpPr/>
            <p:nvPr/>
          </p:nvSpPr>
          <p:spPr>
            <a:xfrm>
              <a:off x="2049780" y="4837176"/>
              <a:ext cx="2423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dirty="0">
                  <a:solidFill>
                    <a:srgbClr val="534AB7"/>
                  </a:solidFill>
                </a:rPr>
                <a:t>API developers &amp; architects</a:t>
              </a:r>
              <a:endParaRPr lang="en-US" sz="1100" dirty="0"/>
            </a:p>
          </p:txBody>
        </p:sp>
        <p:sp>
          <p:nvSpPr>
            <p:cNvPr id="79" name="Text 73">
              <a:extLst>
                <a:ext uri="{FF2B5EF4-FFF2-40B4-BE49-F238E27FC236}">
                  <a16:creationId xmlns:a16="http://schemas.microsoft.com/office/drawing/2014/main" id="{6910E3D0-5353-3588-7BD5-1DAF8AD29971}"/>
                </a:ext>
              </a:extLst>
            </p:cNvPr>
            <p:cNvSpPr/>
            <p:nvPr/>
          </p:nvSpPr>
          <p:spPr>
            <a:xfrm>
              <a:off x="2049780" y="5038344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50" dirty="0">
                  <a:solidFill>
                    <a:srgbClr val="444441"/>
                  </a:solidFill>
                </a:rPr>
                <a:t>Get instant spec feedback and fix-ready YAML before code ships to production</a:t>
              </a:r>
              <a:endParaRPr lang="en-US" sz="1050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28D15B2-CBA5-1BF8-83F8-6A1F186555CB}"/>
              </a:ext>
            </a:extLst>
          </p:cNvPr>
          <p:cNvGrpSpPr/>
          <p:nvPr/>
        </p:nvGrpSpPr>
        <p:grpSpPr>
          <a:xfrm>
            <a:off x="4970079" y="5182269"/>
            <a:ext cx="3145220" cy="746184"/>
            <a:chOff x="4701540" y="4828032"/>
            <a:chExt cx="2788920" cy="530352"/>
          </a:xfrm>
        </p:grpSpPr>
        <p:sp>
          <p:nvSpPr>
            <p:cNvPr id="80" name="Shape 74">
              <a:extLst>
                <a:ext uri="{FF2B5EF4-FFF2-40B4-BE49-F238E27FC236}">
                  <a16:creationId xmlns:a16="http://schemas.microsoft.com/office/drawing/2014/main" id="{37865A66-F188-0855-167D-60AE12767ABC}"/>
                </a:ext>
              </a:extLst>
            </p:cNvPr>
            <p:cNvSpPr/>
            <p:nvPr/>
          </p:nvSpPr>
          <p:spPr>
            <a:xfrm>
              <a:off x="4701540" y="4828032"/>
              <a:ext cx="2788920" cy="530352"/>
            </a:xfrm>
            <a:prstGeom prst="rect">
              <a:avLst/>
            </a:prstGeom>
            <a:solidFill>
              <a:srgbClr val="E1F5EE"/>
            </a:solidFill>
            <a:ln w="9525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75">
              <a:extLst>
                <a:ext uri="{FF2B5EF4-FFF2-40B4-BE49-F238E27FC236}">
                  <a16:creationId xmlns:a16="http://schemas.microsoft.com/office/drawing/2014/main" id="{1FF33CAF-E9E1-B7F3-D322-1675526E419D}"/>
                </a:ext>
              </a:extLst>
            </p:cNvPr>
            <p:cNvSpPr/>
            <p:nvPr/>
          </p:nvSpPr>
          <p:spPr>
            <a:xfrm>
              <a:off x="4820412" y="4919472"/>
              <a:ext cx="146304" cy="146304"/>
            </a:xfrm>
            <a:prstGeom prst="ellipse">
              <a:avLst/>
            </a:prstGeom>
            <a:solidFill>
              <a:srgbClr val="0F6E56"/>
            </a:solidFill>
            <a:ln w="1270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76">
              <a:extLst>
                <a:ext uri="{FF2B5EF4-FFF2-40B4-BE49-F238E27FC236}">
                  <a16:creationId xmlns:a16="http://schemas.microsoft.com/office/drawing/2014/main" id="{441966EA-9EC5-4F55-1173-58B4FDD6FBE7}"/>
                </a:ext>
              </a:extLst>
            </p:cNvPr>
            <p:cNvSpPr/>
            <p:nvPr/>
          </p:nvSpPr>
          <p:spPr>
            <a:xfrm>
              <a:off x="5021580" y="4837176"/>
              <a:ext cx="2423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dirty="0">
                  <a:solidFill>
                    <a:srgbClr val="0F6E56"/>
                  </a:solidFill>
                </a:rPr>
                <a:t>Security &amp; governance teams</a:t>
              </a:r>
              <a:endParaRPr lang="en-US" sz="1100" dirty="0"/>
            </a:p>
          </p:txBody>
        </p:sp>
        <p:sp>
          <p:nvSpPr>
            <p:cNvPr id="83" name="Text 77">
              <a:extLst>
                <a:ext uri="{FF2B5EF4-FFF2-40B4-BE49-F238E27FC236}">
                  <a16:creationId xmlns:a16="http://schemas.microsoft.com/office/drawing/2014/main" id="{33928623-B706-F278-E3C8-71791EB1BA5A}"/>
                </a:ext>
              </a:extLst>
            </p:cNvPr>
            <p:cNvSpPr/>
            <p:nvPr/>
          </p:nvSpPr>
          <p:spPr>
            <a:xfrm>
              <a:off x="5021580" y="5038344"/>
              <a:ext cx="24231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50" dirty="0">
                  <a:solidFill>
                    <a:srgbClr val="444441"/>
                  </a:solidFill>
                </a:rPr>
                <a:t>Enforce OWASP, OpenAPI and ISO standards consistently across all API teams</a:t>
              </a:r>
              <a:endParaRPr lang="en-US" sz="1050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9AF6E30-5325-3680-D731-FC8F37A9BDAB}"/>
              </a:ext>
            </a:extLst>
          </p:cNvPr>
          <p:cNvGrpSpPr/>
          <p:nvPr/>
        </p:nvGrpSpPr>
        <p:grpSpPr>
          <a:xfrm>
            <a:off x="8426669" y="5182269"/>
            <a:ext cx="3578760" cy="746184"/>
            <a:chOff x="7673340" y="4828032"/>
            <a:chExt cx="2788920" cy="530352"/>
          </a:xfrm>
        </p:grpSpPr>
        <p:sp>
          <p:nvSpPr>
            <p:cNvPr id="84" name="Shape 78">
              <a:extLst>
                <a:ext uri="{FF2B5EF4-FFF2-40B4-BE49-F238E27FC236}">
                  <a16:creationId xmlns:a16="http://schemas.microsoft.com/office/drawing/2014/main" id="{109B1C3A-3975-F04F-5AC8-176178B3415F}"/>
                </a:ext>
              </a:extLst>
            </p:cNvPr>
            <p:cNvSpPr/>
            <p:nvPr/>
          </p:nvSpPr>
          <p:spPr>
            <a:xfrm>
              <a:off x="7673340" y="4828032"/>
              <a:ext cx="2788920" cy="530352"/>
            </a:xfrm>
            <a:prstGeom prst="rect">
              <a:avLst/>
            </a:prstGeom>
            <a:solidFill>
              <a:srgbClr val="FAECE7"/>
            </a:solidFill>
            <a:ln w="9525">
              <a:solidFill>
                <a:srgbClr val="D85A3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A352F7D-80FF-0CCD-9653-655CCBDAAB0D}"/>
                </a:ext>
              </a:extLst>
            </p:cNvPr>
            <p:cNvGrpSpPr/>
            <p:nvPr/>
          </p:nvGrpSpPr>
          <p:grpSpPr>
            <a:xfrm>
              <a:off x="7792212" y="4837176"/>
              <a:ext cx="2624328" cy="493776"/>
              <a:chOff x="7792212" y="4837176"/>
              <a:chExt cx="2624328" cy="493776"/>
            </a:xfrm>
          </p:grpSpPr>
          <p:sp>
            <p:nvSpPr>
              <p:cNvPr id="85" name="Shape 79">
                <a:extLst>
                  <a:ext uri="{FF2B5EF4-FFF2-40B4-BE49-F238E27FC236}">
                    <a16:creationId xmlns:a16="http://schemas.microsoft.com/office/drawing/2014/main" id="{C4B943AC-2B3D-CB2E-2D4E-A42AC0FFCB6C}"/>
                  </a:ext>
                </a:extLst>
              </p:cNvPr>
              <p:cNvSpPr/>
              <p:nvPr/>
            </p:nvSpPr>
            <p:spPr>
              <a:xfrm>
                <a:off x="7792212" y="4919472"/>
                <a:ext cx="146304" cy="146304"/>
              </a:xfrm>
              <a:prstGeom prst="ellipse">
                <a:avLst/>
              </a:prstGeom>
              <a:solidFill>
                <a:srgbClr val="993C1D"/>
              </a:solidFill>
              <a:ln w="1270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Text 80">
                <a:extLst>
                  <a:ext uri="{FF2B5EF4-FFF2-40B4-BE49-F238E27FC236}">
                    <a16:creationId xmlns:a16="http://schemas.microsoft.com/office/drawing/2014/main" id="{FE8901A4-F58D-C7BD-004A-0578B072CB12}"/>
                  </a:ext>
                </a:extLst>
              </p:cNvPr>
              <p:cNvSpPr/>
              <p:nvPr/>
            </p:nvSpPr>
            <p:spPr>
              <a:xfrm>
                <a:off x="7993380" y="4837176"/>
                <a:ext cx="242316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993C1D"/>
                    </a:solidFill>
                  </a:rPr>
                  <a:t>Enterprise architects</a:t>
                </a:r>
                <a:endParaRPr lang="en-US" sz="1100" dirty="0"/>
              </a:p>
            </p:txBody>
          </p:sp>
          <p:sp>
            <p:nvSpPr>
              <p:cNvPr id="87" name="Text 81">
                <a:extLst>
                  <a:ext uri="{FF2B5EF4-FFF2-40B4-BE49-F238E27FC236}">
                    <a16:creationId xmlns:a16="http://schemas.microsoft.com/office/drawing/2014/main" id="{3EF6366C-8E63-1D28-52CB-49EEEE6315B7}"/>
                  </a:ext>
                </a:extLst>
              </p:cNvPr>
              <p:cNvSpPr/>
              <p:nvPr/>
            </p:nvSpPr>
            <p:spPr>
              <a:xfrm>
                <a:off x="7993380" y="5038344"/>
                <a:ext cx="24231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050" dirty="0">
                    <a:solidFill>
                      <a:srgbClr val="444441"/>
                    </a:solidFill>
                  </a:rPr>
                  <a:t>Track API health scores as a KPI and drive structured modernisation programmes</a:t>
                </a:r>
                <a:endParaRPr lang="en-US" sz="1050" dirty="0"/>
              </a:p>
            </p:txBody>
          </p:sp>
        </p:grpSp>
      </p:grpSp>
      <p:sp>
        <p:nvSpPr>
          <p:cNvPr id="88" name="Shape 82">
            <a:extLst>
              <a:ext uri="{FF2B5EF4-FFF2-40B4-BE49-F238E27FC236}">
                <a16:creationId xmlns:a16="http://schemas.microsoft.com/office/drawing/2014/main" id="{D9B8FAA1-3A58-A889-C12D-1827222086B4}"/>
              </a:ext>
            </a:extLst>
          </p:cNvPr>
          <p:cNvSpPr/>
          <p:nvPr/>
        </p:nvSpPr>
        <p:spPr>
          <a:xfrm>
            <a:off x="118241" y="5997649"/>
            <a:ext cx="11989676" cy="33481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3">
            <a:extLst>
              <a:ext uri="{FF2B5EF4-FFF2-40B4-BE49-F238E27FC236}">
                <a16:creationId xmlns:a16="http://schemas.microsoft.com/office/drawing/2014/main" id="{5264C4FB-7708-1074-8BBF-26D8E4C132AE}"/>
              </a:ext>
            </a:extLst>
          </p:cNvPr>
          <p:cNvSpPr/>
          <p:nvPr/>
        </p:nvSpPr>
        <p:spPr>
          <a:xfrm>
            <a:off x="1672842" y="6013387"/>
            <a:ext cx="8686800" cy="289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MVP success criterion: accept a real OpenAPI spec → classify threats → score maturity → generate actionable fixes → demonstrate the agentic loop.</a:t>
            </a:r>
            <a:endParaRPr lang="en-US" sz="11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4DD236E-1192-3CCC-51C0-0E85863F9D8D}"/>
              </a:ext>
            </a:extLst>
          </p:cNvPr>
          <p:cNvGrpSpPr/>
          <p:nvPr/>
        </p:nvGrpSpPr>
        <p:grpSpPr>
          <a:xfrm>
            <a:off x="160375" y="1210378"/>
            <a:ext cx="11870944" cy="1189414"/>
            <a:chOff x="-2522220" y="1213943"/>
            <a:chExt cx="8686800" cy="914400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F64B064C-8404-683B-E5B6-E008A3D2D27A}"/>
                </a:ext>
              </a:extLst>
            </p:cNvPr>
            <p:cNvGrpSpPr/>
            <p:nvPr/>
          </p:nvGrpSpPr>
          <p:grpSpPr>
            <a:xfrm>
              <a:off x="-2522220" y="1213943"/>
              <a:ext cx="8686800" cy="914400"/>
              <a:chOff x="1729740" y="1225296"/>
              <a:chExt cx="8686800" cy="914400"/>
            </a:xfrm>
          </p:grpSpPr>
          <p:sp>
            <p:nvSpPr>
              <p:cNvPr id="12" name="Shape 5">
                <a:extLst>
                  <a:ext uri="{FF2B5EF4-FFF2-40B4-BE49-F238E27FC236}">
                    <a16:creationId xmlns:a16="http://schemas.microsoft.com/office/drawing/2014/main" id="{03B25FD8-EBAE-D0F1-4C0F-428D452557F6}"/>
                  </a:ext>
                </a:extLst>
              </p:cNvPr>
              <p:cNvSpPr/>
              <p:nvPr/>
            </p:nvSpPr>
            <p:spPr>
              <a:xfrm>
                <a:off x="1729740" y="1225296"/>
                <a:ext cx="8686800" cy="914400"/>
              </a:xfrm>
              <a:prstGeom prst="rect">
                <a:avLst/>
              </a:prstGeom>
              <a:solidFill>
                <a:srgbClr val="EEEDFE"/>
              </a:solidFill>
              <a:ln w="9525">
                <a:solidFill>
                  <a:srgbClr val="7F77D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8">
                <a:extLst>
                  <a:ext uri="{FF2B5EF4-FFF2-40B4-BE49-F238E27FC236}">
                    <a16:creationId xmlns:a16="http://schemas.microsoft.com/office/drawing/2014/main" id="{4DB2AD6B-8F79-E805-FF7C-90008997603C}"/>
                  </a:ext>
                </a:extLst>
              </p:cNvPr>
              <p:cNvSpPr/>
              <p:nvPr/>
            </p:nvSpPr>
            <p:spPr>
              <a:xfrm>
                <a:off x="1866900" y="1280160"/>
                <a:ext cx="411480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26215C"/>
                    </a:solidFill>
                  </a:rPr>
                  <a:t>What SpecSentinel MVP delivers</a:t>
                </a:r>
                <a:endParaRPr lang="en-US" sz="1600" dirty="0"/>
              </a:p>
            </p:txBody>
          </p:sp>
          <p:sp>
            <p:nvSpPr>
              <p:cNvPr id="14" name="Text 9">
                <a:extLst>
                  <a:ext uri="{FF2B5EF4-FFF2-40B4-BE49-F238E27FC236}">
                    <a16:creationId xmlns:a16="http://schemas.microsoft.com/office/drawing/2014/main" id="{67D14F53-CA44-0037-8553-6189C360FC7D}"/>
                  </a:ext>
                </a:extLst>
              </p:cNvPr>
              <p:cNvSpPr/>
              <p:nvPr/>
            </p:nvSpPr>
            <p:spPr>
              <a:xfrm>
                <a:off x="1866900" y="1508760"/>
                <a:ext cx="41605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050" dirty="0">
                    <a:solidFill>
                      <a:srgbClr val="534AB7"/>
                    </a:solidFill>
                  </a:rPr>
                  <a:t>An autonomous agentic bot that ingests OpenAPI 3.x specifications (YAML/JSON) and executes a closed-loop governance cycle — Plan → Analyze → Categorize → Recommend → Score → Improve — producing a structured API Health Report with zero manual effort.</a:t>
                </a:r>
                <a:endParaRPr lang="en-US" sz="1050" dirty="0"/>
              </a:p>
            </p:txBody>
          </p:sp>
          <p:sp>
            <p:nvSpPr>
              <p:cNvPr id="15" name="Shape 10">
                <a:extLst>
                  <a:ext uri="{FF2B5EF4-FFF2-40B4-BE49-F238E27FC236}">
                    <a16:creationId xmlns:a16="http://schemas.microsoft.com/office/drawing/2014/main" id="{879820BF-B568-AFAD-71AD-14DF6EE42D61}"/>
                  </a:ext>
                </a:extLst>
              </p:cNvPr>
              <p:cNvSpPr/>
              <p:nvPr/>
            </p:nvSpPr>
            <p:spPr>
              <a:xfrm>
                <a:off x="6164580" y="1280160"/>
                <a:ext cx="0" cy="749808"/>
              </a:xfrm>
              <a:prstGeom prst="line">
                <a:avLst/>
              </a:prstGeom>
              <a:noFill/>
              <a:ln w="9525">
                <a:solidFill>
                  <a:srgbClr val="AFA9EC"/>
                </a:solidFill>
                <a:prstDash val="dash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Shape 11">
                <a:extLst>
                  <a:ext uri="{FF2B5EF4-FFF2-40B4-BE49-F238E27FC236}">
                    <a16:creationId xmlns:a16="http://schemas.microsoft.com/office/drawing/2014/main" id="{48FF263C-250E-3A73-0F29-B6308BF1BB57}"/>
                  </a:ext>
                </a:extLst>
              </p:cNvPr>
              <p:cNvSpPr/>
              <p:nvPr/>
            </p:nvSpPr>
            <p:spPr>
              <a:xfrm>
                <a:off x="6261399" y="1347292"/>
                <a:ext cx="432799" cy="237744"/>
              </a:xfrm>
              <a:prstGeom prst="roundRect">
                <a:avLst>
                  <a:gd name="adj" fmla="val 50000"/>
                </a:avLst>
              </a:prstGeom>
              <a:solidFill>
                <a:srgbClr val="534AB7"/>
              </a:solidFill>
              <a:ln w="12700">
                <a:solidFill>
                  <a:srgbClr val="534AB7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</a:rPr>
                  <a:t>Plan</a:t>
                </a:r>
                <a:endParaRPr lang="en-US" b="1" dirty="0"/>
              </a:p>
            </p:txBody>
          </p:sp>
          <p:sp>
            <p:nvSpPr>
              <p:cNvPr id="17" name="Text 12">
                <a:extLst>
                  <a:ext uri="{FF2B5EF4-FFF2-40B4-BE49-F238E27FC236}">
                    <a16:creationId xmlns:a16="http://schemas.microsoft.com/office/drawing/2014/main" id="{1E709C13-EC99-33A8-BBB4-B01CF8BA4813}"/>
                  </a:ext>
                </a:extLst>
              </p:cNvPr>
              <p:cNvSpPr/>
              <p:nvPr/>
            </p:nvSpPr>
            <p:spPr>
              <a:xfrm>
                <a:off x="6347460" y="1344168"/>
                <a:ext cx="603504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en-US" sz="1100" dirty="0"/>
              </a:p>
            </p:txBody>
          </p:sp>
          <p:sp>
            <p:nvSpPr>
              <p:cNvPr id="19" name="Shape 14">
                <a:extLst>
                  <a:ext uri="{FF2B5EF4-FFF2-40B4-BE49-F238E27FC236}">
                    <a16:creationId xmlns:a16="http://schemas.microsoft.com/office/drawing/2014/main" id="{B413DF8E-6283-64F7-27E1-B5232E44FE37}"/>
                  </a:ext>
                </a:extLst>
              </p:cNvPr>
              <p:cNvSpPr/>
              <p:nvPr/>
            </p:nvSpPr>
            <p:spPr>
              <a:xfrm>
                <a:off x="6825036" y="1344168"/>
                <a:ext cx="521298" cy="237744"/>
              </a:xfrm>
              <a:prstGeom prst="roundRect">
                <a:avLst>
                  <a:gd name="adj" fmla="val 50000"/>
                </a:avLst>
              </a:prstGeom>
              <a:solidFill>
                <a:srgbClr val="3C3489"/>
              </a:solidFill>
              <a:ln w="12700">
                <a:solidFill>
                  <a:srgbClr val="3C3489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</a:rPr>
                  <a:t>Analyze</a:t>
                </a:r>
                <a:endParaRPr lang="en-US" sz="1050" b="1" dirty="0"/>
              </a:p>
            </p:txBody>
          </p:sp>
          <p:sp>
            <p:nvSpPr>
              <p:cNvPr id="22" name="Shape 17">
                <a:extLst>
                  <a:ext uri="{FF2B5EF4-FFF2-40B4-BE49-F238E27FC236}">
                    <a16:creationId xmlns:a16="http://schemas.microsoft.com/office/drawing/2014/main" id="{5FF3595F-CF1B-C314-E25B-3BC986D9D9EA}"/>
                  </a:ext>
                </a:extLst>
              </p:cNvPr>
              <p:cNvSpPr/>
              <p:nvPr/>
            </p:nvSpPr>
            <p:spPr>
              <a:xfrm>
                <a:off x="7495215" y="1344168"/>
                <a:ext cx="626776" cy="237744"/>
              </a:xfrm>
              <a:prstGeom prst="roundRect">
                <a:avLst>
                  <a:gd name="adj" fmla="val 50000"/>
                </a:avLst>
              </a:prstGeom>
              <a:solidFill>
                <a:srgbClr val="534AB7"/>
              </a:solidFill>
              <a:ln w="12700">
                <a:solidFill>
                  <a:srgbClr val="534AB7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sz="1050" b="1" dirty="0">
                    <a:solidFill>
                      <a:schemeClr val="bg1"/>
                    </a:solidFill>
                  </a:rPr>
                  <a:t>Categorize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Shape 20">
                <a:extLst>
                  <a:ext uri="{FF2B5EF4-FFF2-40B4-BE49-F238E27FC236}">
                    <a16:creationId xmlns:a16="http://schemas.microsoft.com/office/drawing/2014/main" id="{2BD6B113-2A81-AC9A-6D8F-024545B3E179}"/>
                  </a:ext>
                </a:extLst>
              </p:cNvPr>
              <p:cNvSpPr/>
              <p:nvPr/>
            </p:nvSpPr>
            <p:spPr>
              <a:xfrm>
                <a:off x="8274791" y="1344168"/>
                <a:ext cx="731664" cy="237744"/>
              </a:xfrm>
              <a:prstGeom prst="roundRect">
                <a:avLst>
                  <a:gd name="adj" fmla="val 50000"/>
                </a:avLst>
              </a:prstGeom>
              <a:solidFill>
                <a:srgbClr val="3C3489"/>
              </a:solidFill>
              <a:ln w="12700">
                <a:solidFill>
                  <a:srgbClr val="3C3489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050" b="1" dirty="0">
                    <a:solidFill>
                      <a:schemeClr val="bg1"/>
                    </a:solidFill>
                  </a:rPr>
                  <a:t>Recommend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Shape 23">
                <a:extLst>
                  <a:ext uri="{FF2B5EF4-FFF2-40B4-BE49-F238E27FC236}">
                    <a16:creationId xmlns:a16="http://schemas.microsoft.com/office/drawing/2014/main" id="{AED5EE85-E7FC-9FA8-7571-31661A30F6C7}"/>
                  </a:ext>
                </a:extLst>
              </p:cNvPr>
              <p:cNvSpPr/>
              <p:nvPr/>
            </p:nvSpPr>
            <p:spPr>
              <a:xfrm>
                <a:off x="9126919" y="1344168"/>
                <a:ext cx="471473" cy="237744"/>
              </a:xfrm>
              <a:prstGeom prst="roundRect">
                <a:avLst>
                  <a:gd name="adj" fmla="val 50000"/>
                </a:avLst>
              </a:prstGeom>
              <a:solidFill>
                <a:srgbClr val="534AB7"/>
              </a:solidFill>
              <a:ln w="12700">
                <a:solidFill>
                  <a:srgbClr val="534AB7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sz="1050" b="1" dirty="0">
                    <a:solidFill>
                      <a:schemeClr val="bg1"/>
                    </a:solidFill>
                  </a:rPr>
                  <a:t>Score</a:t>
                </a:r>
              </a:p>
            </p:txBody>
          </p:sp>
          <p:sp>
            <p:nvSpPr>
              <p:cNvPr id="31" name="Shape 26">
                <a:extLst>
                  <a:ext uri="{FF2B5EF4-FFF2-40B4-BE49-F238E27FC236}">
                    <a16:creationId xmlns:a16="http://schemas.microsoft.com/office/drawing/2014/main" id="{CD2BC7F1-F7EC-6DBB-66C5-26F9788DAB60}"/>
                  </a:ext>
                </a:extLst>
              </p:cNvPr>
              <p:cNvSpPr/>
              <p:nvPr/>
            </p:nvSpPr>
            <p:spPr>
              <a:xfrm>
                <a:off x="9761230" y="1344168"/>
                <a:ext cx="603504" cy="237744"/>
              </a:xfrm>
              <a:prstGeom prst="roundRect">
                <a:avLst>
                  <a:gd name="adj" fmla="val 50000"/>
                </a:avLst>
              </a:prstGeom>
              <a:solidFill>
                <a:srgbClr val="3C3489"/>
              </a:solidFill>
              <a:ln w="12700">
                <a:solidFill>
                  <a:srgbClr val="3C3489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sz="1050" b="1" dirty="0">
                    <a:solidFill>
                      <a:schemeClr val="bg1"/>
                    </a:solidFill>
                  </a:rPr>
                  <a:t>Improve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 28">
                <a:extLst>
                  <a:ext uri="{FF2B5EF4-FFF2-40B4-BE49-F238E27FC236}">
                    <a16:creationId xmlns:a16="http://schemas.microsoft.com/office/drawing/2014/main" id="{FF29053B-0349-60DF-D14E-D4568E872223}"/>
                  </a:ext>
                </a:extLst>
              </p:cNvPr>
              <p:cNvSpPr/>
              <p:nvPr/>
            </p:nvSpPr>
            <p:spPr>
              <a:xfrm>
                <a:off x="6347460" y="1691265"/>
                <a:ext cx="39776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3C3489"/>
                    </a:solidFill>
                  </a:rPr>
                  <a:t>Autonomous closed-loop — no manual intervention required</a:t>
                </a:r>
                <a:endParaRPr lang="en-US" sz="1000" dirty="0"/>
              </a:p>
            </p:txBody>
          </p:sp>
          <p:sp>
            <p:nvSpPr>
              <p:cNvPr id="34" name="Text 29">
                <a:extLst>
                  <a:ext uri="{FF2B5EF4-FFF2-40B4-BE49-F238E27FC236}">
                    <a16:creationId xmlns:a16="http://schemas.microsoft.com/office/drawing/2014/main" id="{275C75F6-8E2C-BE0E-D338-FB5FB9DC1F6C}"/>
                  </a:ext>
                </a:extLst>
              </p:cNvPr>
              <p:cNvSpPr/>
              <p:nvPr/>
            </p:nvSpPr>
            <p:spPr>
              <a:xfrm>
                <a:off x="6347460" y="1866978"/>
                <a:ext cx="397764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F77DD"/>
                    </a:solidFill>
                  </a:rPr>
                  <a:t>Input: OpenAPI 3.x YAML / JSON  ·  Output: Structured API Health Report + JSON export</a:t>
                </a:r>
                <a:endParaRPr lang="en-US" sz="1000" dirty="0"/>
              </a:p>
            </p:txBody>
          </p:sp>
        </p:grpSp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8941EF85-291D-E1D4-5C3F-FFFA0736E417}"/>
                </a:ext>
              </a:extLst>
            </p:cNvPr>
            <p:cNvSpPr/>
            <p:nvPr/>
          </p:nvSpPr>
          <p:spPr>
            <a:xfrm>
              <a:off x="4709160" y="1346099"/>
              <a:ext cx="60350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800" dirty="0"/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12B664F7-7BAF-F60F-8B4F-4663B75C0615}"/>
                </a:ext>
              </a:extLst>
            </p:cNvPr>
            <p:cNvSpPr/>
            <p:nvPr/>
          </p:nvSpPr>
          <p:spPr>
            <a:xfrm>
              <a:off x="2735580" y="1344702"/>
              <a:ext cx="60350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800" dirty="0"/>
            </a:p>
          </p:txBody>
        </p:sp>
      </p:grp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46FE9F99-CFEC-F037-B58F-77B2C5F41E52}"/>
              </a:ext>
            </a:extLst>
          </p:cNvPr>
          <p:cNvSpPr/>
          <p:nvPr/>
        </p:nvSpPr>
        <p:spPr>
          <a:xfrm>
            <a:off x="6985176" y="1428586"/>
            <a:ext cx="101841" cy="227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1A0664BC-D10B-41F9-AD2A-EAD85501339D}"/>
              </a:ext>
            </a:extLst>
          </p:cNvPr>
          <p:cNvSpPr/>
          <p:nvPr/>
        </p:nvSpPr>
        <p:spPr>
          <a:xfrm>
            <a:off x="7882492" y="1435160"/>
            <a:ext cx="101841" cy="227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FD5DA367-74DA-BF81-AC20-2FB64E8CD56B}"/>
              </a:ext>
            </a:extLst>
          </p:cNvPr>
          <p:cNvSpPr/>
          <p:nvPr/>
        </p:nvSpPr>
        <p:spPr>
          <a:xfrm>
            <a:off x="8937456" y="1425959"/>
            <a:ext cx="101841" cy="227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53A1E101-C533-9788-C4E3-271A69F1D416}"/>
              </a:ext>
            </a:extLst>
          </p:cNvPr>
          <p:cNvSpPr/>
          <p:nvPr/>
        </p:nvSpPr>
        <p:spPr>
          <a:xfrm>
            <a:off x="10150083" y="1408878"/>
            <a:ext cx="101841" cy="227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642F9F72-9479-2F19-20C5-7912384C92DD}"/>
              </a:ext>
            </a:extLst>
          </p:cNvPr>
          <p:cNvSpPr/>
          <p:nvPr/>
        </p:nvSpPr>
        <p:spPr>
          <a:xfrm>
            <a:off x="10968571" y="1435152"/>
            <a:ext cx="101841" cy="227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8BF183E-5F04-CEFD-AC63-45A155A07685}"/>
              </a:ext>
            </a:extLst>
          </p:cNvPr>
          <p:cNvGrpSpPr/>
          <p:nvPr/>
        </p:nvGrpSpPr>
        <p:grpSpPr>
          <a:xfrm>
            <a:off x="5331006" y="3818942"/>
            <a:ext cx="3361208" cy="1123844"/>
            <a:chOff x="3430257" y="3665268"/>
            <a:chExt cx="2664000" cy="1118177"/>
          </a:xfrm>
        </p:grpSpPr>
        <p:sp>
          <p:nvSpPr>
            <p:cNvPr id="107" name="Shape 50">
              <a:extLst>
                <a:ext uri="{FF2B5EF4-FFF2-40B4-BE49-F238E27FC236}">
                  <a16:creationId xmlns:a16="http://schemas.microsoft.com/office/drawing/2014/main" id="{2ADED6BC-60B8-0652-7E22-8DECE6DFADE4}"/>
                </a:ext>
              </a:extLst>
            </p:cNvPr>
            <p:cNvSpPr/>
            <p:nvPr/>
          </p:nvSpPr>
          <p:spPr>
            <a:xfrm>
              <a:off x="3442497" y="3665268"/>
              <a:ext cx="2651760" cy="11181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9E48B-8578-5BC1-3A59-EFD913C36231}"/>
                </a:ext>
              </a:extLst>
            </p:cNvPr>
            <p:cNvGrpSpPr/>
            <p:nvPr/>
          </p:nvGrpSpPr>
          <p:grpSpPr>
            <a:xfrm>
              <a:off x="3430257" y="3665268"/>
              <a:ext cx="2560320" cy="1112240"/>
              <a:chOff x="3638860" y="4264174"/>
              <a:chExt cx="2560320" cy="1024128"/>
            </a:xfrm>
          </p:grpSpPr>
          <p:sp>
            <p:nvSpPr>
              <p:cNvPr id="64" name="Shape 58">
                <a:extLst>
                  <a:ext uri="{FF2B5EF4-FFF2-40B4-BE49-F238E27FC236}">
                    <a16:creationId xmlns:a16="http://schemas.microsoft.com/office/drawing/2014/main" id="{38F7054C-6795-DC6B-C332-120399045FA5}"/>
                  </a:ext>
                </a:extLst>
              </p:cNvPr>
              <p:cNvSpPr/>
              <p:nvPr/>
            </p:nvSpPr>
            <p:spPr>
              <a:xfrm>
                <a:off x="3801407" y="4413163"/>
                <a:ext cx="420624" cy="420624"/>
              </a:xfrm>
              <a:prstGeom prst="ellipse">
                <a:avLst/>
              </a:prstGeom>
              <a:solidFill>
                <a:srgbClr val="D85A30"/>
              </a:solidFill>
              <a:ln w="12700">
                <a:solidFill>
                  <a:srgbClr val="D85A30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92F4536F-B104-9964-6C74-51966BA248D0}"/>
                  </a:ext>
                </a:extLst>
              </p:cNvPr>
              <p:cNvGrpSpPr/>
              <p:nvPr/>
            </p:nvGrpSpPr>
            <p:grpSpPr>
              <a:xfrm>
                <a:off x="3638860" y="4264174"/>
                <a:ext cx="2560320" cy="1024128"/>
                <a:chOff x="4628388" y="4218690"/>
                <a:chExt cx="2560320" cy="1024128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BE73A7CC-20D7-F56C-744A-9D63BAFC18B2}"/>
                    </a:ext>
                  </a:extLst>
                </p:cNvPr>
                <p:cNvGrpSpPr/>
                <p:nvPr/>
              </p:nvGrpSpPr>
              <p:grpSpPr>
                <a:xfrm>
                  <a:off x="4793411" y="4321959"/>
                  <a:ext cx="2395297" cy="859536"/>
                  <a:chOff x="4793411" y="3730752"/>
                  <a:chExt cx="2395297" cy="859536"/>
                </a:xfrm>
              </p:grpSpPr>
              <p:sp>
                <p:nvSpPr>
                  <p:cNvPr id="66" name="Text 60">
                    <a:extLst>
                      <a:ext uri="{FF2B5EF4-FFF2-40B4-BE49-F238E27FC236}">
                        <a16:creationId xmlns:a16="http://schemas.microsoft.com/office/drawing/2014/main" id="{351DD7FB-B0B7-86F1-702C-188E05FE0DEF}"/>
                      </a:ext>
                    </a:extLst>
                  </p:cNvPr>
                  <p:cNvSpPr/>
                  <p:nvPr/>
                </p:nvSpPr>
                <p:spPr>
                  <a:xfrm>
                    <a:off x="5286756" y="3730752"/>
                    <a:ext cx="1901952" cy="25603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>
                      <a:buNone/>
                    </a:pPr>
                    <a:r>
                      <a:rPr lang="en-US" sz="1100" b="1" dirty="0">
                        <a:solidFill>
                          <a:srgbClr val="712B13"/>
                        </a:solidFill>
                      </a:rPr>
                      <a:t>Fix recommendations</a:t>
                    </a:r>
                    <a:endParaRPr lang="en-US" sz="1100" dirty="0"/>
                  </a:p>
                </p:txBody>
              </p:sp>
              <p:sp>
                <p:nvSpPr>
                  <p:cNvPr id="67" name="Text 61">
                    <a:extLst>
                      <a:ext uri="{FF2B5EF4-FFF2-40B4-BE49-F238E27FC236}">
                        <a16:creationId xmlns:a16="http://schemas.microsoft.com/office/drawing/2014/main" id="{8802B192-E67D-7C2D-B8B2-7D59B978520F}"/>
                      </a:ext>
                    </a:extLst>
                  </p:cNvPr>
                  <p:cNvSpPr/>
                  <p:nvPr/>
                </p:nvSpPr>
                <p:spPr>
                  <a:xfrm>
                    <a:off x="5286756" y="3986784"/>
                    <a:ext cx="1901952" cy="60350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/>
                  <a:lstStyle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>
                      <a:buNone/>
                    </a:pPr>
                    <a:r>
                      <a:rPr lang="en-US" sz="1050" dirty="0">
                        <a:solidFill>
                          <a:srgbClr val="444441"/>
                        </a:solidFill>
                      </a:rPr>
                      <a:t>Issue description, risk rationale, remediation steps and ready-to-use YAML/JSON snippet for every finding.</a:t>
                    </a:r>
                    <a:endParaRPr lang="en-US" sz="1050" dirty="0"/>
                  </a:p>
                </p:txBody>
              </p:sp>
              <p:sp>
                <p:nvSpPr>
                  <p:cNvPr id="65" name="Text 59">
                    <a:extLst>
                      <a:ext uri="{FF2B5EF4-FFF2-40B4-BE49-F238E27FC236}">
                        <a16:creationId xmlns:a16="http://schemas.microsoft.com/office/drawing/2014/main" id="{35337D94-C7B9-D4AB-DFB3-566CC7006346}"/>
                      </a:ext>
                    </a:extLst>
                  </p:cNvPr>
                  <p:cNvSpPr/>
                  <p:nvPr/>
                </p:nvSpPr>
                <p:spPr>
                  <a:xfrm>
                    <a:off x="4793411" y="3776471"/>
                    <a:ext cx="420624" cy="4206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>
                      <a:buNone/>
                    </a:pPr>
                    <a:r>
                      <a:rPr lang="en-US" sz="1400" dirty="0"/>
                      <a:t>✎</a:t>
                    </a:r>
                  </a:p>
                </p:txBody>
              </p:sp>
            </p:grpSp>
            <p:sp>
              <p:nvSpPr>
                <p:cNvPr id="63" name="Shape 57">
                  <a:extLst>
                    <a:ext uri="{FF2B5EF4-FFF2-40B4-BE49-F238E27FC236}">
                      <a16:creationId xmlns:a16="http://schemas.microsoft.com/office/drawing/2014/main" id="{990E4323-FB00-8A78-BFFA-36218AD227EB}"/>
                    </a:ext>
                  </a:extLst>
                </p:cNvPr>
                <p:cNvSpPr/>
                <p:nvPr/>
              </p:nvSpPr>
              <p:spPr>
                <a:xfrm>
                  <a:off x="4628388" y="4218690"/>
                  <a:ext cx="73152" cy="1024128"/>
                </a:xfrm>
                <a:prstGeom prst="rect">
                  <a:avLst/>
                </a:prstGeom>
                <a:solidFill>
                  <a:srgbClr val="D85A30"/>
                </a:solidFill>
                <a:ln w="12700">
                  <a:solidFill>
                    <a:srgbClr val="D85A3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12" name="Arrow: Right 111">
            <a:extLst>
              <a:ext uri="{FF2B5EF4-FFF2-40B4-BE49-F238E27FC236}">
                <a16:creationId xmlns:a16="http://schemas.microsoft.com/office/drawing/2014/main" id="{9B338203-A059-80D0-E145-314633ED765A}"/>
              </a:ext>
            </a:extLst>
          </p:cNvPr>
          <p:cNvSpPr/>
          <p:nvPr/>
        </p:nvSpPr>
        <p:spPr>
          <a:xfrm>
            <a:off x="268014" y="5168085"/>
            <a:ext cx="1330018" cy="829564"/>
          </a:xfrm>
          <a:prstGeom prst="rightArrow">
            <a:avLst/>
          </a:prstGeom>
          <a:solidFill>
            <a:srgbClr val="0F6E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Target Users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3111A18-BD21-24E3-1CA9-05152515903B}"/>
              </a:ext>
            </a:extLst>
          </p:cNvPr>
          <p:cNvGrpSpPr/>
          <p:nvPr/>
        </p:nvGrpSpPr>
        <p:grpSpPr>
          <a:xfrm>
            <a:off x="2067701" y="2655861"/>
            <a:ext cx="3027393" cy="1024128"/>
            <a:chOff x="1281683" y="2692501"/>
            <a:chExt cx="3027393" cy="1024128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05ACF45B-C66B-93C7-B5D4-A34E46250409}"/>
                </a:ext>
              </a:extLst>
            </p:cNvPr>
            <p:cNvGrpSpPr/>
            <p:nvPr/>
          </p:nvGrpSpPr>
          <p:grpSpPr>
            <a:xfrm>
              <a:off x="1281683" y="2692501"/>
              <a:ext cx="3027393" cy="1024128"/>
              <a:chOff x="1270903" y="2857093"/>
              <a:chExt cx="2651760" cy="1024128"/>
            </a:xfrm>
          </p:grpSpPr>
          <p:sp>
            <p:nvSpPr>
              <p:cNvPr id="39" name="Shape 34">
                <a:extLst>
                  <a:ext uri="{FF2B5EF4-FFF2-40B4-BE49-F238E27FC236}">
                    <a16:creationId xmlns:a16="http://schemas.microsoft.com/office/drawing/2014/main" id="{BAFC5BCD-144F-F17F-6AD4-280E0D456172}"/>
                  </a:ext>
                </a:extLst>
              </p:cNvPr>
              <p:cNvSpPr/>
              <p:nvPr/>
            </p:nvSpPr>
            <p:spPr>
              <a:xfrm>
                <a:off x="1411021" y="3018395"/>
                <a:ext cx="420624" cy="420624"/>
              </a:xfrm>
              <a:prstGeom prst="ellipse">
                <a:avLst/>
              </a:prstGeom>
              <a:solidFill>
                <a:srgbClr val="E24B4A"/>
              </a:solidFill>
              <a:ln w="12700">
                <a:solidFill>
                  <a:srgbClr val="E24B4A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2DD3C0ED-F9E4-8BBA-88C1-78303BD824A5}"/>
                  </a:ext>
                </a:extLst>
              </p:cNvPr>
              <p:cNvGrpSpPr/>
              <p:nvPr/>
            </p:nvGrpSpPr>
            <p:grpSpPr>
              <a:xfrm>
                <a:off x="1270903" y="2857093"/>
                <a:ext cx="2651760" cy="1024128"/>
                <a:chOff x="1729740" y="2450592"/>
                <a:chExt cx="2651760" cy="1024128"/>
              </a:xfrm>
            </p:grpSpPr>
            <p:sp>
              <p:nvSpPr>
                <p:cNvPr id="37" name="Shape 32">
                  <a:extLst>
                    <a:ext uri="{FF2B5EF4-FFF2-40B4-BE49-F238E27FC236}">
                      <a16:creationId xmlns:a16="http://schemas.microsoft.com/office/drawing/2014/main" id="{4FE865BC-07E7-C7AA-D019-DD3565B63F10}"/>
                    </a:ext>
                  </a:extLst>
                </p:cNvPr>
                <p:cNvSpPr/>
                <p:nvPr/>
              </p:nvSpPr>
              <p:spPr>
                <a:xfrm>
                  <a:off x="1729740" y="2450592"/>
                  <a:ext cx="2651760" cy="1024128"/>
                </a:xfrm>
                <a:prstGeom prst="rect">
                  <a:avLst/>
                </a:prstGeom>
                <a:solidFill>
                  <a:srgbClr val="FCEBEB"/>
                </a:solidFill>
                <a:ln w="9525">
                  <a:solidFill>
                    <a:srgbClr val="E24B4A"/>
                  </a:solidFill>
                  <a:prstDash val="solid"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8" name="Shape 33">
                  <a:extLst>
                    <a:ext uri="{FF2B5EF4-FFF2-40B4-BE49-F238E27FC236}">
                      <a16:creationId xmlns:a16="http://schemas.microsoft.com/office/drawing/2014/main" id="{4CB2BE6B-5BC6-11AD-162D-3CCCE7853FDE}"/>
                    </a:ext>
                  </a:extLst>
                </p:cNvPr>
                <p:cNvSpPr/>
                <p:nvPr/>
              </p:nvSpPr>
              <p:spPr>
                <a:xfrm>
                  <a:off x="1729740" y="2450592"/>
                  <a:ext cx="73152" cy="1024128"/>
                </a:xfrm>
                <a:prstGeom prst="rect">
                  <a:avLst/>
                </a:prstGeom>
                <a:solidFill>
                  <a:srgbClr val="E24B4A"/>
                </a:solidFill>
                <a:ln w="12700">
                  <a:solidFill>
                    <a:srgbClr val="E24B4A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Text 36">
                  <a:extLst>
                    <a:ext uri="{FF2B5EF4-FFF2-40B4-BE49-F238E27FC236}">
                      <a16:creationId xmlns:a16="http://schemas.microsoft.com/office/drawing/2014/main" id="{64DE76E9-F909-EA52-41F3-98467A6E8AD6}"/>
                    </a:ext>
                  </a:extLst>
                </p:cNvPr>
                <p:cNvSpPr/>
                <p:nvPr/>
              </p:nvSpPr>
              <p:spPr>
                <a:xfrm>
                  <a:off x="2388108" y="2542032"/>
                  <a:ext cx="1901952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US" sz="1100" b="1" dirty="0">
                      <a:solidFill>
                        <a:srgbClr val="A32D2D"/>
                      </a:solidFill>
                    </a:rPr>
                    <a:t>Security analysis</a:t>
                  </a:r>
                  <a:endParaRPr lang="en-US" sz="1100" dirty="0"/>
                </a:p>
              </p:txBody>
            </p:sp>
            <p:sp>
              <p:nvSpPr>
                <p:cNvPr id="42" name="Text 37">
                  <a:extLst>
                    <a:ext uri="{FF2B5EF4-FFF2-40B4-BE49-F238E27FC236}">
                      <a16:creationId xmlns:a16="http://schemas.microsoft.com/office/drawing/2014/main" id="{AEDE21C4-2585-C524-BD8D-FB9F51692176}"/>
                    </a:ext>
                  </a:extLst>
                </p:cNvPr>
                <p:cNvSpPr/>
                <p:nvPr/>
              </p:nvSpPr>
              <p:spPr>
                <a:xfrm>
                  <a:off x="2388108" y="2798064"/>
                  <a:ext cx="1901952" cy="6035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US" sz="1050" dirty="0">
                      <a:solidFill>
                        <a:srgbClr val="444441"/>
                      </a:solidFill>
                    </a:rPr>
                    <a:t>Detects missing OAuth2, JWT, API Key schemes. Flags absent 401/403/429 responses and sensitive schema exposure.</a:t>
                  </a:r>
                  <a:endParaRPr lang="en-US" sz="1050" dirty="0"/>
                </a:p>
              </p:txBody>
            </p:sp>
          </p:grpSp>
        </p:grpSp>
        <p:sp>
          <p:nvSpPr>
            <p:cNvPr id="117" name="Shape 34">
              <a:extLst>
                <a:ext uri="{FF2B5EF4-FFF2-40B4-BE49-F238E27FC236}">
                  <a16:creationId xmlns:a16="http://schemas.microsoft.com/office/drawing/2014/main" id="{D623CC6D-C1E9-92EF-48EF-3E75F46D9F21}"/>
                </a:ext>
              </a:extLst>
            </p:cNvPr>
            <p:cNvSpPr/>
            <p:nvPr/>
          </p:nvSpPr>
          <p:spPr>
            <a:xfrm>
              <a:off x="1413286" y="2821855"/>
              <a:ext cx="420624" cy="420624"/>
            </a:xfrm>
            <a:prstGeom prst="ellipse">
              <a:avLst/>
            </a:prstGeom>
            <a:solidFill>
              <a:srgbClr val="E24B4A"/>
            </a:solidFill>
            <a:ln w="12700">
              <a:solidFill>
                <a:srgbClr val="E24B4A"/>
              </a:solidFill>
              <a:prstDash val="solid"/>
            </a:ln>
          </p:spPr>
          <p:txBody>
            <a:bodyPr/>
            <a:lstStyle/>
            <a:p>
              <a:r>
                <a:rPr lang="en-US" dirty="0">
                  <a:solidFill>
                    <a:srgbClr val="FFFFFF"/>
                  </a:solidFill>
                </a:rPr>
                <a:t>✦</a:t>
              </a:r>
              <a:endParaRPr lang="en-US" dirty="0"/>
            </a:p>
          </p:txBody>
        </p:sp>
      </p:grpSp>
      <p:sp>
        <p:nvSpPr>
          <p:cNvPr id="122" name="Arrow: Right 121">
            <a:extLst>
              <a:ext uri="{FF2B5EF4-FFF2-40B4-BE49-F238E27FC236}">
                <a16:creationId xmlns:a16="http://schemas.microsoft.com/office/drawing/2014/main" id="{BCA4317E-4634-A5DF-C3D3-A323D866AFF5}"/>
              </a:ext>
            </a:extLst>
          </p:cNvPr>
          <p:cNvSpPr/>
          <p:nvPr/>
        </p:nvSpPr>
        <p:spPr>
          <a:xfrm>
            <a:off x="291004" y="2645051"/>
            <a:ext cx="1577209" cy="2108991"/>
          </a:xfrm>
          <a:prstGeom prst="rightArrow">
            <a:avLst/>
          </a:prstGeom>
          <a:solidFill>
            <a:srgbClr val="993C1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Key features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2A66E7C-0E0D-E0A4-5610-249C57ABDD67}"/>
              </a:ext>
            </a:extLst>
          </p:cNvPr>
          <p:cNvCxnSpPr/>
          <p:nvPr/>
        </p:nvCxnSpPr>
        <p:spPr>
          <a:xfrm>
            <a:off x="118241" y="5044966"/>
            <a:ext cx="1198967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CFFDFE4-87CF-6AE6-370D-CCF3D0395B49}"/>
              </a:ext>
            </a:extLst>
          </p:cNvPr>
          <p:cNvCxnSpPr/>
          <p:nvPr/>
        </p:nvCxnSpPr>
        <p:spPr>
          <a:xfrm>
            <a:off x="120871" y="2536932"/>
            <a:ext cx="1198967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47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CE20-E7E1-8717-C2B7-0148C9F0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50A3ADA5-68F9-2776-F6E5-2CC39F2F7AB8}"/>
              </a:ext>
            </a:extLst>
          </p:cNvPr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B2E10DF-2CD6-B566-EF33-E26BBDA22FA8}"/>
              </a:ext>
            </a:extLst>
          </p:cNvPr>
          <p:cNvSpPr/>
          <p:nvPr/>
        </p:nvSpPr>
        <p:spPr>
          <a:xfrm>
            <a:off x="0" y="900212"/>
            <a:ext cx="12191695" cy="4571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3A195A-0CFF-C4D5-ED18-0285E48CEC18}"/>
              </a:ext>
            </a:extLst>
          </p:cNvPr>
          <p:cNvSpPr txBox="1"/>
          <p:nvPr/>
        </p:nvSpPr>
        <p:spPr>
          <a:xfrm>
            <a:off x="571500" y="253462"/>
            <a:ext cx="61652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/>
              <a:t>Solution Design &amp; Architecture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DC6692F-A848-2F18-4A10-A12ECA04ADA6}"/>
              </a:ext>
            </a:extLst>
          </p:cNvPr>
          <p:cNvSpPr/>
          <p:nvPr/>
        </p:nvSpPr>
        <p:spPr>
          <a:xfrm>
            <a:off x="0" y="6372454"/>
            <a:ext cx="12191695" cy="485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33F1B6C-F9C0-5F0B-F2AA-9060A91B19D5}"/>
              </a:ext>
            </a:extLst>
          </p:cNvPr>
          <p:cNvSpPr/>
          <p:nvPr/>
        </p:nvSpPr>
        <p:spPr>
          <a:xfrm>
            <a:off x="0" y="6372454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E066A7-9062-852A-678B-91386FA3727C}"/>
              </a:ext>
            </a:extLst>
          </p:cNvPr>
          <p:cNvSpPr txBox="1"/>
          <p:nvPr/>
        </p:nvSpPr>
        <p:spPr>
          <a:xfrm>
            <a:off x="571500" y="6543446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COE Automation Hackathon 2026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D5564A5-B460-6685-3436-5337B55BD13B}"/>
              </a:ext>
            </a:extLst>
          </p:cNvPr>
          <p:cNvSpPr txBox="1"/>
          <p:nvPr/>
        </p:nvSpPr>
        <p:spPr>
          <a:xfrm>
            <a:off x="10006279" y="6543446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- Internal Use Only</a:t>
            </a:r>
            <a:endParaRPr lang="en-US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B1017A-5DDD-D252-405C-E4E940182301}"/>
              </a:ext>
            </a:extLst>
          </p:cNvPr>
          <p:cNvSpPr txBox="1"/>
          <p:nvPr/>
        </p:nvSpPr>
        <p:spPr>
          <a:xfrm>
            <a:off x="869937" y="124746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cxnSp>
        <p:nvCxnSpPr>
          <p:cNvPr id="155" name="conn">
            <a:extLst>
              <a:ext uri="{FF2B5EF4-FFF2-40B4-BE49-F238E27FC236}">
                <a16:creationId xmlns:a16="http://schemas.microsoft.com/office/drawing/2014/main" id="{A0969890-26D0-8A28-5945-EFBA5FC16CF9}"/>
              </a:ext>
            </a:extLst>
          </p:cNvPr>
          <p:cNvCxnSpPr>
            <a:cxnSpLocks/>
          </p:cNvCxnSpPr>
          <p:nvPr/>
        </p:nvCxnSpPr>
        <p:spPr>
          <a:xfrm>
            <a:off x="5577054" y="1351094"/>
            <a:ext cx="0" cy="97108"/>
          </a:xfrm>
          <a:prstGeom prst="line">
            <a:avLst/>
          </a:prstGeom>
          <a:noFill/>
          <a:ln w="15240">
            <a:solidFill>
              <a:srgbClr val="888780"/>
            </a:solidFill>
            <a:tailEnd type="arrow"/>
          </a:ln>
        </p:spPr>
      </p:cxnSp>
      <p:grpSp>
        <p:nvGrpSpPr>
          <p:cNvPr id="156" name="GROUP_ui_layer">
            <a:extLst>
              <a:ext uri="{FF2B5EF4-FFF2-40B4-BE49-F238E27FC236}">
                <a16:creationId xmlns:a16="http://schemas.microsoft.com/office/drawing/2014/main" id="{18D57E6E-323C-3BE2-1C0F-37788F432D6E}"/>
              </a:ext>
            </a:extLst>
          </p:cNvPr>
          <p:cNvGrpSpPr/>
          <p:nvPr/>
        </p:nvGrpSpPr>
        <p:grpSpPr>
          <a:xfrm>
            <a:off x="823751" y="1424246"/>
            <a:ext cx="9555480" cy="704040"/>
            <a:chOff x="228600" y="896112"/>
            <a:chExt cx="8686800" cy="530352"/>
          </a:xfrm>
        </p:grpSpPr>
        <p:sp>
          <p:nvSpPr>
            <p:cNvPr id="157" name="shape">
              <a:extLst>
                <a:ext uri="{FF2B5EF4-FFF2-40B4-BE49-F238E27FC236}">
                  <a16:creationId xmlns:a16="http://schemas.microsoft.com/office/drawing/2014/main" id="{2FD6337D-3471-A659-08D4-C41FDAC98B6E}"/>
                </a:ext>
              </a:extLst>
            </p:cNvPr>
            <p:cNvSpPr/>
            <p:nvPr/>
          </p:nvSpPr>
          <p:spPr>
            <a:xfrm>
              <a:off x="228600" y="896112"/>
              <a:ext cx="8686800" cy="530352"/>
            </a:xfrm>
            <a:prstGeom prst="rect">
              <a:avLst/>
            </a:prstGeom>
            <a:solidFill>
              <a:srgbClr val="E6F1FB"/>
            </a:solidFill>
            <a:ln w="9525">
              <a:solidFill>
                <a:srgbClr val="185F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58" name="shape">
              <a:extLst>
                <a:ext uri="{FF2B5EF4-FFF2-40B4-BE49-F238E27FC236}">
                  <a16:creationId xmlns:a16="http://schemas.microsoft.com/office/drawing/2014/main" id="{8CB207DB-5859-5921-7FFD-13E36AB2523C}"/>
                </a:ext>
              </a:extLst>
            </p:cNvPr>
            <p:cNvSpPr/>
            <p:nvPr/>
          </p:nvSpPr>
          <p:spPr>
            <a:xfrm>
              <a:off x="228600" y="896112"/>
              <a:ext cx="8686800" cy="5943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59" name="shape">
              <a:extLst>
                <a:ext uri="{FF2B5EF4-FFF2-40B4-BE49-F238E27FC236}">
                  <a16:creationId xmlns:a16="http://schemas.microsoft.com/office/drawing/2014/main" id="{FC77434B-2792-D4A5-8060-2B5347966BE4}"/>
                </a:ext>
              </a:extLst>
            </p:cNvPr>
            <p:cNvSpPr/>
            <p:nvPr/>
          </p:nvSpPr>
          <p:spPr>
            <a:xfrm>
              <a:off x="320040" y="969264"/>
              <a:ext cx="658368" cy="384048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60" name="text">
              <a:extLst>
                <a:ext uri="{FF2B5EF4-FFF2-40B4-BE49-F238E27FC236}">
                  <a16:creationId xmlns:a16="http://schemas.microsoft.com/office/drawing/2014/main" id="{B55C9FCF-9DC7-6315-BAD5-F72C90DECEE0}"/>
                </a:ext>
              </a:extLst>
            </p:cNvPr>
            <p:cNvSpPr txBox="1"/>
            <p:nvPr/>
          </p:nvSpPr>
          <p:spPr>
            <a:xfrm>
              <a:off x="320040" y="969264"/>
              <a:ext cx="658368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UI
layer</a:t>
              </a:r>
            </a:p>
          </p:txBody>
        </p:sp>
        <p:sp>
          <p:nvSpPr>
            <p:cNvPr id="161" name="Web frontend_bg">
              <a:extLst>
                <a:ext uri="{FF2B5EF4-FFF2-40B4-BE49-F238E27FC236}">
                  <a16:creationId xmlns:a16="http://schemas.microsoft.com/office/drawing/2014/main" id="{262A813F-B882-C052-748A-4456B2428DE2}"/>
                </a:ext>
              </a:extLst>
            </p:cNvPr>
            <p:cNvSpPr/>
            <p:nvPr/>
          </p:nvSpPr>
          <p:spPr>
            <a:xfrm>
              <a:off x="1005840" y="969264"/>
              <a:ext cx="329184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85F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62" name="Web frontend_top">
              <a:extLst>
                <a:ext uri="{FF2B5EF4-FFF2-40B4-BE49-F238E27FC236}">
                  <a16:creationId xmlns:a16="http://schemas.microsoft.com/office/drawing/2014/main" id="{A27D1F8E-0A2B-F1D5-3799-59D984559297}"/>
                </a:ext>
              </a:extLst>
            </p:cNvPr>
            <p:cNvSpPr/>
            <p:nvPr/>
          </p:nvSpPr>
          <p:spPr>
            <a:xfrm>
              <a:off x="1005840" y="969264"/>
              <a:ext cx="3291840" cy="50292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63" name="Web frontend_title">
              <a:extLst>
                <a:ext uri="{FF2B5EF4-FFF2-40B4-BE49-F238E27FC236}">
                  <a16:creationId xmlns:a16="http://schemas.microsoft.com/office/drawing/2014/main" id="{20B7E346-3C60-2CD8-97EB-1829DD7A717F}"/>
                </a:ext>
              </a:extLst>
            </p:cNvPr>
            <p:cNvSpPr txBox="1"/>
            <p:nvPr/>
          </p:nvSpPr>
          <p:spPr>
            <a:xfrm>
              <a:off x="1097280" y="1014984"/>
              <a:ext cx="310896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2C53"/>
                  </a:solidFill>
                </a:rPr>
                <a:t>Web frontend</a:t>
              </a:r>
            </a:p>
          </p:txBody>
        </p:sp>
        <p:sp>
          <p:nvSpPr>
            <p:cNvPr id="164" name="Web frontend_sub">
              <a:extLst>
                <a:ext uri="{FF2B5EF4-FFF2-40B4-BE49-F238E27FC236}">
                  <a16:creationId xmlns:a16="http://schemas.microsoft.com/office/drawing/2014/main" id="{CBA872E7-4CB9-2AE9-FF5D-C0152A2F5463}"/>
                </a:ext>
              </a:extLst>
            </p:cNvPr>
            <p:cNvSpPr txBox="1"/>
            <p:nvPr/>
          </p:nvSpPr>
          <p:spPr>
            <a:xfrm>
              <a:off x="1097280" y="1216152"/>
              <a:ext cx="3127248" cy="914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0C447C"/>
                  </a:solidFill>
                </a:rPr>
                <a:t>Flask + HTML/JS  ·  browser upload interface</a:t>
              </a:r>
            </a:p>
          </p:txBody>
        </p:sp>
        <p:sp>
          <p:nvSpPr>
            <p:cNvPr id="165" name="REST API client_bg">
              <a:extLst>
                <a:ext uri="{FF2B5EF4-FFF2-40B4-BE49-F238E27FC236}">
                  <a16:creationId xmlns:a16="http://schemas.microsoft.com/office/drawing/2014/main" id="{91C0CF04-2BBB-98AF-D7F9-E2F98187AA99}"/>
                </a:ext>
              </a:extLst>
            </p:cNvPr>
            <p:cNvSpPr/>
            <p:nvPr/>
          </p:nvSpPr>
          <p:spPr>
            <a:xfrm>
              <a:off x="4617720" y="969264"/>
              <a:ext cx="329184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85F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66" name="REST API client_top">
              <a:extLst>
                <a:ext uri="{FF2B5EF4-FFF2-40B4-BE49-F238E27FC236}">
                  <a16:creationId xmlns:a16="http://schemas.microsoft.com/office/drawing/2014/main" id="{74A4CBA2-E621-0317-9CFF-60957508AE22}"/>
                </a:ext>
              </a:extLst>
            </p:cNvPr>
            <p:cNvSpPr/>
            <p:nvPr/>
          </p:nvSpPr>
          <p:spPr>
            <a:xfrm>
              <a:off x="4617720" y="969264"/>
              <a:ext cx="3291840" cy="50292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67" name="REST API client_title">
              <a:extLst>
                <a:ext uri="{FF2B5EF4-FFF2-40B4-BE49-F238E27FC236}">
                  <a16:creationId xmlns:a16="http://schemas.microsoft.com/office/drawing/2014/main" id="{B77982CF-2694-703A-D5D5-FB8E80BC806C}"/>
                </a:ext>
              </a:extLst>
            </p:cNvPr>
            <p:cNvSpPr txBox="1"/>
            <p:nvPr/>
          </p:nvSpPr>
          <p:spPr>
            <a:xfrm>
              <a:off x="4709159" y="1014984"/>
              <a:ext cx="310896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2C53"/>
                  </a:solidFill>
                </a:rPr>
                <a:t>REST API client</a:t>
              </a:r>
            </a:p>
          </p:txBody>
        </p:sp>
        <p:sp>
          <p:nvSpPr>
            <p:cNvPr id="168" name="REST API client_sub">
              <a:extLst>
                <a:ext uri="{FF2B5EF4-FFF2-40B4-BE49-F238E27FC236}">
                  <a16:creationId xmlns:a16="http://schemas.microsoft.com/office/drawing/2014/main" id="{AA1083CB-C774-48E1-6969-F059B4FA8146}"/>
                </a:ext>
              </a:extLst>
            </p:cNvPr>
            <p:cNvSpPr txBox="1"/>
            <p:nvPr/>
          </p:nvSpPr>
          <p:spPr>
            <a:xfrm>
              <a:off x="4709159" y="1216152"/>
              <a:ext cx="3127248" cy="914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0C447C"/>
                  </a:solidFill>
                </a:rPr>
                <a:t>curl / Postman  ·  HTTP/JSON programmatic access</a:t>
              </a:r>
            </a:p>
          </p:txBody>
        </p:sp>
      </p:grpSp>
      <p:cxnSp>
        <p:nvCxnSpPr>
          <p:cNvPr id="169" name="conn">
            <a:extLst>
              <a:ext uri="{FF2B5EF4-FFF2-40B4-BE49-F238E27FC236}">
                <a16:creationId xmlns:a16="http://schemas.microsoft.com/office/drawing/2014/main" id="{D99D995B-E2B7-3D5C-5EC8-E51F0C55021A}"/>
              </a:ext>
            </a:extLst>
          </p:cNvPr>
          <p:cNvCxnSpPr>
            <a:cxnSpLocks/>
          </p:cNvCxnSpPr>
          <p:nvPr/>
        </p:nvCxnSpPr>
        <p:spPr>
          <a:xfrm>
            <a:off x="5612527" y="2135902"/>
            <a:ext cx="0" cy="97108"/>
          </a:xfrm>
          <a:prstGeom prst="line">
            <a:avLst/>
          </a:prstGeom>
          <a:noFill/>
          <a:ln w="15240">
            <a:solidFill>
              <a:srgbClr val="534AB7"/>
            </a:solidFill>
            <a:tailEnd type="arrow"/>
          </a:ln>
        </p:spPr>
      </p:cxnSp>
      <p:grpSp>
        <p:nvGrpSpPr>
          <p:cNvPr id="170" name="GROUP_backend_layer">
            <a:extLst>
              <a:ext uri="{FF2B5EF4-FFF2-40B4-BE49-F238E27FC236}">
                <a16:creationId xmlns:a16="http://schemas.microsoft.com/office/drawing/2014/main" id="{C2F1E776-7946-569F-3A17-C2939165122D}"/>
              </a:ext>
            </a:extLst>
          </p:cNvPr>
          <p:cNvGrpSpPr/>
          <p:nvPr/>
        </p:nvGrpSpPr>
        <p:grpSpPr>
          <a:xfrm>
            <a:off x="823751" y="2240580"/>
            <a:ext cx="9555480" cy="693199"/>
            <a:chOff x="228600" y="1499616"/>
            <a:chExt cx="8686800" cy="530352"/>
          </a:xfrm>
        </p:grpSpPr>
        <p:sp>
          <p:nvSpPr>
            <p:cNvPr id="171" name="shape">
              <a:extLst>
                <a:ext uri="{FF2B5EF4-FFF2-40B4-BE49-F238E27FC236}">
                  <a16:creationId xmlns:a16="http://schemas.microsoft.com/office/drawing/2014/main" id="{85371904-65E2-012C-0119-114C993210AF}"/>
                </a:ext>
              </a:extLst>
            </p:cNvPr>
            <p:cNvSpPr/>
            <p:nvPr/>
          </p:nvSpPr>
          <p:spPr>
            <a:xfrm>
              <a:off x="228600" y="1499616"/>
              <a:ext cx="8686800" cy="530352"/>
            </a:xfrm>
            <a:prstGeom prst="rect">
              <a:avLst/>
            </a:prstGeom>
            <a:solidFill>
              <a:srgbClr val="EEEDFE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72" name="shape">
              <a:extLst>
                <a:ext uri="{FF2B5EF4-FFF2-40B4-BE49-F238E27FC236}">
                  <a16:creationId xmlns:a16="http://schemas.microsoft.com/office/drawing/2014/main" id="{73061304-9FE9-EB23-53EF-C23D8DBA1A77}"/>
                </a:ext>
              </a:extLst>
            </p:cNvPr>
            <p:cNvSpPr/>
            <p:nvPr/>
          </p:nvSpPr>
          <p:spPr>
            <a:xfrm>
              <a:off x="228600" y="1499616"/>
              <a:ext cx="8686800" cy="59436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73" name="shape">
              <a:extLst>
                <a:ext uri="{FF2B5EF4-FFF2-40B4-BE49-F238E27FC236}">
                  <a16:creationId xmlns:a16="http://schemas.microsoft.com/office/drawing/2014/main" id="{E94323D1-B5EE-AA89-80BE-0BB9F8F67AC8}"/>
                </a:ext>
              </a:extLst>
            </p:cNvPr>
            <p:cNvSpPr/>
            <p:nvPr/>
          </p:nvSpPr>
          <p:spPr>
            <a:xfrm>
              <a:off x="320040" y="1572768"/>
              <a:ext cx="658368" cy="384048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74" name="text">
              <a:extLst>
                <a:ext uri="{FF2B5EF4-FFF2-40B4-BE49-F238E27FC236}">
                  <a16:creationId xmlns:a16="http://schemas.microsoft.com/office/drawing/2014/main" id="{E5C1143D-8EA7-D413-EAFE-BAE1FEBD76D4}"/>
                </a:ext>
              </a:extLst>
            </p:cNvPr>
            <p:cNvSpPr txBox="1"/>
            <p:nvPr/>
          </p:nvSpPr>
          <p:spPr>
            <a:xfrm>
              <a:off x="320040" y="1572768"/>
              <a:ext cx="658368" cy="3840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Back-
end</a:t>
              </a:r>
            </a:p>
          </p:txBody>
        </p:sp>
        <p:sp>
          <p:nvSpPr>
            <p:cNvPr id="175" name="FastAPI server_bg">
              <a:extLst>
                <a:ext uri="{FF2B5EF4-FFF2-40B4-BE49-F238E27FC236}">
                  <a16:creationId xmlns:a16="http://schemas.microsoft.com/office/drawing/2014/main" id="{111019F4-0382-0DD5-5E69-F074C248B3B6}"/>
                </a:ext>
              </a:extLst>
            </p:cNvPr>
            <p:cNvSpPr/>
            <p:nvPr/>
          </p:nvSpPr>
          <p:spPr>
            <a:xfrm>
              <a:off x="1005840" y="1572768"/>
              <a:ext cx="690372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76" name="FastAPI server_top">
              <a:extLst>
                <a:ext uri="{FF2B5EF4-FFF2-40B4-BE49-F238E27FC236}">
                  <a16:creationId xmlns:a16="http://schemas.microsoft.com/office/drawing/2014/main" id="{19169153-6261-3E1B-E6C4-A8C033E949C1}"/>
                </a:ext>
              </a:extLst>
            </p:cNvPr>
            <p:cNvSpPr/>
            <p:nvPr/>
          </p:nvSpPr>
          <p:spPr>
            <a:xfrm>
              <a:off x="1005840" y="1572768"/>
              <a:ext cx="6903720" cy="50292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77" name="FastAPI server_title">
              <a:extLst>
                <a:ext uri="{FF2B5EF4-FFF2-40B4-BE49-F238E27FC236}">
                  <a16:creationId xmlns:a16="http://schemas.microsoft.com/office/drawing/2014/main" id="{167BFCA3-8466-76D6-930E-743B23D0F9CA}"/>
                </a:ext>
              </a:extLst>
            </p:cNvPr>
            <p:cNvSpPr txBox="1"/>
            <p:nvPr/>
          </p:nvSpPr>
          <p:spPr>
            <a:xfrm>
              <a:off x="1097280" y="1618488"/>
              <a:ext cx="672084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FastAPI server</a:t>
              </a:r>
            </a:p>
          </p:txBody>
        </p:sp>
        <p:sp>
          <p:nvSpPr>
            <p:cNvPr id="178" name="FastAPI server_sub">
              <a:extLst>
                <a:ext uri="{FF2B5EF4-FFF2-40B4-BE49-F238E27FC236}">
                  <a16:creationId xmlns:a16="http://schemas.microsoft.com/office/drawing/2014/main" id="{0025CB00-78E0-D2C8-F9D2-24CE6215D615}"/>
                </a:ext>
              </a:extLst>
            </p:cNvPr>
            <p:cNvSpPr txBox="1"/>
            <p:nvPr/>
          </p:nvSpPr>
          <p:spPr>
            <a:xfrm>
              <a:off x="1097280" y="1819656"/>
              <a:ext cx="6739128" cy="914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3C3489"/>
                  </a:solidFill>
                </a:rPr>
                <a:t>POST /analyze  ·  POST /analyze/text  ·  GET /health  ·  GET /stats  ·  POST /refresh</a:t>
              </a:r>
            </a:p>
          </p:txBody>
        </p:sp>
      </p:grpSp>
      <p:cxnSp>
        <p:nvCxnSpPr>
          <p:cNvPr id="179" name="conn">
            <a:extLst>
              <a:ext uri="{FF2B5EF4-FFF2-40B4-BE49-F238E27FC236}">
                <a16:creationId xmlns:a16="http://schemas.microsoft.com/office/drawing/2014/main" id="{730B5C86-311D-0017-0556-487482720DAC}"/>
              </a:ext>
            </a:extLst>
          </p:cNvPr>
          <p:cNvCxnSpPr>
            <a:cxnSpLocks/>
          </p:cNvCxnSpPr>
          <p:nvPr/>
        </p:nvCxnSpPr>
        <p:spPr>
          <a:xfrm>
            <a:off x="5632234" y="2952238"/>
            <a:ext cx="0" cy="97108"/>
          </a:xfrm>
          <a:prstGeom prst="line">
            <a:avLst/>
          </a:prstGeom>
          <a:noFill/>
          <a:ln w="15240">
            <a:solidFill>
              <a:srgbClr val="0F6E56"/>
            </a:solidFill>
            <a:tailEnd type="arrow"/>
          </a:ln>
        </p:spPr>
      </p:cxnSp>
      <p:grpSp>
        <p:nvGrpSpPr>
          <p:cNvPr id="180" name="GROUP_engine_layer">
            <a:extLst>
              <a:ext uri="{FF2B5EF4-FFF2-40B4-BE49-F238E27FC236}">
                <a16:creationId xmlns:a16="http://schemas.microsoft.com/office/drawing/2014/main" id="{0E751C5F-45ED-474F-BE5F-D31E218D44E7}"/>
              </a:ext>
            </a:extLst>
          </p:cNvPr>
          <p:cNvGrpSpPr/>
          <p:nvPr/>
        </p:nvGrpSpPr>
        <p:grpSpPr>
          <a:xfrm>
            <a:off x="823751" y="3041131"/>
            <a:ext cx="9555480" cy="755396"/>
            <a:chOff x="228600" y="2103120"/>
            <a:chExt cx="8686800" cy="621792"/>
          </a:xfrm>
        </p:grpSpPr>
        <p:sp>
          <p:nvSpPr>
            <p:cNvPr id="181" name="shape">
              <a:extLst>
                <a:ext uri="{FF2B5EF4-FFF2-40B4-BE49-F238E27FC236}">
                  <a16:creationId xmlns:a16="http://schemas.microsoft.com/office/drawing/2014/main" id="{CB22F705-6325-E225-4A89-DE48B52C74B3}"/>
                </a:ext>
              </a:extLst>
            </p:cNvPr>
            <p:cNvSpPr/>
            <p:nvPr/>
          </p:nvSpPr>
          <p:spPr>
            <a:xfrm>
              <a:off x="228600" y="2103120"/>
              <a:ext cx="8686800" cy="621792"/>
            </a:xfrm>
            <a:prstGeom prst="rect">
              <a:avLst/>
            </a:prstGeom>
            <a:solidFill>
              <a:srgbClr val="E1F5EE"/>
            </a:solidFill>
            <a:ln w="9525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82" name="shape">
              <a:extLst>
                <a:ext uri="{FF2B5EF4-FFF2-40B4-BE49-F238E27FC236}">
                  <a16:creationId xmlns:a16="http://schemas.microsoft.com/office/drawing/2014/main" id="{4BAD2245-882A-B416-E8C4-9DD093224934}"/>
                </a:ext>
              </a:extLst>
            </p:cNvPr>
            <p:cNvSpPr/>
            <p:nvPr/>
          </p:nvSpPr>
          <p:spPr>
            <a:xfrm>
              <a:off x="228600" y="2103120"/>
              <a:ext cx="8686800" cy="5943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83" name="shape">
              <a:extLst>
                <a:ext uri="{FF2B5EF4-FFF2-40B4-BE49-F238E27FC236}">
                  <a16:creationId xmlns:a16="http://schemas.microsoft.com/office/drawing/2014/main" id="{3232C155-E863-F28D-3649-C8078651C0BB}"/>
                </a:ext>
              </a:extLst>
            </p:cNvPr>
            <p:cNvSpPr/>
            <p:nvPr/>
          </p:nvSpPr>
          <p:spPr>
            <a:xfrm>
              <a:off x="320040" y="2176272"/>
              <a:ext cx="658368" cy="548640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84" name="text">
              <a:extLst>
                <a:ext uri="{FF2B5EF4-FFF2-40B4-BE49-F238E27FC236}">
                  <a16:creationId xmlns:a16="http://schemas.microsoft.com/office/drawing/2014/main" id="{1B32C26C-8E0D-5D1A-BC52-D7BE8577494A}"/>
                </a:ext>
              </a:extLst>
            </p:cNvPr>
            <p:cNvSpPr txBox="1"/>
            <p:nvPr/>
          </p:nvSpPr>
          <p:spPr>
            <a:xfrm>
              <a:off x="320040" y="2176272"/>
              <a:ext cx="65836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Engine
layer</a:t>
              </a:r>
            </a:p>
          </p:txBody>
        </p:sp>
        <p:sp>
          <p:nvSpPr>
            <p:cNvPr id="185" name="Signal extractor_bg">
              <a:extLst>
                <a:ext uri="{FF2B5EF4-FFF2-40B4-BE49-F238E27FC236}">
                  <a16:creationId xmlns:a16="http://schemas.microsoft.com/office/drawing/2014/main" id="{9DAC16F4-639E-1A75-1804-00B33EC48E77}"/>
                </a:ext>
              </a:extLst>
            </p:cNvPr>
            <p:cNvSpPr/>
            <p:nvPr/>
          </p:nvSpPr>
          <p:spPr>
            <a:xfrm>
              <a:off x="1005840" y="2194560"/>
              <a:ext cx="1719072" cy="4754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86" name="Signal extractor_top">
              <a:extLst>
                <a:ext uri="{FF2B5EF4-FFF2-40B4-BE49-F238E27FC236}">
                  <a16:creationId xmlns:a16="http://schemas.microsoft.com/office/drawing/2014/main" id="{FECDF5FC-A992-5F35-761D-52F5BAE016AD}"/>
                </a:ext>
              </a:extLst>
            </p:cNvPr>
            <p:cNvSpPr/>
            <p:nvPr/>
          </p:nvSpPr>
          <p:spPr>
            <a:xfrm>
              <a:off x="1005840" y="2194560"/>
              <a:ext cx="1719072" cy="50292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87" name="Signal extractor_title">
              <a:extLst>
                <a:ext uri="{FF2B5EF4-FFF2-40B4-BE49-F238E27FC236}">
                  <a16:creationId xmlns:a16="http://schemas.microsoft.com/office/drawing/2014/main" id="{68483D08-2E53-6581-91E9-8521A847DE93}"/>
                </a:ext>
              </a:extLst>
            </p:cNvPr>
            <p:cNvSpPr txBox="1"/>
            <p:nvPr/>
          </p:nvSpPr>
          <p:spPr>
            <a:xfrm>
              <a:off x="1097280" y="2240279"/>
              <a:ext cx="1536192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342C"/>
                  </a:solidFill>
                </a:rPr>
                <a:t>Signal extractor</a:t>
              </a:r>
            </a:p>
          </p:txBody>
        </p:sp>
        <p:sp>
          <p:nvSpPr>
            <p:cNvPr id="188" name="Signal extractor_sub">
              <a:extLst>
                <a:ext uri="{FF2B5EF4-FFF2-40B4-BE49-F238E27FC236}">
                  <a16:creationId xmlns:a16="http://schemas.microsoft.com/office/drawing/2014/main" id="{6B01C702-AC16-3343-AA10-685733093DD9}"/>
                </a:ext>
              </a:extLst>
            </p:cNvPr>
            <p:cNvSpPr txBox="1"/>
            <p:nvPr/>
          </p:nvSpPr>
          <p:spPr>
            <a:xfrm>
              <a:off x="1078992" y="2458204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085041"/>
                  </a:solidFill>
                </a:rPr>
                <a:t>50+ signals</a:t>
              </a:r>
            </a:p>
          </p:txBody>
        </p:sp>
        <p:cxnSp>
          <p:nvCxnSpPr>
            <p:cNvPr id="189" name="conn">
              <a:extLst>
                <a:ext uri="{FF2B5EF4-FFF2-40B4-BE49-F238E27FC236}">
                  <a16:creationId xmlns:a16="http://schemas.microsoft.com/office/drawing/2014/main" id="{4F35E4C7-9726-A332-117E-03167F754801}"/>
                </a:ext>
              </a:extLst>
            </p:cNvPr>
            <p:cNvCxnSpPr/>
            <p:nvPr/>
          </p:nvCxnSpPr>
          <p:spPr>
            <a:xfrm>
              <a:off x="2724912" y="2432304"/>
              <a:ext cx="128016" cy="0"/>
            </a:xfrm>
            <a:prstGeom prst="line">
              <a:avLst/>
            </a:prstGeom>
            <a:noFill/>
            <a:ln w="15240">
              <a:solidFill>
                <a:srgbClr val="1D9E75"/>
              </a:solidFill>
              <a:tailEnd type="arrow"/>
            </a:ln>
          </p:spPr>
        </p:cxnSp>
        <p:sp>
          <p:nvSpPr>
            <p:cNvPr id="190" name="Rule matcher_bg">
              <a:extLst>
                <a:ext uri="{FF2B5EF4-FFF2-40B4-BE49-F238E27FC236}">
                  <a16:creationId xmlns:a16="http://schemas.microsoft.com/office/drawing/2014/main" id="{F5A14A15-F622-F783-D92E-7F8938E6BF0F}"/>
                </a:ext>
              </a:extLst>
            </p:cNvPr>
            <p:cNvSpPr/>
            <p:nvPr/>
          </p:nvSpPr>
          <p:spPr>
            <a:xfrm>
              <a:off x="2852928" y="2194560"/>
              <a:ext cx="1719072" cy="4754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91" name="Rule matcher_top">
              <a:extLst>
                <a:ext uri="{FF2B5EF4-FFF2-40B4-BE49-F238E27FC236}">
                  <a16:creationId xmlns:a16="http://schemas.microsoft.com/office/drawing/2014/main" id="{DEF63C45-4DF5-F390-8BA4-4B0B366268BF}"/>
                </a:ext>
              </a:extLst>
            </p:cNvPr>
            <p:cNvSpPr/>
            <p:nvPr/>
          </p:nvSpPr>
          <p:spPr>
            <a:xfrm>
              <a:off x="2852928" y="2194560"/>
              <a:ext cx="1719072" cy="50292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92" name="Rule matcher_title">
              <a:extLst>
                <a:ext uri="{FF2B5EF4-FFF2-40B4-BE49-F238E27FC236}">
                  <a16:creationId xmlns:a16="http://schemas.microsoft.com/office/drawing/2014/main" id="{94C23512-6D7A-A658-13C6-EAD76ED075B5}"/>
                </a:ext>
              </a:extLst>
            </p:cNvPr>
            <p:cNvSpPr txBox="1"/>
            <p:nvPr/>
          </p:nvSpPr>
          <p:spPr>
            <a:xfrm>
              <a:off x="2944368" y="2240279"/>
              <a:ext cx="1536192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342C"/>
                  </a:solidFill>
                </a:rPr>
                <a:t>Rule matcher</a:t>
              </a:r>
            </a:p>
          </p:txBody>
        </p:sp>
        <p:sp>
          <p:nvSpPr>
            <p:cNvPr id="193" name="Rule matcher_sub">
              <a:extLst>
                <a:ext uri="{FF2B5EF4-FFF2-40B4-BE49-F238E27FC236}">
                  <a16:creationId xmlns:a16="http://schemas.microsoft.com/office/drawing/2014/main" id="{B47576DB-7EF2-82EA-01AF-EAFABA480939}"/>
                </a:ext>
              </a:extLst>
            </p:cNvPr>
            <p:cNvSpPr txBox="1"/>
            <p:nvPr/>
          </p:nvSpPr>
          <p:spPr>
            <a:xfrm>
              <a:off x="2944368" y="2441448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085041"/>
                  </a:solidFill>
                </a:rPr>
                <a:t>Vector search · ChromaDB</a:t>
              </a:r>
            </a:p>
          </p:txBody>
        </p:sp>
        <p:cxnSp>
          <p:nvCxnSpPr>
            <p:cNvPr id="194" name="conn">
              <a:extLst>
                <a:ext uri="{FF2B5EF4-FFF2-40B4-BE49-F238E27FC236}">
                  <a16:creationId xmlns:a16="http://schemas.microsoft.com/office/drawing/2014/main" id="{25903B40-284F-F4C3-7318-27B65CF621B2}"/>
                </a:ext>
              </a:extLst>
            </p:cNvPr>
            <p:cNvCxnSpPr/>
            <p:nvPr/>
          </p:nvCxnSpPr>
          <p:spPr>
            <a:xfrm>
              <a:off x="4572000" y="2432304"/>
              <a:ext cx="128015" cy="0"/>
            </a:xfrm>
            <a:prstGeom prst="line">
              <a:avLst/>
            </a:prstGeom>
            <a:noFill/>
            <a:ln w="15240">
              <a:solidFill>
                <a:srgbClr val="1D9E75"/>
              </a:solidFill>
              <a:tailEnd type="arrow"/>
            </a:ln>
          </p:spPr>
        </p:cxnSp>
        <p:sp>
          <p:nvSpPr>
            <p:cNvPr id="195" name="Health scorer_bg">
              <a:extLst>
                <a:ext uri="{FF2B5EF4-FFF2-40B4-BE49-F238E27FC236}">
                  <a16:creationId xmlns:a16="http://schemas.microsoft.com/office/drawing/2014/main" id="{83D78813-4A37-E399-3E3C-26D450451C46}"/>
                </a:ext>
              </a:extLst>
            </p:cNvPr>
            <p:cNvSpPr/>
            <p:nvPr/>
          </p:nvSpPr>
          <p:spPr>
            <a:xfrm>
              <a:off x="4700016" y="2194560"/>
              <a:ext cx="1719072" cy="4754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96" name="Health scorer_top">
              <a:extLst>
                <a:ext uri="{FF2B5EF4-FFF2-40B4-BE49-F238E27FC236}">
                  <a16:creationId xmlns:a16="http://schemas.microsoft.com/office/drawing/2014/main" id="{CFD476F1-F8AA-F0EA-77AF-DF83D506CB42}"/>
                </a:ext>
              </a:extLst>
            </p:cNvPr>
            <p:cNvSpPr/>
            <p:nvPr/>
          </p:nvSpPr>
          <p:spPr>
            <a:xfrm>
              <a:off x="4700016" y="2194560"/>
              <a:ext cx="1719072" cy="50292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97" name="Health scorer_title">
              <a:extLst>
                <a:ext uri="{FF2B5EF4-FFF2-40B4-BE49-F238E27FC236}">
                  <a16:creationId xmlns:a16="http://schemas.microsoft.com/office/drawing/2014/main" id="{004FB6C5-6FED-620E-DBDD-FACD7D6DE40B}"/>
                </a:ext>
              </a:extLst>
            </p:cNvPr>
            <p:cNvSpPr txBox="1"/>
            <p:nvPr/>
          </p:nvSpPr>
          <p:spPr>
            <a:xfrm>
              <a:off x="4791455" y="2240279"/>
              <a:ext cx="1536192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342C"/>
                  </a:solidFill>
                </a:rPr>
                <a:t>Health scorer</a:t>
              </a:r>
            </a:p>
          </p:txBody>
        </p:sp>
        <p:sp>
          <p:nvSpPr>
            <p:cNvPr id="198" name="Health scorer_sub">
              <a:extLst>
                <a:ext uri="{FF2B5EF4-FFF2-40B4-BE49-F238E27FC236}">
                  <a16:creationId xmlns:a16="http://schemas.microsoft.com/office/drawing/2014/main" id="{496CCC41-E22E-FA96-BEAA-2D3D09413EF8}"/>
                </a:ext>
              </a:extLst>
            </p:cNvPr>
            <p:cNvSpPr txBox="1"/>
            <p:nvPr/>
          </p:nvSpPr>
          <p:spPr>
            <a:xfrm>
              <a:off x="4791455" y="2441448"/>
              <a:ext cx="1554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085041"/>
                  </a:solidFill>
                </a:rPr>
                <a:t>0–100 weighted</a:t>
              </a:r>
            </a:p>
          </p:txBody>
        </p:sp>
        <p:cxnSp>
          <p:nvCxnSpPr>
            <p:cNvPr id="199" name="conn">
              <a:extLst>
                <a:ext uri="{FF2B5EF4-FFF2-40B4-BE49-F238E27FC236}">
                  <a16:creationId xmlns:a16="http://schemas.microsoft.com/office/drawing/2014/main" id="{59999371-9994-E5FD-815F-1D2F372E93AB}"/>
                </a:ext>
              </a:extLst>
            </p:cNvPr>
            <p:cNvCxnSpPr/>
            <p:nvPr/>
          </p:nvCxnSpPr>
          <p:spPr>
            <a:xfrm>
              <a:off x="6419088" y="2432304"/>
              <a:ext cx="128016" cy="0"/>
            </a:xfrm>
            <a:prstGeom prst="line">
              <a:avLst/>
            </a:prstGeom>
            <a:noFill/>
            <a:ln w="15240">
              <a:solidFill>
                <a:srgbClr val="1D9E75"/>
              </a:solidFill>
              <a:tailEnd type="arrow"/>
            </a:ln>
          </p:spPr>
        </p:cxnSp>
        <p:sp>
          <p:nvSpPr>
            <p:cNvPr id="200" name="Report gen._bg">
              <a:extLst>
                <a:ext uri="{FF2B5EF4-FFF2-40B4-BE49-F238E27FC236}">
                  <a16:creationId xmlns:a16="http://schemas.microsoft.com/office/drawing/2014/main" id="{E3EAD789-299C-E04A-8C1B-DC1D3353710D}"/>
                </a:ext>
              </a:extLst>
            </p:cNvPr>
            <p:cNvSpPr/>
            <p:nvPr/>
          </p:nvSpPr>
          <p:spPr>
            <a:xfrm>
              <a:off x="6547104" y="2194560"/>
              <a:ext cx="1225296" cy="4754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01" name="Report gen._top">
              <a:extLst>
                <a:ext uri="{FF2B5EF4-FFF2-40B4-BE49-F238E27FC236}">
                  <a16:creationId xmlns:a16="http://schemas.microsoft.com/office/drawing/2014/main" id="{42DF8844-30E6-68E0-8459-F74DEE73FE0E}"/>
                </a:ext>
              </a:extLst>
            </p:cNvPr>
            <p:cNvSpPr/>
            <p:nvPr/>
          </p:nvSpPr>
          <p:spPr>
            <a:xfrm>
              <a:off x="6547104" y="2194560"/>
              <a:ext cx="1225296" cy="50292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02" name="Report gen._title">
              <a:extLst>
                <a:ext uri="{FF2B5EF4-FFF2-40B4-BE49-F238E27FC236}">
                  <a16:creationId xmlns:a16="http://schemas.microsoft.com/office/drawing/2014/main" id="{53677B9A-AF70-D917-14B4-6EC0E17C0FFE}"/>
                </a:ext>
              </a:extLst>
            </p:cNvPr>
            <p:cNvSpPr txBox="1"/>
            <p:nvPr/>
          </p:nvSpPr>
          <p:spPr>
            <a:xfrm>
              <a:off x="6638544" y="2240279"/>
              <a:ext cx="1042416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342C"/>
                  </a:solidFill>
                </a:rPr>
                <a:t>Report gen.</a:t>
              </a:r>
            </a:p>
          </p:txBody>
        </p:sp>
        <p:sp>
          <p:nvSpPr>
            <p:cNvPr id="203" name="Report gen._sub">
              <a:extLst>
                <a:ext uri="{FF2B5EF4-FFF2-40B4-BE49-F238E27FC236}">
                  <a16:creationId xmlns:a16="http://schemas.microsoft.com/office/drawing/2014/main" id="{1CE06EAD-2E18-1BE5-A256-4D38793D9B32}"/>
                </a:ext>
              </a:extLst>
            </p:cNvPr>
            <p:cNvSpPr txBox="1"/>
            <p:nvPr/>
          </p:nvSpPr>
          <p:spPr>
            <a:xfrm>
              <a:off x="6638544" y="2441448"/>
              <a:ext cx="10607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085041"/>
                  </a:solidFill>
                </a:rPr>
                <a:t>JSON / text</a:t>
              </a:r>
            </a:p>
          </p:txBody>
        </p:sp>
      </p:grpSp>
      <p:cxnSp>
        <p:nvCxnSpPr>
          <p:cNvPr id="204" name="conn">
            <a:extLst>
              <a:ext uri="{FF2B5EF4-FFF2-40B4-BE49-F238E27FC236}">
                <a16:creationId xmlns:a16="http://schemas.microsoft.com/office/drawing/2014/main" id="{0DB269D6-ED46-4507-7331-6F05BDDBF1FD}"/>
              </a:ext>
            </a:extLst>
          </p:cNvPr>
          <p:cNvCxnSpPr>
            <a:cxnSpLocks/>
          </p:cNvCxnSpPr>
          <p:nvPr/>
        </p:nvCxnSpPr>
        <p:spPr>
          <a:xfrm>
            <a:off x="4307614" y="3799146"/>
            <a:ext cx="0" cy="97109"/>
          </a:xfrm>
          <a:prstGeom prst="line">
            <a:avLst/>
          </a:prstGeom>
          <a:noFill/>
          <a:ln w="12700">
            <a:solidFill>
              <a:srgbClr val="1D9E75"/>
            </a:solidFill>
            <a:tailEnd type="arrow"/>
          </a:ln>
        </p:spPr>
      </p:cxnSp>
      <p:grpSp>
        <p:nvGrpSpPr>
          <p:cNvPr id="205" name="GROUP_vector_db">
            <a:extLst>
              <a:ext uri="{FF2B5EF4-FFF2-40B4-BE49-F238E27FC236}">
                <a16:creationId xmlns:a16="http://schemas.microsoft.com/office/drawing/2014/main" id="{99F3A35B-9018-FD83-D25C-3979ED044916}"/>
              </a:ext>
            </a:extLst>
          </p:cNvPr>
          <p:cNvGrpSpPr/>
          <p:nvPr/>
        </p:nvGrpSpPr>
        <p:grpSpPr>
          <a:xfrm>
            <a:off x="823750" y="3923540"/>
            <a:ext cx="4606747" cy="846917"/>
            <a:chOff x="228600" y="2871216"/>
            <a:chExt cx="4187952" cy="749808"/>
          </a:xfrm>
        </p:grpSpPr>
        <p:sp>
          <p:nvSpPr>
            <p:cNvPr id="206" name="shape">
              <a:extLst>
                <a:ext uri="{FF2B5EF4-FFF2-40B4-BE49-F238E27FC236}">
                  <a16:creationId xmlns:a16="http://schemas.microsoft.com/office/drawing/2014/main" id="{E5083934-E48B-06A5-4260-6D5F8AB78255}"/>
                </a:ext>
              </a:extLst>
            </p:cNvPr>
            <p:cNvSpPr/>
            <p:nvPr/>
          </p:nvSpPr>
          <p:spPr>
            <a:xfrm>
              <a:off x="228600" y="2871216"/>
              <a:ext cx="4187952" cy="749808"/>
            </a:xfrm>
            <a:prstGeom prst="rect">
              <a:avLst/>
            </a:prstGeom>
            <a:solidFill>
              <a:srgbClr val="FAEEDA"/>
            </a:solidFill>
            <a:ln w="9525">
              <a:solidFill>
                <a:srgbClr val="BA751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07" name="shape">
              <a:extLst>
                <a:ext uri="{FF2B5EF4-FFF2-40B4-BE49-F238E27FC236}">
                  <a16:creationId xmlns:a16="http://schemas.microsoft.com/office/drawing/2014/main" id="{DB52A7BE-94D5-F3DE-3B1D-593477FEDEF0}"/>
                </a:ext>
              </a:extLst>
            </p:cNvPr>
            <p:cNvSpPr/>
            <p:nvPr/>
          </p:nvSpPr>
          <p:spPr>
            <a:xfrm>
              <a:off x="228600" y="2871216"/>
              <a:ext cx="4187952" cy="59436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08" name="shape">
              <a:extLst>
                <a:ext uri="{FF2B5EF4-FFF2-40B4-BE49-F238E27FC236}">
                  <a16:creationId xmlns:a16="http://schemas.microsoft.com/office/drawing/2014/main" id="{D442AFB2-9D54-481A-58E9-A2E20F3AA2A9}"/>
                </a:ext>
              </a:extLst>
            </p:cNvPr>
            <p:cNvSpPr/>
            <p:nvPr/>
          </p:nvSpPr>
          <p:spPr>
            <a:xfrm>
              <a:off x="320040" y="2944368"/>
              <a:ext cx="658368" cy="603503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09" name="text">
              <a:extLst>
                <a:ext uri="{FF2B5EF4-FFF2-40B4-BE49-F238E27FC236}">
                  <a16:creationId xmlns:a16="http://schemas.microsoft.com/office/drawing/2014/main" id="{507FEA81-1F46-C07F-04C6-C841E76C9637}"/>
                </a:ext>
              </a:extLst>
            </p:cNvPr>
            <p:cNvSpPr txBox="1"/>
            <p:nvPr/>
          </p:nvSpPr>
          <p:spPr>
            <a:xfrm>
              <a:off x="320040" y="2944367"/>
              <a:ext cx="658368" cy="6383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Vector
DB</a:t>
              </a:r>
            </a:p>
          </p:txBody>
        </p:sp>
        <p:sp>
          <p:nvSpPr>
            <p:cNvPr id="210" name="ChromaDB_bg">
              <a:extLst>
                <a:ext uri="{FF2B5EF4-FFF2-40B4-BE49-F238E27FC236}">
                  <a16:creationId xmlns:a16="http://schemas.microsoft.com/office/drawing/2014/main" id="{68543404-4322-96BB-AC34-ADF49E95383A}"/>
                </a:ext>
              </a:extLst>
            </p:cNvPr>
            <p:cNvSpPr/>
            <p:nvPr/>
          </p:nvSpPr>
          <p:spPr>
            <a:xfrm>
              <a:off x="1005840" y="2953512"/>
              <a:ext cx="1591056" cy="6292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A7517"/>
              </a:solidFill>
            </a:ln>
          </p:spPr>
          <p:txBody>
            <a:bodyPr/>
            <a:lstStyle/>
            <a:p>
              <a:endParaRPr lang="en-US" sz="2800" dirty="0"/>
            </a:p>
          </p:txBody>
        </p:sp>
        <p:sp>
          <p:nvSpPr>
            <p:cNvPr id="211" name="ChromaDB_top">
              <a:extLst>
                <a:ext uri="{FF2B5EF4-FFF2-40B4-BE49-F238E27FC236}">
                  <a16:creationId xmlns:a16="http://schemas.microsoft.com/office/drawing/2014/main" id="{222407F1-3273-D4D6-7161-C56F5C4CE162}"/>
                </a:ext>
              </a:extLst>
            </p:cNvPr>
            <p:cNvSpPr/>
            <p:nvPr/>
          </p:nvSpPr>
          <p:spPr>
            <a:xfrm>
              <a:off x="1005840" y="2953512"/>
              <a:ext cx="1591056" cy="50292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12" name="ChromaDB_title">
              <a:extLst>
                <a:ext uri="{FF2B5EF4-FFF2-40B4-BE49-F238E27FC236}">
                  <a16:creationId xmlns:a16="http://schemas.microsoft.com/office/drawing/2014/main" id="{6128920E-1593-5DEF-2E6C-AC54B2058F59}"/>
                </a:ext>
              </a:extLst>
            </p:cNvPr>
            <p:cNvSpPr txBox="1"/>
            <p:nvPr/>
          </p:nvSpPr>
          <p:spPr>
            <a:xfrm>
              <a:off x="1097280" y="2999232"/>
              <a:ext cx="1408176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412402"/>
                  </a:solidFill>
                </a:rPr>
                <a:t>ChromaDB</a:t>
              </a:r>
            </a:p>
          </p:txBody>
        </p:sp>
        <p:sp>
          <p:nvSpPr>
            <p:cNvPr id="213" name="ChromaDB_sub">
              <a:extLst>
                <a:ext uri="{FF2B5EF4-FFF2-40B4-BE49-F238E27FC236}">
                  <a16:creationId xmlns:a16="http://schemas.microsoft.com/office/drawing/2014/main" id="{6FF94B7C-02EB-B34E-D746-9A4694629237}"/>
                </a:ext>
              </a:extLst>
            </p:cNvPr>
            <p:cNvSpPr txBox="1"/>
            <p:nvPr/>
          </p:nvSpPr>
          <p:spPr>
            <a:xfrm>
              <a:off x="1097280" y="3171278"/>
              <a:ext cx="1426464" cy="3017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900" b="0" dirty="0">
                  <a:solidFill>
                    <a:srgbClr val="633806"/>
                  </a:solidFill>
                </a:rPr>
                <a:t>Cosine similarity
Persistent storage
Auto-refresh</a:t>
              </a:r>
            </a:p>
          </p:txBody>
        </p:sp>
        <p:sp>
          <p:nvSpPr>
            <p:cNvPr id="214" name="Security · 10 rules_pill">
              <a:extLst>
                <a:ext uri="{FF2B5EF4-FFF2-40B4-BE49-F238E27FC236}">
                  <a16:creationId xmlns:a16="http://schemas.microsoft.com/office/drawing/2014/main" id="{6BF1657E-946A-FEDE-A380-6818DE191BA1}"/>
                </a:ext>
              </a:extLst>
            </p:cNvPr>
            <p:cNvSpPr/>
            <p:nvPr/>
          </p:nvSpPr>
          <p:spPr>
            <a:xfrm>
              <a:off x="2724912" y="2971800"/>
              <a:ext cx="1572768" cy="155448"/>
            </a:xfrm>
            <a:prstGeom prst="rect">
              <a:avLst/>
            </a:prstGeom>
            <a:solidFill>
              <a:srgbClr val="E24B4A"/>
            </a:solidFill>
            <a:ln w="0">
              <a:solidFill>
                <a:srgbClr val="E24B4A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15" name="Security · 10 rules_ptxt">
              <a:extLst>
                <a:ext uri="{FF2B5EF4-FFF2-40B4-BE49-F238E27FC236}">
                  <a16:creationId xmlns:a16="http://schemas.microsoft.com/office/drawing/2014/main" id="{30CC34C7-E6E9-2234-4E65-4922C92B3500}"/>
                </a:ext>
              </a:extLst>
            </p:cNvPr>
            <p:cNvSpPr txBox="1"/>
            <p:nvPr/>
          </p:nvSpPr>
          <p:spPr>
            <a:xfrm>
              <a:off x="2724912" y="2971800"/>
              <a:ext cx="157276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Security · 10 rules</a:t>
              </a:r>
            </a:p>
          </p:txBody>
        </p:sp>
        <p:sp>
          <p:nvSpPr>
            <p:cNvPr id="216" name="Design · 8 rules_pill">
              <a:extLst>
                <a:ext uri="{FF2B5EF4-FFF2-40B4-BE49-F238E27FC236}">
                  <a16:creationId xmlns:a16="http://schemas.microsoft.com/office/drawing/2014/main" id="{F0722D3C-5BD0-48F6-F402-62F919F1EECD}"/>
                </a:ext>
              </a:extLst>
            </p:cNvPr>
            <p:cNvSpPr/>
            <p:nvPr/>
          </p:nvSpPr>
          <p:spPr>
            <a:xfrm>
              <a:off x="2724912" y="3154680"/>
              <a:ext cx="1572768" cy="155448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17" name="Design · 8 rules_ptxt">
              <a:extLst>
                <a:ext uri="{FF2B5EF4-FFF2-40B4-BE49-F238E27FC236}">
                  <a16:creationId xmlns:a16="http://schemas.microsoft.com/office/drawing/2014/main" id="{517B9BED-5735-60A1-93ED-A76260F04BEC}"/>
                </a:ext>
              </a:extLst>
            </p:cNvPr>
            <p:cNvSpPr txBox="1"/>
            <p:nvPr/>
          </p:nvSpPr>
          <p:spPr>
            <a:xfrm>
              <a:off x="2724912" y="3154680"/>
              <a:ext cx="157276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Design · 8 rules</a:t>
              </a:r>
            </a:p>
          </p:txBody>
        </p:sp>
        <p:sp>
          <p:nvSpPr>
            <p:cNvPr id="218" name="Errors / Docs / Gov · 4+3+4_pill">
              <a:extLst>
                <a:ext uri="{FF2B5EF4-FFF2-40B4-BE49-F238E27FC236}">
                  <a16:creationId xmlns:a16="http://schemas.microsoft.com/office/drawing/2014/main" id="{C80664FA-3ABF-3D06-C03E-DD380FEC765E}"/>
                </a:ext>
              </a:extLst>
            </p:cNvPr>
            <p:cNvSpPr/>
            <p:nvPr/>
          </p:nvSpPr>
          <p:spPr>
            <a:xfrm>
              <a:off x="2724912" y="3337560"/>
              <a:ext cx="1572768" cy="155448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19" name="Errors / Docs / Gov · 4+3+4_ptxt">
              <a:extLst>
                <a:ext uri="{FF2B5EF4-FFF2-40B4-BE49-F238E27FC236}">
                  <a16:creationId xmlns:a16="http://schemas.microsoft.com/office/drawing/2014/main" id="{AC6DC067-B86D-26F7-D4A6-31FE202D8047}"/>
                </a:ext>
              </a:extLst>
            </p:cNvPr>
            <p:cNvSpPr txBox="1"/>
            <p:nvPr/>
          </p:nvSpPr>
          <p:spPr>
            <a:xfrm>
              <a:off x="2724912" y="3337560"/>
              <a:ext cx="1572768" cy="1554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Errors / Docs / Gov · 4+3+4</a:t>
              </a:r>
            </a:p>
          </p:txBody>
        </p:sp>
      </p:grpSp>
      <p:grpSp>
        <p:nvGrpSpPr>
          <p:cNvPr id="220" name="GROUP_rule_ingest">
            <a:extLst>
              <a:ext uri="{FF2B5EF4-FFF2-40B4-BE49-F238E27FC236}">
                <a16:creationId xmlns:a16="http://schemas.microsoft.com/office/drawing/2014/main" id="{5932FEF1-2B0D-ECAF-D5A5-876D21506DD2}"/>
              </a:ext>
            </a:extLst>
          </p:cNvPr>
          <p:cNvGrpSpPr/>
          <p:nvPr/>
        </p:nvGrpSpPr>
        <p:grpSpPr>
          <a:xfrm>
            <a:off x="5715947" y="3998421"/>
            <a:ext cx="4707331" cy="718837"/>
            <a:chOff x="4636008" y="2871216"/>
            <a:chExt cx="4279392" cy="749808"/>
          </a:xfrm>
        </p:grpSpPr>
        <p:sp>
          <p:nvSpPr>
            <p:cNvPr id="221" name="shape">
              <a:extLst>
                <a:ext uri="{FF2B5EF4-FFF2-40B4-BE49-F238E27FC236}">
                  <a16:creationId xmlns:a16="http://schemas.microsoft.com/office/drawing/2014/main" id="{5840EEE9-2F47-17A6-498F-1CA2450E445B}"/>
                </a:ext>
              </a:extLst>
            </p:cNvPr>
            <p:cNvSpPr/>
            <p:nvPr/>
          </p:nvSpPr>
          <p:spPr>
            <a:xfrm>
              <a:off x="4636008" y="2871216"/>
              <a:ext cx="4279392" cy="749808"/>
            </a:xfrm>
            <a:prstGeom prst="rect">
              <a:avLst/>
            </a:prstGeom>
            <a:solidFill>
              <a:srgbClr val="FAECE7"/>
            </a:solidFill>
            <a:ln w="9525">
              <a:solidFill>
                <a:srgbClr val="993C1D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22" name="shape">
              <a:extLst>
                <a:ext uri="{FF2B5EF4-FFF2-40B4-BE49-F238E27FC236}">
                  <a16:creationId xmlns:a16="http://schemas.microsoft.com/office/drawing/2014/main" id="{FC9288F5-7532-B31A-30EA-4C92F43060CC}"/>
                </a:ext>
              </a:extLst>
            </p:cNvPr>
            <p:cNvSpPr/>
            <p:nvPr/>
          </p:nvSpPr>
          <p:spPr>
            <a:xfrm>
              <a:off x="4636008" y="2871216"/>
              <a:ext cx="4279392" cy="5943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23" name="shape">
              <a:extLst>
                <a:ext uri="{FF2B5EF4-FFF2-40B4-BE49-F238E27FC236}">
                  <a16:creationId xmlns:a16="http://schemas.microsoft.com/office/drawing/2014/main" id="{8888874F-264E-598A-0230-5CBBB73CE786}"/>
                </a:ext>
              </a:extLst>
            </p:cNvPr>
            <p:cNvSpPr/>
            <p:nvPr/>
          </p:nvSpPr>
          <p:spPr>
            <a:xfrm>
              <a:off x="4727448" y="2944368"/>
              <a:ext cx="658368" cy="603503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24" name="text">
              <a:extLst>
                <a:ext uri="{FF2B5EF4-FFF2-40B4-BE49-F238E27FC236}">
                  <a16:creationId xmlns:a16="http://schemas.microsoft.com/office/drawing/2014/main" id="{00036309-F086-21FA-F37C-AC1A2CF0E2C4}"/>
                </a:ext>
              </a:extLst>
            </p:cNvPr>
            <p:cNvSpPr txBox="1"/>
            <p:nvPr/>
          </p:nvSpPr>
          <p:spPr>
            <a:xfrm>
              <a:off x="4727448" y="2944368"/>
              <a:ext cx="658368" cy="6035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Rule
ingest</a:t>
              </a:r>
            </a:p>
          </p:txBody>
        </p:sp>
        <p:sp>
          <p:nvSpPr>
            <p:cNvPr id="225" name="Web scraper_bg">
              <a:extLst>
                <a:ext uri="{FF2B5EF4-FFF2-40B4-BE49-F238E27FC236}">
                  <a16:creationId xmlns:a16="http://schemas.microsoft.com/office/drawing/2014/main" id="{A9EAADAF-04E2-9EB4-005B-23F7AD57F667}"/>
                </a:ext>
              </a:extLst>
            </p:cNvPr>
            <p:cNvSpPr/>
            <p:nvPr/>
          </p:nvSpPr>
          <p:spPr>
            <a:xfrm>
              <a:off x="5504688" y="2953512"/>
              <a:ext cx="1591056" cy="5943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93C1D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26" name="Web scraper_top">
              <a:extLst>
                <a:ext uri="{FF2B5EF4-FFF2-40B4-BE49-F238E27FC236}">
                  <a16:creationId xmlns:a16="http://schemas.microsoft.com/office/drawing/2014/main" id="{A66E9750-28D7-BD02-A958-ED411A9226A3}"/>
                </a:ext>
              </a:extLst>
            </p:cNvPr>
            <p:cNvSpPr/>
            <p:nvPr/>
          </p:nvSpPr>
          <p:spPr>
            <a:xfrm>
              <a:off x="5504688" y="2953512"/>
              <a:ext cx="1591056" cy="50292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27" name="Web scraper_title">
              <a:extLst>
                <a:ext uri="{FF2B5EF4-FFF2-40B4-BE49-F238E27FC236}">
                  <a16:creationId xmlns:a16="http://schemas.microsoft.com/office/drawing/2014/main" id="{1514B811-D1A2-BCF5-8233-4528D84E8325}"/>
                </a:ext>
              </a:extLst>
            </p:cNvPr>
            <p:cNvSpPr txBox="1"/>
            <p:nvPr/>
          </p:nvSpPr>
          <p:spPr>
            <a:xfrm>
              <a:off x="5596127" y="2999232"/>
              <a:ext cx="1408176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4A1B0C"/>
                  </a:solidFill>
                </a:rPr>
                <a:t>Web scraper</a:t>
              </a:r>
            </a:p>
          </p:txBody>
        </p:sp>
        <p:sp>
          <p:nvSpPr>
            <p:cNvPr id="228" name="Web scraper_sub">
              <a:extLst>
                <a:ext uri="{FF2B5EF4-FFF2-40B4-BE49-F238E27FC236}">
                  <a16:creationId xmlns:a16="http://schemas.microsoft.com/office/drawing/2014/main" id="{B6CA8934-044A-5FD5-6F66-F9EF89728176}"/>
                </a:ext>
              </a:extLst>
            </p:cNvPr>
            <p:cNvSpPr txBox="1"/>
            <p:nvPr/>
          </p:nvSpPr>
          <p:spPr>
            <a:xfrm>
              <a:off x="5596127" y="3180946"/>
              <a:ext cx="1426464" cy="3017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712B13"/>
                  </a:solidFill>
                </a:rPr>
                <a:t>OWASP Top 10
OpenAPI · RFC 7807</a:t>
              </a:r>
            </a:p>
          </p:txBody>
        </p:sp>
        <p:sp>
          <p:nvSpPr>
            <p:cNvPr id="229" name="Scheduler_bg">
              <a:extLst>
                <a:ext uri="{FF2B5EF4-FFF2-40B4-BE49-F238E27FC236}">
                  <a16:creationId xmlns:a16="http://schemas.microsoft.com/office/drawing/2014/main" id="{CE439B3E-806D-50ED-44FA-27F69F9A798C}"/>
                </a:ext>
              </a:extLst>
            </p:cNvPr>
            <p:cNvSpPr/>
            <p:nvPr/>
          </p:nvSpPr>
          <p:spPr>
            <a:xfrm>
              <a:off x="7223760" y="2953512"/>
              <a:ext cx="1591056" cy="59435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93C1D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30" name="Scheduler_top">
              <a:extLst>
                <a:ext uri="{FF2B5EF4-FFF2-40B4-BE49-F238E27FC236}">
                  <a16:creationId xmlns:a16="http://schemas.microsoft.com/office/drawing/2014/main" id="{504E5E87-3B55-788C-5B8E-E4BCA79BB7A7}"/>
                </a:ext>
              </a:extLst>
            </p:cNvPr>
            <p:cNvSpPr/>
            <p:nvPr/>
          </p:nvSpPr>
          <p:spPr>
            <a:xfrm>
              <a:off x="7223760" y="2953512"/>
              <a:ext cx="1591056" cy="50292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31" name="Scheduler_title">
              <a:extLst>
                <a:ext uri="{FF2B5EF4-FFF2-40B4-BE49-F238E27FC236}">
                  <a16:creationId xmlns:a16="http://schemas.microsoft.com/office/drawing/2014/main" id="{65D760F0-D081-F57A-A282-B160EB516782}"/>
                </a:ext>
              </a:extLst>
            </p:cNvPr>
            <p:cNvSpPr txBox="1"/>
            <p:nvPr/>
          </p:nvSpPr>
          <p:spPr>
            <a:xfrm>
              <a:off x="7315200" y="2999232"/>
              <a:ext cx="1408176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4A1B0C"/>
                  </a:solidFill>
                </a:rPr>
                <a:t>Scheduler</a:t>
              </a:r>
            </a:p>
          </p:txBody>
        </p:sp>
        <p:sp>
          <p:nvSpPr>
            <p:cNvPr id="232" name="Scheduler_sub">
              <a:extLst>
                <a:ext uri="{FF2B5EF4-FFF2-40B4-BE49-F238E27FC236}">
                  <a16:creationId xmlns:a16="http://schemas.microsoft.com/office/drawing/2014/main" id="{006CFB26-B933-C2A6-B2DA-F9CC63C7CBDA}"/>
                </a:ext>
              </a:extLst>
            </p:cNvPr>
            <p:cNvSpPr txBox="1"/>
            <p:nvPr/>
          </p:nvSpPr>
          <p:spPr>
            <a:xfrm>
              <a:off x="7315200" y="3200400"/>
              <a:ext cx="1426464" cy="3017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712B13"/>
                  </a:solidFill>
                </a:rPr>
                <a:t>Weekly auto-refresh
Manual trigger</a:t>
              </a:r>
            </a:p>
          </p:txBody>
        </p:sp>
      </p:grpSp>
      <p:cxnSp>
        <p:nvCxnSpPr>
          <p:cNvPr id="233" name="conn">
            <a:extLst>
              <a:ext uri="{FF2B5EF4-FFF2-40B4-BE49-F238E27FC236}">
                <a16:creationId xmlns:a16="http://schemas.microsoft.com/office/drawing/2014/main" id="{8FE183B4-285F-0A94-0011-71D374C9AA75}"/>
              </a:ext>
            </a:extLst>
          </p:cNvPr>
          <p:cNvCxnSpPr>
            <a:cxnSpLocks/>
            <a:stCxn id="221" idx="1"/>
            <a:endCxn id="206" idx="3"/>
          </p:cNvCxnSpPr>
          <p:nvPr/>
        </p:nvCxnSpPr>
        <p:spPr>
          <a:xfrm flipH="1" flipV="1">
            <a:off x="5430497" y="4346999"/>
            <a:ext cx="285450" cy="10841"/>
          </a:xfrm>
          <a:prstGeom prst="line">
            <a:avLst/>
          </a:prstGeom>
          <a:noFill/>
          <a:ln w="15240">
            <a:solidFill>
              <a:srgbClr val="993C1D"/>
            </a:solidFill>
            <a:tailEnd type="arrow"/>
          </a:ln>
        </p:spPr>
      </p:cxnSp>
      <p:cxnSp>
        <p:nvCxnSpPr>
          <p:cNvPr id="236" name="conn">
            <a:extLst>
              <a:ext uri="{FF2B5EF4-FFF2-40B4-BE49-F238E27FC236}">
                <a16:creationId xmlns:a16="http://schemas.microsoft.com/office/drawing/2014/main" id="{A71C28F2-1906-7399-A567-129F13E5316D}"/>
              </a:ext>
            </a:extLst>
          </p:cNvPr>
          <p:cNvCxnSpPr>
            <a:cxnSpLocks/>
          </p:cNvCxnSpPr>
          <p:nvPr/>
        </p:nvCxnSpPr>
        <p:spPr>
          <a:xfrm>
            <a:off x="5167151" y="4799475"/>
            <a:ext cx="0" cy="97109"/>
          </a:xfrm>
          <a:prstGeom prst="line">
            <a:avLst/>
          </a:prstGeom>
          <a:noFill/>
          <a:ln w="15240">
            <a:solidFill>
              <a:srgbClr val="534AB7"/>
            </a:solidFill>
            <a:tailEnd type="arrow"/>
          </a:ln>
        </p:spPr>
      </p:cxnSp>
      <p:grpSp>
        <p:nvGrpSpPr>
          <p:cNvPr id="237" name="GROUP_ai_layer">
            <a:extLst>
              <a:ext uri="{FF2B5EF4-FFF2-40B4-BE49-F238E27FC236}">
                <a16:creationId xmlns:a16="http://schemas.microsoft.com/office/drawing/2014/main" id="{5EFA193A-F087-DD70-B4B4-ACA7004DB881}"/>
              </a:ext>
            </a:extLst>
          </p:cNvPr>
          <p:cNvGrpSpPr/>
          <p:nvPr/>
        </p:nvGrpSpPr>
        <p:grpSpPr>
          <a:xfrm>
            <a:off x="823751" y="4904153"/>
            <a:ext cx="9555480" cy="946813"/>
            <a:chOff x="228600" y="3694176"/>
            <a:chExt cx="8686800" cy="713232"/>
          </a:xfrm>
        </p:grpSpPr>
        <p:sp>
          <p:nvSpPr>
            <p:cNvPr id="238" name="shape">
              <a:extLst>
                <a:ext uri="{FF2B5EF4-FFF2-40B4-BE49-F238E27FC236}">
                  <a16:creationId xmlns:a16="http://schemas.microsoft.com/office/drawing/2014/main" id="{F594D90E-9032-7476-6539-D1847998577E}"/>
                </a:ext>
              </a:extLst>
            </p:cNvPr>
            <p:cNvSpPr/>
            <p:nvPr/>
          </p:nvSpPr>
          <p:spPr>
            <a:xfrm>
              <a:off x="228600" y="3694176"/>
              <a:ext cx="8686800" cy="713232"/>
            </a:xfrm>
            <a:prstGeom prst="rect">
              <a:avLst/>
            </a:prstGeom>
            <a:solidFill>
              <a:srgbClr val="EEEDFE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39" name="shape">
              <a:extLst>
                <a:ext uri="{FF2B5EF4-FFF2-40B4-BE49-F238E27FC236}">
                  <a16:creationId xmlns:a16="http://schemas.microsoft.com/office/drawing/2014/main" id="{79D26787-FFFB-6413-6AF4-EED11307734A}"/>
                </a:ext>
              </a:extLst>
            </p:cNvPr>
            <p:cNvSpPr/>
            <p:nvPr/>
          </p:nvSpPr>
          <p:spPr>
            <a:xfrm>
              <a:off x="228600" y="3694176"/>
              <a:ext cx="8686800" cy="59436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40" name="shape">
              <a:extLst>
                <a:ext uri="{FF2B5EF4-FFF2-40B4-BE49-F238E27FC236}">
                  <a16:creationId xmlns:a16="http://schemas.microsoft.com/office/drawing/2014/main" id="{14D67B58-9BA0-67AC-8EDA-18F2FF97678E}"/>
                </a:ext>
              </a:extLst>
            </p:cNvPr>
            <p:cNvSpPr/>
            <p:nvPr/>
          </p:nvSpPr>
          <p:spPr>
            <a:xfrm>
              <a:off x="320040" y="3767328"/>
              <a:ext cx="658368" cy="566928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41" name="text">
              <a:extLst>
                <a:ext uri="{FF2B5EF4-FFF2-40B4-BE49-F238E27FC236}">
                  <a16:creationId xmlns:a16="http://schemas.microsoft.com/office/drawing/2014/main" id="{F7968D77-2462-B3DD-D71A-B01B4AA43221}"/>
                </a:ext>
              </a:extLst>
            </p:cNvPr>
            <p:cNvSpPr txBox="1"/>
            <p:nvPr/>
          </p:nvSpPr>
          <p:spPr>
            <a:xfrm>
              <a:off x="320040" y="3767328"/>
              <a:ext cx="658368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AI
layer</a:t>
              </a:r>
            </a:p>
          </p:txBody>
        </p:sp>
        <p:sp>
          <p:nvSpPr>
            <p:cNvPr id="242" name="Universal AI agent_bg">
              <a:extLst>
                <a:ext uri="{FF2B5EF4-FFF2-40B4-BE49-F238E27FC236}">
                  <a16:creationId xmlns:a16="http://schemas.microsoft.com/office/drawing/2014/main" id="{906143F7-5663-3623-7B80-C3D06E7A31E5}"/>
                </a:ext>
              </a:extLst>
            </p:cNvPr>
            <p:cNvSpPr/>
            <p:nvPr/>
          </p:nvSpPr>
          <p:spPr>
            <a:xfrm>
              <a:off x="1005840" y="3767328"/>
              <a:ext cx="1920240" cy="5486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43" name="Universal AI agent_top">
              <a:extLst>
                <a:ext uri="{FF2B5EF4-FFF2-40B4-BE49-F238E27FC236}">
                  <a16:creationId xmlns:a16="http://schemas.microsoft.com/office/drawing/2014/main" id="{EF9EF829-F6AF-6422-74B4-7B70161F5417}"/>
                </a:ext>
              </a:extLst>
            </p:cNvPr>
            <p:cNvSpPr/>
            <p:nvPr/>
          </p:nvSpPr>
          <p:spPr>
            <a:xfrm>
              <a:off x="1005840" y="3767328"/>
              <a:ext cx="1920240" cy="50292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44" name="Universal AI agent_title">
              <a:extLst>
                <a:ext uri="{FF2B5EF4-FFF2-40B4-BE49-F238E27FC236}">
                  <a16:creationId xmlns:a16="http://schemas.microsoft.com/office/drawing/2014/main" id="{E732BF8D-2955-6D65-C57F-27D75DBCE21B}"/>
                </a:ext>
              </a:extLst>
            </p:cNvPr>
            <p:cNvSpPr txBox="1"/>
            <p:nvPr/>
          </p:nvSpPr>
          <p:spPr>
            <a:xfrm>
              <a:off x="1097280" y="3813048"/>
              <a:ext cx="1051560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Universal AI agent</a:t>
              </a:r>
            </a:p>
          </p:txBody>
        </p:sp>
        <p:sp>
          <p:nvSpPr>
            <p:cNvPr id="245" name="watson_bg">
              <a:extLst>
                <a:ext uri="{FF2B5EF4-FFF2-40B4-BE49-F238E27FC236}">
                  <a16:creationId xmlns:a16="http://schemas.microsoft.com/office/drawing/2014/main" id="{B2C8D46D-D3D1-52F1-5B4A-D53E27C45B9C}"/>
                </a:ext>
              </a:extLst>
            </p:cNvPr>
            <p:cNvSpPr/>
            <p:nvPr/>
          </p:nvSpPr>
          <p:spPr>
            <a:xfrm>
              <a:off x="2121408" y="3831336"/>
              <a:ext cx="731520" cy="164592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46" name="watson_lbl">
              <a:extLst>
                <a:ext uri="{FF2B5EF4-FFF2-40B4-BE49-F238E27FC236}">
                  <a16:creationId xmlns:a16="http://schemas.microsoft.com/office/drawing/2014/main" id="{01D95F0A-4A35-8254-A523-1EF3718AB88C}"/>
                </a:ext>
              </a:extLst>
            </p:cNvPr>
            <p:cNvSpPr txBox="1"/>
            <p:nvPr/>
          </p:nvSpPr>
          <p:spPr>
            <a:xfrm>
              <a:off x="2121408" y="3831336"/>
              <a:ext cx="7315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watsonx.ai</a:t>
              </a:r>
            </a:p>
          </p:txBody>
        </p:sp>
        <p:sp>
          <p:nvSpPr>
            <p:cNvPr id="247" name="Universal AI agent_sub">
              <a:extLst>
                <a:ext uri="{FF2B5EF4-FFF2-40B4-BE49-F238E27FC236}">
                  <a16:creationId xmlns:a16="http://schemas.microsoft.com/office/drawing/2014/main" id="{067E6AC9-3C0C-D8C8-93F5-3F5A904121F5}"/>
                </a:ext>
              </a:extLst>
            </p:cNvPr>
            <p:cNvSpPr txBox="1"/>
            <p:nvPr/>
          </p:nvSpPr>
          <p:spPr>
            <a:xfrm>
              <a:off x="1097280" y="4014216"/>
              <a:ext cx="1755648" cy="2560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3C3489"/>
                  </a:solidFill>
                </a:rPr>
                <a:t>Multi-LLM · explanations
auto-generated fixes</a:t>
              </a:r>
            </a:p>
          </p:txBody>
        </p:sp>
        <p:cxnSp>
          <p:nvCxnSpPr>
            <p:cNvPr id="248" name="conn">
              <a:extLst>
                <a:ext uri="{FF2B5EF4-FFF2-40B4-BE49-F238E27FC236}">
                  <a16:creationId xmlns:a16="http://schemas.microsoft.com/office/drawing/2014/main" id="{7FE76617-5A5B-B726-6228-EE0AC68E891E}"/>
                </a:ext>
              </a:extLst>
            </p:cNvPr>
            <p:cNvCxnSpPr/>
            <p:nvPr/>
          </p:nvCxnSpPr>
          <p:spPr>
            <a:xfrm>
              <a:off x="2926080" y="4041648"/>
              <a:ext cx="274319" cy="0"/>
            </a:xfrm>
            <a:prstGeom prst="line">
              <a:avLst/>
            </a:prstGeom>
            <a:noFill/>
            <a:ln w="15240">
              <a:solidFill>
                <a:srgbClr val="534AB7"/>
              </a:solidFill>
              <a:tailEnd type="arrow"/>
            </a:ln>
          </p:spPr>
        </p:cxnSp>
        <p:sp>
          <p:nvSpPr>
            <p:cNvPr id="249" name="Orchestrator_bg">
              <a:extLst>
                <a:ext uri="{FF2B5EF4-FFF2-40B4-BE49-F238E27FC236}">
                  <a16:creationId xmlns:a16="http://schemas.microsoft.com/office/drawing/2014/main" id="{C772C790-6DD1-D3A6-33E3-5F5FEFFAF9D2}"/>
                </a:ext>
              </a:extLst>
            </p:cNvPr>
            <p:cNvSpPr/>
            <p:nvPr/>
          </p:nvSpPr>
          <p:spPr>
            <a:xfrm>
              <a:off x="3200400" y="3767328"/>
              <a:ext cx="1389888" cy="5486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50" name="Orchestrator_top">
              <a:extLst>
                <a:ext uri="{FF2B5EF4-FFF2-40B4-BE49-F238E27FC236}">
                  <a16:creationId xmlns:a16="http://schemas.microsoft.com/office/drawing/2014/main" id="{953A149D-0B77-0824-F9C4-647648C546FB}"/>
                </a:ext>
              </a:extLst>
            </p:cNvPr>
            <p:cNvSpPr/>
            <p:nvPr/>
          </p:nvSpPr>
          <p:spPr>
            <a:xfrm>
              <a:off x="3200400" y="3767328"/>
              <a:ext cx="1389888" cy="50292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51" name="Orchestrator_title">
              <a:extLst>
                <a:ext uri="{FF2B5EF4-FFF2-40B4-BE49-F238E27FC236}">
                  <a16:creationId xmlns:a16="http://schemas.microsoft.com/office/drawing/2014/main" id="{55FE47F0-B1F8-B9C0-EF45-39CAC52D3754}"/>
                </a:ext>
              </a:extLst>
            </p:cNvPr>
            <p:cNvSpPr txBox="1"/>
            <p:nvPr/>
          </p:nvSpPr>
          <p:spPr>
            <a:xfrm>
              <a:off x="3291840" y="3813048"/>
              <a:ext cx="1207008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Orchestrator</a:t>
              </a:r>
            </a:p>
          </p:txBody>
        </p:sp>
        <p:sp>
          <p:nvSpPr>
            <p:cNvPr id="252" name="Orchestrator_sub">
              <a:extLst>
                <a:ext uri="{FF2B5EF4-FFF2-40B4-BE49-F238E27FC236}">
                  <a16:creationId xmlns:a16="http://schemas.microsoft.com/office/drawing/2014/main" id="{2E85AA10-80B2-1603-2D41-5D1DF3972B71}"/>
                </a:ext>
              </a:extLst>
            </p:cNvPr>
            <p:cNvSpPr txBox="1"/>
            <p:nvPr/>
          </p:nvSpPr>
          <p:spPr>
            <a:xfrm>
              <a:off x="3291840" y="4014216"/>
              <a:ext cx="1225296" cy="2560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3C3489"/>
                  </a:solidFill>
                </a:rPr>
                <a:t>Parallel exec.
result aggregation</a:t>
              </a:r>
            </a:p>
          </p:txBody>
        </p:sp>
        <p:cxnSp>
          <p:nvCxnSpPr>
            <p:cNvPr id="253" name="conn">
              <a:extLst>
                <a:ext uri="{FF2B5EF4-FFF2-40B4-BE49-F238E27FC236}">
                  <a16:creationId xmlns:a16="http://schemas.microsoft.com/office/drawing/2014/main" id="{EB574F7E-B27B-91C3-1116-BF3FDCEA0EC4}"/>
                </a:ext>
              </a:extLst>
            </p:cNvPr>
            <p:cNvCxnSpPr/>
            <p:nvPr/>
          </p:nvCxnSpPr>
          <p:spPr>
            <a:xfrm>
              <a:off x="4590288" y="4041648"/>
              <a:ext cx="182880" cy="0"/>
            </a:xfrm>
            <a:prstGeom prst="line">
              <a:avLst/>
            </a:prstGeom>
            <a:noFill/>
            <a:ln w="15240">
              <a:solidFill>
                <a:srgbClr val="534AB7"/>
              </a:solidFill>
              <a:tailEnd type="arrow"/>
            </a:ln>
          </p:spPr>
        </p:cxnSp>
        <p:sp>
          <p:nvSpPr>
            <p:cNvPr id="254" name="Security_bg">
              <a:extLst>
                <a:ext uri="{FF2B5EF4-FFF2-40B4-BE49-F238E27FC236}">
                  <a16:creationId xmlns:a16="http://schemas.microsoft.com/office/drawing/2014/main" id="{B97CAB05-BC1A-69BA-A9F9-D4DB4C766DB5}"/>
                </a:ext>
              </a:extLst>
            </p:cNvPr>
            <p:cNvSpPr/>
            <p:nvPr/>
          </p:nvSpPr>
          <p:spPr>
            <a:xfrm>
              <a:off x="4773168" y="3767328"/>
              <a:ext cx="758952" cy="5486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55" name="Security_top">
              <a:extLst>
                <a:ext uri="{FF2B5EF4-FFF2-40B4-BE49-F238E27FC236}">
                  <a16:creationId xmlns:a16="http://schemas.microsoft.com/office/drawing/2014/main" id="{D6FB1A47-58D7-6ACE-81FF-88A141E7B778}"/>
                </a:ext>
              </a:extLst>
            </p:cNvPr>
            <p:cNvSpPr/>
            <p:nvPr/>
          </p:nvSpPr>
          <p:spPr>
            <a:xfrm>
              <a:off x="4773168" y="3767328"/>
              <a:ext cx="758952" cy="50292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56" name="Security_title">
              <a:extLst>
                <a:ext uri="{FF2B5EF4-FFF2-40B4-BE49-F238E27FC236}">
                  <a16:creationId xmlns:a16="http://schemas.microsoft.com/office/drawing/2014/main" id="{BE1ADE09-38AB-5731-B39B-E88DA1AFEB43}"/>
                </a:ext>
              </a:extLst>
            </p:cNvPr>
            <p:cNvSpPr txBox="1"/>
            <p:nvPr/>
          </p:nvSpPr>
          <p:spPr>
            <a:xfrm>
              <a:off x="4864606" y="3949628"/>
              <a:ext cx="627523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Security</a:t>
              </a:r>
            </a:p>
          </p:txBody>
        </p:sp>
        <p:sp>
          <p:nvSpPr>
            <p:cNvPr id="257" name="Design_bg">
              <a:extLst>
                <a:ext uri="{FF2B5EF4-FFF2-40B4-BE49-F238E27FC236}">
                  <a16:creationId xmlns:a16="http://schemas.microsoft.com/office/drawing/2014/main" id="{588B17D6-47F6-2A34-7BCA-B07064DBB0F4}"/>
                </a:ext>
              </a:extLst>
            </p:cNvPr>
            <p:cNvSpPr/>
            <p:nvPr/>
          </p:nvSpPr>
          <p:spPr>
            <a:xfrm>
              <a:off x="5550407" y="3767328"/>
              <a:ext cx="758952" cy="5486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58" name="Design_top">
              <a:extLst>
                <a:ext uri="{FF2B5EF4-FFF2-40B4-BE49-F238E27FC236}">
                  <a16:creationId xmlns:a16="http://schemas.microsoft.com/office/drawing/2014/main" id="{0AF85A36-532E-E2C9-6AE5-9125826466C6}"/>
                </a:ext>
              </a:extLst>
            </p:cNvPr>
            <p:cNvSpPr/>
            <p:nvPr/>
          </p:nvSpPr>
          <p:spPr>
            <a:xfrm>
              <a:off x="5550407" y="3767328"/>
              <a:ext cx="758952" cy="50292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59" name="Design_title">
              <a:extLst>
                <a:ext uri="{FF2B5EF4-FFF2-40B4-BE49-F238E27FC236}">
                  <a16:creationId xmlns:a16="http://schemas.microsoft.com/office/drawing/2014/main" id="{8EA5360D-123E-66A9-D256-00BF5B82AF58}"/>
                </a:ext>
              </a:extLst>
            </p:cNvPr>
            <p:cNvSpPr txBox="1"/>
            <p:nvPr/>
          </p:nvSpPr>
          <p:spPr>
            <a:xfrm>
              <a:off x="5641847" y="3937751"/>
              <a:ext cx="57607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Design</a:t>
              </a:r>
            </a:p>
          </p:txBody>
        </p:sp>
        <p:sp>
          <p:nvSpPr>
            <p:cNvPr id="260" name="Error hdlg._bg">
              <a:extLst>
                <a:ext uri="{FF2B5EF4-FFF2-40B4-BE49-F238E27FC236}">
                  <a16:creationId xmlns:a16="http://schemas.microsoft.com/office/drawing/2014/main" id="{A1AC05B4-4A4B-E674-AF69-FF27B35824D6}"/>
                </a:ext>
              </a:extLst>
            </p:cNvPr>
            <p:cNvSpPr/>
            <p:nvPr/>
          </p:nvSpPr>
          <p:spPr>
            <a:xfrm>
              <a:off x="6327648" y="3767328"/>
              <a:ext cx="758952" cy="5486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1" name="Error hdlg._top">
              <a:extLst>
                <a:ext uri="{FF2B5EF4-FFF2-40B4-BE49-F238E27FC236}">
                  <a16:creationId xmlns:a16="http://schemas.microsoft.com/office/drawing/2014/main" id="{5C21A6EE-ABEF-2AE6-431B-EDCD4918C777}"/>
                </a:ext>
              </a:extLst>
            </p:cNvPr>
            <p:cNvSpPr/>
            <p:nvPr/>
          </p:nvSpPr>
          <p:spPr>
            <a:xfrm>
              <a:off x="6327648" y="3767328"/>
              <a:ext cx="758952" cy="50292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2" name="Error hdlg._title">
              <a:extLst>
                <a:ext uri="{FF2B5EF4-FFF2-40B4-BE49-F238E27FC236}">
                  <a16:creationId xmlns:a16="http://schemas.microsoft.com/office/drawing/2014/main" id="{040DE633-775F-F52C-1A8D-DCA41E30D952}"/>
                </a:ext>
              </a:extLst>
            </p:cNvPr>
            <p:cNvSpPr txBox="1"/>
            <p:nvPr/>
          </p:nvSpPr>
          <p:spPr>
            <a:xfrm>
              <a:off x="6419088" y="3885222"/>
              <a:ext cx="625258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Error handling</a:t>
              </a:r>
            </a:p>
          </p:txBody>
        </p:sp>
        <p:sp>
          <p:nvSpPr>
            <p:cNvPr id="263" name="Docs_bg">
              <a:extLst>
                <a:ext uri="{FF2B5EF4-FFF2-40B4-BE49-F238E27FC236}">
                  <a16:creationId xmlns:a16="http://schemas.microsoft.com/office/drawing/2014/main" id="{07430B3B-79C8-203F-A94A-45F31CC3E927}"/>
                </a:ext>
              </a:extLst>
            </p:cNvPr>
            <p:cNvSpPr/>
            <p:nvPr/>
          </p:nvSpPr>
          <p:spPr>
            <a:xfrm>
              <a:off x="7104888" y="3767328"/>
              <a:ext cx="758952" cy="5486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4" name="Docs_top">
              <a:extLst>
                <a:ext uri="{FF2B5EF4-FFF2-40B4-BE49-F238E27FC236}">
                  <a16:creationId xmlns:a16="http://schemas.microsoft.com/office/drawing/2014/main" id="{C9CBA9CA-069E-0AA5-8DE3-86DE56C9E972}"/>
                </a:ext>
              </a:extLst>
            </p:cNvPr>
            <p:cNvSpPr/>
            <p:nvPr/>
          </p:nvSpPr>
          <p:spPr>
            <a:xfrm>
              <a:off x="7104888" y="3767328"/>
              <a:ext cx="758952" cy="50292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5" name="Docs_title">
              <a:extLst>
                <a:ext uri="{FF2B5EF4-FFF2-40B4-BE49-F238E27FC236}">
                  <a16:creationId xmlns:a16="http://schemas.microsoft.com/office/drawing/2014/main" id="{099AEFE2-2088-4291-5AC7-1199FE58F115}"/>
                </a:ext>
              </a:extLst>
            </p:cNvPr>
            <p:cNvSpPr txBox="1"/>
            <p:nvPr/>
          </p:nvSpPr>
          <p:spPr>
            <a:xfrm>
              <a:off x="7103545" y="3952602"/>
              <a:ext cx="773773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Documents</a:t>
              </a:r>
            </a:p>
          </p:txBody>
        </p:sp>
        <p:sp>
          <p:nvSpPr>
            <p:cNvPr id="266" name="Govern._bg">
              <a:extLst>
                <a:ext uri="{FF2B5EF4-FFF2-40B4-BE49-F238E27FC236}">
                  <a16:creationId xmlns:a16="http://schemas.microsoft.com/office/drawing/2014/main" id="{F545D0C0-3A39-997C-B0CB-710642A65A14}"/>
                </a:ext>
              </a:extLst>
            </p:cNvPr>
            <p:cNvSpPr/>
            <p:nvPr/>
          </p:nvSpPr>
          <p:spPr>
            <a:xfrm>
              <a:off x="7882127" y="3767328"/>
              <a:ext cx="758952" cy="5486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7" name="Govern._top">
              <a:extLst>
                <a:ext uri="{FF2B5EF4-FFF2-40B4-BE49-F238E27FC236}">
                  <a16:creationId xmlns:a16="http://schemas.microsoft.com/office/drawing/2014/main" id="{AEA2F7E7-4665-1E9D-D0C0-64F9C0B2B2C8}"/>
                </a:ext>
              </a:extLst>
            </p:cNvPr>
            <p:cNvSpPr/>
            <p:nvPr/>
          </p:nvSpPr>
          <p:spPr>
            <a:xfrm>
              <a:off x="7882127" y="3767328"/>
              <a:ext cx="758952" cy="50292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8" name="Govern._title">
              <a:extLst>
                <a:ext uri="{FF2B5EF4-FFF2-40B4-BE49-F238E27FC236}">
                  <a16:creationId xmlns:a16="http://schemas.microsoft.com/office/drawing/2014/main" id="{FAC1027E-0AA1-A210-7814-5ADC813FC4EE}"/>
                </a:ext>
              </a:extLst>
            </p:cNvPr>
            <p:cNvSpPr txBox="1"/>
            <p:nvPr/>
          </p:nvSpPr>
          <p:spPr>
            <a:xfrm>
              <a:off x="7853948" y="3955564"/>
              <a:ext cx="822959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Governance</a:t>
              </a:r>
            </a:p>
          </p:txBody>
        </p:sp>
      </p:grpSp>
      <p:cxnSp>
        <p:nvCxnSpPr>
          <p:cNvPr id="269" name="conn">
            <a:extLst>
              <a:ext uri="{FF2B5EF4-FFF2-40B4-BE49-F238E27FC236}">
                <a16:creationId xmlns:a16="http://schemas.microsoft.com/office/drawing/2014/main" id="{78FC3C9B-8BDA-1A83-D94E-93235F10F6FB}"/>
              </a:ext>
            </a:extLst>
          </p:cNvPr>
          <p:cNvCxnSpPr>
            <a:cxnSpLocks/>
          </p:cNvCxnSpPr>
          <p:nvPr/>
        </p:nvCxnSpPr>
        <p:spPr>
          <a:xfrm>
            <a:off x="5707119" y="5849931"/>
            <a:ext cx="0" cy="121385"/>
          </a:xfrm>
          <a:prstGeom prst="line">
            <a:avLst/>
          </a:prstGeom>
          <a:noFill/>
          <a:ln w="15240">
            <a:solidFill>
              <a:srgbClr val="993C1D"/>
            </a:solidFill>
            <a:tailEnd type="arrow"/>
          </a:ln>
        </p:spPr>
      </p:cxnSp>
      <p:grpSp>
        <p:nvGrpSpPr>
          <p:cNvPr id="270" name="GROUP_output">
            <a:extLst>
              <a:ext uri="{FF2B5EF4-FFF2-40B4-BE49-F238E27FC236}">
                <a16:creationId xmlns:a16="http://schemas.microsoft.com/office/drawing/2014/main" id="{877FAFE8-68A8-298A-51EF-F5DD39213960}"/>
              </a:ext>
            </a:extLst>
          </p:cNvPr>
          <p:cNvGrpSpPr/>
          <p:nvPr/>
        </p:nvGrpSpPr>
        <p:grpSpPr>
          <a:xfrm>
            <a:off x="3015157" y="5976834"/>
            <a:ext cx="5029200" cy="485545"/>
            <a:chOff x="2286000" y="4498848"/>
            <a:chExt cx="4572000" cy="365760"/>
          </a:xfrm>
        </p:grpSpPr>
        <p:sp>
          <p:nvSpPr>
            <p:cNvPr id="271" name="shape">
              <a:extLst>
                <a:ext uri="{FF2B5EF4-FFF2-40B4-BE49-F238E27FC236}">
                  <a16:creationId xmlns:a16="http://schemas.microsoft.com/office/drawing/2014/main" id="{24FCEECC-1AA5-6A1B-424C-E1E718A97770}"/>
                </a:ext>
              </a:extLst>
            </p:cNvPr>
            <p:cNvSpPr/>
            <p:nvPr/>
          </p:nvSpPr>
          <p:spPr>
            <a:xfrm>
              <a:off x="2286000" y="4498848"/>
              <a:ext cx="4572000" cy="365760"/>
            </a:xfrm>
            <a:prstGeom prst="rect">
              <a:avLst/>
            </a:prstGeom>
            <a:solidFill>
              <a:srgbClr val="FAECE7"/>
            </a:solidFill>
            <a:ln w="9525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shape">
              <a:extLst>
                <a:ext uri="{FF2B5EF4-FFF2-40B4-BE49-F238E27FC236}">
                  <a16:creationId xmlns:a16="http://schemas.microsoft.com/office/drawing/2014/main" id="{042190F0-E257-07C4-779A-5D105943D694}"/>
                </a:ext>
              </a:extLst>
            </p:cNvPr>
            <p:cNvSpPr/>
            <p:nvPr/>
          </p:nvSpPr>
          <p:spPr>
            <a:xfrm>
              <a:off x="2286000" y="4498848"/>
              <a:ext cx="4572000" cy="50292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text">
              <a:extLst>
                <a:ext uri="{FF2B5EF4-FFF2-40B4-BE49-F238E27FC236}">
                  <a16:creationId xmlns:a16="http://schemas.microsoft.com/office/drawing/2014/main" id="{5B58A69B-3C5F-775C-B7C3-E4CB3DD1500C}"/>
                </a:ext>
              </a:extLst>
            </p:cNvPr>
            <p:cNvSpPr txBox="1"/>
            <p:nvPr/>
          </p:nvSpPr>
          <p:spPr>
            <a:xfrm>
              <a:off x="2286000" y="4517136"/>
              <a:ext cx="4572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100" b="1" dirty="0">
                  <a:solidFill>
                    <a:srgbClr val="4A1B0C"/>
                  </a:solidFill>
                </a:rPr>
                <a:t>Final output  ·  Enhanced health report</a:t>
              </a:r>
            </a:p>
          </p:txBody>
        </p:sp>
        <p:sp>
          <p:nvSpPr>
            <p:cNvPr id="274" name="text">
              <a:extLst>
                <a:ext uri="{FF2B5EF4-FFF2-40B4-BE49-F238E27FC236}">
                  <a16:creationId xmlns:a16="http://schemas.microsoft.com/office/drawing/2014/main" id="{28E89E12-FC29-A727-FB33-DEA71207863E}"/>
                </a:ext>
              </a:extLst>
            </p:cNvPr>
            <p:cNvSpPr txBox="1"/>
            <p:nvPr/>
          </p:nvSpPr>
          <p:spPr>
            <a:xfrm>
              <a:off x="2286000" y="4700016"/>
              <a:ext cx="4572000" cy="128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1000" b="0" dirty="0">
                  <a:solidFill>
                    <a:srgbClr val="712B13"/>
                  </a:solidFill>
                </a:rPr>
                <a:t>Health score · findings · AI explanations · fix code · agent insights · JSON export</a:t>
              </a:r>
            </a:p>
          </p:txBody>
        </p:sp>
      </p:grpSp>
      <p:grpSp>
        <p:nvGrpSpPr>
          <p:cNvPr id="287" name="GROUP_input">
            <a:extLst>
              <a:ext uri="{FF2B5EF4-FFF2-40B4-BE49-F238E27FC236}">
                <a16:creationId xmlns:a16="http://schemas.microsoft.com/office/drawing/2014/main" id="{A9EB8188-9605-A772-B9B5-80071CC6A4D7}"/>
              </a:ext>
            </a:extLst>
          </p:cNvPr>
          <p:cNvGrpSpPr/>
          <p:nvPr/>
        </p:nvGrpSpPr>
        <p:grpSpPr>
          <a:xfrm>
            <a:off x="4149424" y="1002735"/>
            <a:ext cx="2743200" cy="310896"/>
            <a:chOff x="3200400" y="512064"/>
            <a:chExt cx="2743200" cy="310896"/>
          </a:xfrm>
        </p:grpSpPr>
        <p:sp>
          <p:nvSpPr>
            <p:cNvPr id="288" name="shape">
              <a:extLst>
                <a:ext uri="{FF2B5EF4-FFF2-40B4-BE49-F238E27FC236}">
                  <a16:creationId xmlns:a16="http://schemas.microsoft.com/office/drawing/2014/main" id="{C9DACE32-AB71-11DD-CF35-D99B1EC82389}"/>
                </a:ext>
              </a:extLst>
            </p:cNvPr>
            <p:cNvSpPr/>
            <p:nvPr/>
          </p:nvSpPr>
          <p:spPr>
            <a:xfrm>
              <a:off x="3200400" y="512064"/>
              <a:ext cx="2743200" cy="310896"/>
            </a:xfrm>
            <a:prstGeom prst="rect">
              <a:avLst/>
            </a:prstGeom>
            <a:solidFill>
              <a:srgbClr val="D3D1C7"/>
            </a:solidFill>
            <a:ln w="9525">
              <a:solidFill>
                <a:srgbClr val="88878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text">
              <a:extLst>
                <a:ext uri="{FF2B5EF4-FFF2-40B4-BE49-F238E27FC236}">
                  <a16:creationId xmlns:a16="http://schemas.microsoft.com/office/drawing/2014/main" id="{D356824D-C89F-6FF6-C90F-553D970BB2B0}"/>
                </a:ext>
              </a:extLst>
            </p:cNvPr>
            <p:cNvSpPr txBox="1"/>
            <p:nvPr/>
          </p:nvSpPr>
          <p:spPr>
            <a:xfrm>
              <a:off x="3200400" y="512064"/>
              <a:ext cx="274320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/>
            <a:lstStyle/>
            <a:p>
              <a:pPr algn="ctr"/>
              <a:r>
                <a:rPr lang="en-US" sz="900" b="1" dirty="0">
                  <a:solidFill>
                    <a:srgbClr val="2C2C2A"/>
                  </a:solidFill>
                </a:rPr>
                <a:t>OpenAPI 3.x spec  ·  YAML / JSON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201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E560-8174-E681-588B-30FD9521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6CB07D-DCF1-C8F8-9F44-8D60FE2C945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E40EFE-C161-46E4-6887-BE586B06F397}"/>
              </a:ext>
            </a:extLst>
          </p:cNvPr>
          <p:cNvSpPr/>
          <p:nvPr/>
        </p:nvSpPr>
        <p:spPr>
          <a:xfrm>
            <a:off x="-17405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1FF3FA-96AC-0EC9-5FA4-7CF69E1174DE}"/>
              </a:ext>
            </a:extLst>
          </p:cNvPr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39E9A6-EEFA-33BB-274A-05320B7C485F}"/>
              </a:ext>
            </a:extLst>
          </p:cNvPr>
          <p:cNvSpPr/>
          <p:nvPr/>
        </p:nvSpPr>
        <p:spPr>
          <a:xfrm>
            <a:off x="0" y="1172261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046206-03F2-9E38-7553-B3836A7AFAAC}"/>
              </a:ext>
            </a:extLst>
          </p:cNvPr>
          <p:cNvSpPr txBox="1"/>
          <p:nvPr/>
        </p:nvSpPr>
        <p:spPr>
          <a:xfrm>
            <a:off x="571500" y="466344"/>
            <a:ext cx="61652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/>
              <a:t>Business Value/Impact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585AB68-634C-1A80-E3B1-EB3C6E8D4637}"/>
              </a:ext>
            </a:extLst>
          </p:cNvPr>
          <p:cNvSpPr/>
          <p:nvPr/>
        </p:nvSpPr>
        <p:spPr>
          <a:xfrm>
            <a:off x="0" y="6372454"/>
            <a:ext cx="12191695" cy="485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0715DF6-84C7-7A6E-5138-017DCC17FB34}"/>
              </a:ext>
            </a:extLst>
          </p:cNvPr>
          <p:cNvSpPr/>
          <p:nvPr/>
        </p:nvSpPr>
        <p:spPr>
          <a:xfrm>
            <a:off x="0" y="6372454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793E0F-7FA3-A1FA-E84F-1F72055F5846}"/>
              </a:ext>
            </a:extLst>
          </p:cNvPr>
          <p:cNvSpPr txBox="1"/>
          <p:nvPr/>
        </p:nvSpPr>
        <p:spPr>
          <a:xfrm>
            <a:off x="571500" y="6543446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COE Automation Hackathon 2026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15C3BE-B120-94B4-8B68-EED541DAEC50}"/>
              </a:ext>
            </a:extLst>
          </p:cNvPr>
          <p:cNvSpPr txBox="1"/>
          <p:nvPr/>
        </p:nvSpPr>
        <p:spPr>
          <a:xfrm>
            <a:off x="10006279" y="6543446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- Internal Use Only</a:t>
            </a:r>
            <a:endParaRPr lang="en-US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6F435E-07E5-3C7A-DAB6-5EDCEFBC0070}"/>
              </a:ext>
            </a:extLst>
          </p:cNvPr>
          <p:cNvSpPr txBox="1"/>
          <p:nvPr/>
        </p:nvSpPr>
        <p:spPr>
          <a:xfrm>
            <a:off x="869937" y="124746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12" name="GROUP_stats">
            <a:extLst>
              <a:ext uri="{FF2B5EF4-FFF2-40B4-BE49-F238E27FC236}">
                <a16:creationId xmlns:a16="http://schemas.microsoft.com/office/drawing/2014/main" id="{15B91DD5-91B8-1280-589A-D06E9F6EDC6D}"/>
              </a:ext>
            </a:extLst>
          </p:cNvPr>
          <p:cNvGrpSpPr/>
          <p:nvPr/>
        </p:nvGrpSpPr>
        <p:grpSpPr>
          <a:xfrm>
            <a:off x="1481959" y="1342277"/>
            <a:ext cx="8802873" cy="809716"/>
            <a:chOff x="228600" y="530352"/>
            <a:chExt cx="8686800" cy="621792"/>
          </a:xfrm>
        </p:grpSpPr>
        <p:sp>
          <p:nvSpPr>
            <p:cNvPr id="13" name="r">
              <a:extLst>
                <a:ext uri="{FF2B5EF4-FFF2-40B4-BE49-F238E27FC236}">
                  <a16:creationId xmlns:a16="http://schemas.microsoft.com/office/drawing/2014/main" id="{7CC4DDB8-AC56-7CD9-691B-BA4205E3F1FE}"/>
                </a:ext>
              </a:extLst>
            </p:cNvPr>
            <p:cNvSpPr/>
            <p:nvPr/>
          </p:nvSpPr>
          <p:spPr>
            <a:xfrm>
              <a:off x="228600" y="530352"/>
              <a:ext cx="2697480" cy="621792"/>
            </a:xfrm>
            <a:prstGeom prst="rect">
              <a:avLst/>
            </a:prstGeom>
            <a:solidFill>
              <a:srgbClr val="FCEBEB"/>
            </a:solidFill>
            <a:ln w="9525">
              <a:solidFill>
                <a:srgbClr val="E24B4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">
              <a:extLst>
                <a:ext uri="{FF2B5EF4-FFF2-40B4-BE49-F238E27FC236}">
                  <a16:creationId xmlns:a16="http://schemas.microsoft.com/office/drawing/2014/main" id="{07F0498B-966A-57B7-C1F8-F50A6B1BB289}"/>
                </a:ext>
              </a:extLst>
            </p:cNvPr>
            <p:cNvSpPr/>
            <p:nvPr/>
          </p:nvSpPr>
          <p:spPr>
            <a:xfrm>
              <a:off x="228600" y="530352"/>
              <a:ext cx="2697480" cy="59436"/>
            </a:xfrm>
            <a:prstGeom prst="rect">
              <a:avLst/>
            </a:prstGeom>
            <a:solidFill>
              <a:srgbClr val="E24B4A"/>
            </a:solidFill>
            <a:ln w="0">
              <a:solidFill>
                <a:srgbClr val="E24B4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">
              <a:extLst>
                <a:ext uri="{FF2B5EF4-FFF2-40B4-BE49-F238E27FC236}">
                  <a16:creationId xmlns:a16="http://schemas.microsoft.com/office/drawing/2014/main" id="{3A573EDE-3826-8BD2-EE9F-6FB376DE359F}"/>
                </a:ext>
              </a:extLst>
            </p:cNvPr>
            <p:cNvSpPr txBox="1"/>
            <p:nvPr/>
          </p:nvSpPr>
          <p:spPr>
            <a:xfrm>
              <a:off x="228600" y="612647"/>
              <a:ext cx="2697480" cy="27432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800" b="1" dirty="0">
                  <a:solidFill>
                    <a:srgbClr val="A32D2D"/>
                  </a:solidFill>
                </a:rPr>
                <a:t>95% faster</a:t>
              </a:r>
            </a:p>
          </p:txBody>
        </p:sp>
        <p:sp>
          <p:nvSpPr>
            <p:cNvPr id="16" name="t">
              <a:extLst>
                <a:ext uri="{FF2B5EF4-FFF2-40B4-BE49-F238E27FC236}">
                  <a16:creationId xmlns:a16="http://schemas.microsoft.com/office/drawing/2014/main" id="{322244B9-11AA-92C2-1A8A-D9128B63F31E}"/>
                </a:ext>
              </a:extLst>
            </p:cNvPr>
            <p:cNvSpPr txBox="1"/>
            <p:nvPr/>
          </p:nvSpPr>
          <p:spPr>
            <a:xfrm>
              <a:off x="228600" y="886968"/>
              <a:ext cx="269748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100" b="0" dirty="0">
                  <a:solidFill>
                    <a:srgbClr val="791F1F"/>
                  </a:solidFill>
                </a:rPr>
                <a:t>API review time  (4-8 hrs → 5-10 min)</a:t>
              </a:r>
            </a:p>
          </p:txBody>
        </p:sp>
        <p:sp>
          <p:nvSpPr>
            <p:cNvPr id="17" name="r">
              <a:extLst>
                <a:ext uri="{FF2B5EF4-FFF2-40B4-BE49-F238E27FC236}">
                  <a16:creationId xmlns:a16="http://schemas.microsoft.com/office/drawing/2014/main" id="{FCEFD18B-633A-CAEB-2EE4-2C1D4E9BE547}"/>
                </a:ext>
              </a:extLst>
            </p:cNvPr>
            <p:cNvSpPr/>
            <p:nvPr/>
          </p:nvSpPr>
          <p:spPr>
            <a:xfrm>
              <a:off x="3108960" y="530352"/>
              <a:ext cx="2697480" cy="621792"/>
            </a:xfrm>
            <a:prstGeom prst="rect">
              <a:avLst/>
            </a:prstGeom>
            <a:solidFill>
              <a:srgbClr val="FAEEDA"/>
            </a:solidFill>
            <a:ln w="9525">
              <a:solidFill>
                <a:srgbClr val="BA75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">
              <a:extLst>
                <a:ext uri="{FF2B5EF4-FFF2-40B4-BE49-F238E27FC236}">
                  <a16:creationId xmlns:a16="http://schemas.microsoft.com/office/drawing/2014/main" id="{4C878255-1049-70A6-881B-A4F89821EB74}"/>
                </a:ext>
              </a:extLst>
            </p:cNvPr>
            <p:cNvSpPr/>
            <p:nvPr/>
          </p:nvSpPr>
          <p:spPr>
            <a:xfrm>
              <a:off x="3108960" y="530352"/>
              <a:ext cx="2697480" cy="59436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">
              <a:extLst>
                <a:ext uri="{FF2B5EF4-FFF2-40B4-BE49-F238E27FC236}">
                  <a16:creationId xmlns:a16="http://schemas.microsoft.com/office/drawing/2014/main" id="{64F440F2-9022-A6D2-F523-1E12EC58A335}"/>
                </a:ext>
              </a:extLst>
            </p:cNvPr>
            <p:cNvSpPr txBox="1"/>
            <p:nvPr/>
          </p:nvSpPr>
          <p:spPr>
            <a:xfrm>
              <a:off x="3108960" y="612647"/>
              <a:ext cx="2697480" cy="27432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800" b="1" dirty="0">
                  <a:solidFill>
                    <a:srgbClr val="854F0B"/>
                  </a:solidFill>
                </a:rPr>
                <a:t>98% cheaper</a:t>
              </a:r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BE9ECB5C-2290-CD61-F1B3-5983A1386DAB}"/>
                </a:ext>
              </a:extLst>
            </p:cNvPr>
            <p:cNvSpPr txBox="1"/>
            <p:nvPr/>
          </p:nvSpPr>
          <p:spPr>
            <a:xfrm>
              <a:off x="3108960" y="886968"/>
              <a:ext cx="269748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100" b="0" dirty="0">
                  <a:solidFill>
                    <a:srgbClr val="633806"/>
                  </a:solidFill>
                </a:rPr>
                <a:t>Cost per review  ($400-800 → $5-10)</a:t>
              </a:r>
            </a:p>
          </p:txBody>
        </p:sp>
        <p:sp>
          <p:nvSpPr>
            <p:cNvPr id="21" name="r">
              <a:extLst>
                <a:ext uri="{FF2B5EF4-FFF2-40B4-BE49-F238E27FC236}">
                  <a16:creationId xmlns:a16="http://schemas.microsoft.com/office/drawing/2014/main" id="{04AB9808-6899-1F8A-03D3-07B2B7D4E1B9}"/>
                </a:ext>
              </a:extLst>
            </p:cNvPr>
            <p:cNvSpPr/>
            <p:nvPr/>
          </p:nvSpPr>
          <p:spPr>
            <a:xfrm>
              <a:off x="5989320" y="530352"/>
              <a:ext cx="2697480" cy="621792"/>
            </a:xfrm>
            <a:prstGeom prst="rect">
              <a:avLst/>
            </a:prstGeom>
            <a:solidFill>
              <a:srgbClr val="EEEDFE"/>
            </a:solidFill>
            <a:ln w="9525">
              <a:solidFill>
                <a:srgbClr val="7F77D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">
              <a:extLst>
                <a:ext uri="{FF2B5EF4-FFF2-40B4-BE49-F238E27FC236}">
                  <a16:creationId xmlns:a16="http://schemas.microsoft.com/office/drawing/2014/main" id="{C53E530E-F9A8-F245-F95F-732D0ED6D032}"/>
                </a:ext>
              </a:extLst>
            </p:cNvPr>
            <p:cNvSpPr/>
            <p:nvPr/>
          </p:nvSpPr>
          <p:spPr>
            <a:xfrm>
              <a:off x="5989320" y="530352"/>
              <a:ext cx="2697480" cy="59436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">
              <a:extLst>
                <a:ext uri="{FF2B5EF4-FFF2-40B4-BE49-F238E27FC236}">
                  <a16:creationId xmlns:a16="http://schemas.microsoft.com/office/drawing/2014/main" id="{8A8DCC5A-17B0-68BA-3FE5-84A3653C4F47}"/>
                </a:ext>
              </a:extLst>
            </p:cNvPr>
            <p:cNvSpPr txBox="1"/>
            <p:nvPr/>
          </p:nvSpPr>
          <p:spPr>
            <a:xfrm>
              <a:off x="5989320" y="612647"/>
              <a:ext cx="2697480" cy="27432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800" b="1" dirty="0">
                  <a:solidFill>
                    <a:srgbClr val="3C3489"/>
                  </a:solidFill>
                </a:rPr>
                <a:t>2-3x more</a:t>
              </a:r>
            </a:p>
          </p:txBody>
        </p:sp>
        <p:sp>
          <p:nvSpPr>
            <p:cNvPr id="24" name="t">
              <a:extLst>
                <a:ext uri="{FF2B5EF4-FFF2-40B4-BE49-F238E27FC236}">
                  <a16:creationId xmlns:a16="http://schemas.microsoft.com/office/drawing/2014/main" id="{9CA145BA-B3E0-AD87-964F-93AE31772E28}"/>
                </a:ext>
              </a:extLst>
            </p:cNvPr>
            <p:cNvSpPr txBox="1"/>
            <p:nvPr/>
          </p:nvSpPr>
          <p:spPr>
            <a:xfrm>
              <a:off x="5989320" y="886968"/>
              <a:ext cx="269748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100" b="0" dirty="0">
                  <a:solidFill>
                    <a:srgbClr val="26215C"/>
                  </a:solidFill>
                </a:rPr>
                <a:t>Security issues found per API</a:t>
              </a:r>
            </a:p>
          </p:txBody>
        </p:sp>
      </p:grpSp>
      <p:grpSp>
        <p:nvGrpSpPr>
          <p:cNvPr id="25" name="GROUP_value_proposition">
            <a:extLst>
              <a:ext uri="{FF2B5EF4-FFF2-40B4-BE49-F238E27FC236}">
                <a16:creationId xmlns:a16="http://schemas.microsoft.com/office/drawing/2014/main" id="{4A8617D0-DDE5-3254-F11A-0397E4658656}"/>
              </a:ext>
            </a:extLst>
          </p:cNvPr>
          <p:cNvGrpSpPr/>
          <p:nvPr/>
        </p:nvGrpSpPr>
        <p:grpSpPr>
          <a:xfrm>
            <a:off x="764636" y="2340702"/>
            <a:ext cx="4863654" cy="1930492"/>
            <a:chOff x="228600" y="1225296"/>
            <a:chExt cx="4206240" cy="1536192"/>
          </a:xfrm>
        </p:grpSpPr>
        <p:sp>
          <p:nvSpPr>
            <p:cNvPr id="26" name="r">
              <a:extLst>
                <a:ext uri="{FF2B5EF4-FFF2-40B4-BE49-F238E27FC236}">
                  <a16:creationId xmlns:a16="http://schemas.microsoft.com/office/drawing/2014/main" id="{27A75781-16D3-2025-17FC-C36BB23EBE7E}"/>
                </a:ext>
              </a:extLst>
            </p:cNvPr>
            <p:cNvSpPr/>
            <p:nvPr/>
          </p:nvSpPr>
          <p:spPr>
            <a:xfrm>
              <a:off x="228600" y="1225296"/>
              <a:ext cx="4206240" cy="1536192"/>
            </a:xfrm>
            <a:prstGeom prst="rect">
              <a:avLst/>
            </a:prstGeom>
            <a:solidFill>
              <a:srgbClr val="EEEDFE"/>
            </a:solidFill>
            <a:ln w="9525">
              <a:solidFill>
                <a:srgbClr val="7F77D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">
              <a:extLst>
                <a:ext uri="{FF2B5EF4-FFF2-40B4-BE49-F238E27FC236}">
                  <a16:creationId xmlns:a16="http://schemas.microsoft.com/office/drawing/2014/main" id="{8FC44827-FD79-725C-87E8-44724A162844}"/>
                </a:ext>
              </a:extLst>
            </p:cNvPr>
            <p:cNvSpPr/>
            <p:nvPr/>
          </p:nvSpPr>
          <p:spPr>
            <a:xfrm>
              <a:off x="228600" y="1225296"/>
              <a:ext cx="4206240" cy="59436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">
              <a:extLst>
                <a:ext uri="{FF2B5EF4-FFF2-40B4-BE49-F238E27FC236}">
                  <a16:creationId xmlns:a16="http://schemas.microsoft.com/office/drawing/2014/main" id="{4CE5AFB4-C88F-137E-625A-D7FB56F78DF5}"/>
                </a:ext>
              </a:extLst>
            </p:cNvPr>
            <p:cNvSpPr/>
            <p:nvPr/>
          </p:nvSpPr>
          <p:spPr>
            <a:xfrm>
              <a:off x="338327" y="1298448"/>
              <a:ext cx="1485502" cy="182880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">
              <a:extLst>
                <a:ext uri="{FF2B5EF4-FFF2-40B4-BE49-F238E27FC236}">
                  <a16:creationId xmlns:a16="http://schemas.microsoft.com/office/drawing/2014/main" id="{8861086F-08A7-61A9-4322-998E4B0DA1BB}"/>
                </a:ext>
              </a:extLst>
            </p:cNvPr>
            <p:cNvSpPr txBox="1"/>
            <p:nvPr/>
          </p:nvSpPr>
          <p:spPr>
            <a:xfrm>
              <a:off x="383882" y="1289567"/>
              <a:ext cx="1124188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</a:rPr>
                <a:t>Value proposition</a:t>
              </a:r>
            </a:p>
          </p:txBody>
        </p:sp>
        <p:sp>
          <p:nvSpPr>
            <p:cNvPr id="30" name="t">
              <a:extLst>
                <a:ext uri="{FF2B5EF4-FFF2-40B4-BE49-F238E27FC236}">
                  <a16:creationId xmlns:a16="http://schemas.microsoft.com/office/drawing/2014/main" id="{CD9D8C37-BB84-4EB1-1F87-9994260D8717}"/>
                </a:ext>
              </a:extLst>
            </p:cNvPr>
            <p:cNvSpPr txBox="1"/>
            <p:nvPr/>
          </p:nvSpPr>
          <p:spPr>
            <a:xfrm>
              <a:off x="356616" y="1499616"/>
              <a:ext cx="398678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26215C"/>
                  </a:solidFill>
                </a:rPr>
                <a:t>Continuous, intelligent API governance</a:t>
              </a:r>
            </a:p>
          </p:txBody>
        </p:sp>
        <p:sp>
          <p:nvSpPr>
            <p:cNvPr id="31" name="r">
              <a:extLst>
                <a:ext uri="{FF2B5EF4-FFF2-40B4-BE49-F238E27FC236}">
                  <a16:creationId xmlns:a16="http://schemas.microsoft.com/office/drawing/2014/main" id="{DA7F7D1B-2566-8CF8-3437-734C817A56CB}"/>
                </a:ext>
              </a:extLst>
            </p:cNvPr>
            <p:cNvSpPr/>
            <p:nvPr/>
          </p:nvSpPr>
          <p:spPr>
            <a:xfrm>
              <a:off x="393192" y="1747296"/>
              <a:ext cx="91440" cy="91440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">
              <a:extLst>
                <a:ext uri="{FF2B5EF4-FFF2-40B4-BE49-F238E27FC236}">
                  <a16:creationId xmlns:a16="http://schemas.microsoft.com/office/drawing/2014/main" id="{73C9A8C0-A09C-EC96-DB4C-2114791C90DA}"/>
                </a:ext>
              </a:extLst>
            </p:cNvPr>
            <p:cNvSpPr txBox="1"/>
            <p:nvPr/>
          </p:nvSpPr>
          <p:spPr>
            <a:xfrm>
              <a:off x="539496" y="1700784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3C3489"/>
                  </a:solidFill>
                </a:rPr>
                <a:t>Translates architectural policies into machine-evaluable controls</a:t>
              </a:r>
            </a:p>
          </p:txBody>
        </p:sp>
        <p:sp>
          <p:nvSpPr>
            <p:cNvPr id="33" name="r">
              <a:extLst>
                <a:ext uri="{FF2B5EF4-FFF2-40B4-BE49-F238E27FC236}">
                  <a16:creationId xmlns:a16="http://schemas.microsoft.com/office/drawing/2014/main" id="{053837D9-0B56-C1D0-5E93-5BBB20E8D846}"/>
                </a:ext>
              </a:extLst>
            </p:cNvPr>
            <p:cNvSpPr/>
            <p:nvPr/>
          </p:nvSpPr>
          <p:spPr>
            <a:xfrm>
              <a:off x="393192" y="1973024"/>
              <a:ext cx="91440" cy="91440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">
              <a:extLst>
                <a:ext uri="{FF2B5EF4-FFF2-40B4-BE49-F238E27FC236}">
                  <a16:creationId xmlns:a16="http://schemas.microsoft.com/office/drawing/2014/main" id="{C1FDDA19-64BE-212E-9A2F-632EE80A5522}"/>
                </a:ext>
              </a:extLst>
            </p:cNvPr>
            <p:cNvSpPr txBox="1"/>
            <p:nvPr/>
          </p:nvSpPr>
          <p:spPr>
            <a:xfrm>
              <a:off x="539496" y="1920240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3C3489"/>
                  </a:solidFill>
                </a:rPr>
                <a:t>Enforces OWASP, OpenAPI &amp; ISO standards at design time — not post-production</a:t>
              </a:r>
            </a:p>
          </p:txBody>
        </p:sp>
        <p:sp>
          <p:nvSpPr>
            <p:cNvPr id="35" name="r">
              <a:extLst>
                <a:ext uri="{FF2B5EF4-FFF2-40B4-BE49-F238E27FC236}">
                  <a16:creationId xmlns:a16="http://schemas.microsoft.com/office/drawing/2014/main" id="{19E2C9DE-CD2B-BEEA-522A-DE5D87E0CADC}"/>
                </a:ext>
              </a:extLst>
            </p:cNvPr>
            <p:cNvSpPr/>
            <p:nvPr/>
          </p:nvSpPr>
          <p:spPr>
            <a:xfrm>
              <a:off x="393192" y="2157984"/>
              <a:ext cx="91440" cy="91440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">
              <a:extLst>
                <a:ext uri="{FF2B5EF4-FFF2-40B4-BE49-F238E27FC236}">
                  <a16:creationId xmlns:a16="http://schemas.microsoft.com/office/drawing/2014/main" id="{ED3B61F1-F867-EB7F-A08E-4DE5E20C46D3}"/>
                </a:ext>
              </a:extLst>
            </p:cNvPr>
            <p:cNvSpPr txBox="1"/>
            <p:nvPr/>
          </p:nvSpPr>
          <p:spPr>
            <a:xfrm>
              <a:off x="539496" y="2107833"/>
              <a:ext cx="3803903" cy="2641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3C3489"/>
                  </a:solidFill>
                </a:rPr>
                <a:t>Autonomous Plan → Analyze → Recommend → Score loop replaces manual reviews</a:t>
              </a:r>
            </a:p>
          </p:txBody>
        </p:sp>
        <p:sp>
          <p:nvSpPr>
            <p:cNvPr id="37" name="r">
              <a:extLst>
                <a:ext uri="{FF2B5EF4-FFF2-40B4-BE49-F238E27FC236}">
                  <a16:creationId xmlns:a16="http://schemas.microsoft.com/office/drawing/2014/main" id="{CFF7F5D7-AADC-7127-27B4-454DE2DE08FE}"/>
                </a:ext>
              </a:extLst>
            </p:cNvPr>
            <p:cNvSpPr/>
            <p:nvPr/>
          </p:nvSpPr>
          <p:spPr>
            <a:xfrm>
              <a:off x="389664" y="2458867"/>
              <a:ext cx="91440" cy="91440"/>
            </a:xfrm>
            <a:prstGeom prst="rect">
              <a:avLst/>
            </a:prstGeom>
            <a:solidFill>
              <a:srgbClr val="534AB7"/>
            </a:solidFill>
            <a:ln w="0">
              <a:solidFill>
                <a:srgbClr val="534AB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">
              <a:extLst>
                <a:ext uri="{FF2B5EF4-FFF2-40B4-BE49-F238E27FC236}">
                  <a16:creationId xmlns:a16="http://schemas.microsoft.com/office/drawing/2014/main" id="{7065CCCB-EB4A-EEDE-4EE7-92138A6C786F}"/>
                </a:ext>
              </a:extLst>
            </p:cNvPr>
            <p:cNvSpPr txBox="1"/>
            <p:nvPr/>
          </p:nvSpPr>
          <p:spPr>
            <a:xfrm>
              <a:off x="539496" y="2394684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3C3489"/>
                  </a:solidFill>
                </a:rPr>
                <a:t>Measurable API health score as an enterprise-wide governance KPI</a:t>
              </a:r>
            </a:p>
          </p:txBody>
        </p:sp>
      </p:grpSp>
      <p:grpSp>
        <p:nvGrpSpPr>
          <p:cNvPr id="39" name="GROUP_roi_potential">
            <a:extLst>
              <a:ext uri="{FF2B5EF4-FFF2-40B4-BE49-F238E27FC236}">
                <a16:creationId xmlns:a16="http://schemas.microsoft.com/office/drawing/2014/main" id="{C1FD4FD4-1F28-F7B3-E3C3-248AE15C3E1E}"/>
              </a:ext>
            </a:extLst>
          </p:cNvPr>
          <p:cNvGrpSpPr/>
          <p:nvPr/>
        </p:nvGrpSpPr>
        <p:grpSpPr>
          <a:xfrm>
            <a:off x="5965675" y="2340701"/>
            <a:ext cx="4831174" cy="1912551"/>
            <a:chOff x="4617720" y="1225296"/>
            <a:chExt cx="4206240" cy="1536192"/>
          </a:xfrm>
        </p:grpSpPr>
        <p:sp>
          <p:nvSpPr>
            <p:cNvPr id="40" name="r">
              <a:extLst>
                <a:ext uri="{FF2B5EF4-FFF2-40B4-BE49-F238E27FC236}">
                  <a16:creationId xmlns:a16="http://schemas.microsoft.com/office/drawing/2014/main" id="{BD0971FA-7B76-79CF-D7B7-877D569E2CAB}"/>
                </a:ext>
              </a:extLst>
            </p:cNvPr>
            <p:cNvSpPr/>
            <p:nvPr/>
          </p:nvSpPr>
          <p:spPr>
            <a:xfrm>
              <a:off x="4617720" y="1225296"/>
              <a:ext cx="4206240" cy="1536192"/>
            </a:xfrm>
            <a:prstGeom prst="rect">
              <a:avLst/>
            </a:prstGeom>
            <a:solidFill>
              <a:srgbClr val="FAEEDA"/>
            </a:solidFill>
            <a:ln w="9525">
              <a:solidFill>
                <a:srgbClr val="EF9F2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">
              <a:extLst>
                <a:ext uri="{FF2B5EF4-FFF2-40B4-BE49-F238E27FC236}">
                  <a16:creationId xmlns:a16="http://schemas.microsoft.com/office/drawing/2014/main" id="{F9DC763B-00AC-DF85-8A50-C81FDE39CE3E}"/>
                </a:ext>
              </a:extLst>
            </p:cNvPr>
            <p:cNvSpPr/>
            <p:nvPr/>
          </p:nvSpPr>
          <p:spPr>
            <a:xfrm>
              <a:off x="4617720" y="1225296"/>
              <a:ext cx="4206240" cy="59436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">
              <a:extLst>
                <a:ext uri="{FF2B5EF4-FFF2-40B4-BE49-F238E27FC236}">
                  <a16:creationId xmlns:a16="http://schemas.microsoft.com/office/drawing/2014/main" id="{9067CD95-5D19-C172-1A47-90FB1B0DCEE0}"/>
                </a:ext>
              </a:extLst>
            </p:cNvPr>
            <p:cNvSpPr/>
            <p:nvPr/>
          </p:nvSpPr>
          <p:spPr>
            <a:xfrm>
              <a:off x="4727447" y="1298448"/>
              <a:ext cx="1312300" cy="182880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">
              <a:extLst>
                <a:ext uri="{FF2B5EF4-FFF2-40B4-BE49-F238E27FC236}">
                  <a16:creationId xmlns:a16="http://schemas.microsoft.com/office/drawing/2014/main" id="{C1FB9249-0744-77BD-6BAD-C5A7E11BBCD5}"/>
                </a:ext>
              </a:extLst>
            </p:cNvPr>
            <p:cNvSpPr txBox="1"/>
            <p:nvPr/>
          </p:nvSpPr>
          <p:spPr>
            <a:xfrm>
              <a:off x="4727448" y="1298448"/>
              <a:ext cx="1113271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</a:rPr>
                <a:t>ROI potential</a:t>
              </a:r>
            </a:p>
          </p:txBody>
        </p:sp>
        <p:sp>
          <p:nvSpPr>
            <p:cNvPr id="44" name="t">
              <a:extLst>
                <a:ext uri="{FF2B5EF4-FFF2-40B4-BE49-F238E27FC236}">
                  <a16:creationId xmlns:a16="http://schemas.microsoft.com/office/drawing/2014/main" id="{27822D81-5614-CEB9-5D1D-FACA1C8D5807}"/>
                </a:ext>
              </a:extLst>
            </p:cNvPr>
            <p:cNvSpPr txBox="1"/>
            <p:nvPr/>
          </p:nvSpPr>
          <p:spPr>
            <a:xfrm>
              <a:off x="4745736" y="1499616"/>
              <a:ext cx="398678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412402"/>
                  </a:solidFill>
                </a:rPr>
                <a:t>Quantifiable returns from day one</a:t>
              </a:r>
            </a:p>
          </p:txBody>
        </p:sp>
        <p:sp>
          <p:nvSpPr>
            <p:cNvPr id="45" name="r">
              <a:extLst>
                <a:ext uri="{FF2B5EF4-FFF2-40B4-BE49-F238E27FC236}">
                  <a16:creationId xmlns:a16="http://schemas.microsoft.com/office/drawing/2014/main" id="{5C78146D-6551-54F3-FCD2-BEF9D78257FE}"/>
                </a:ext>
              </a:extLst>
            </p:cNvPr>
            <p:cNvSpPr/>
            <p:nvPr/>
          </p:nvSpPr>
          <p:spPr>
            <a:xfrm>
              <a:off x="4782312" y="1757058"/>
              <a:ext cx="91440" cy="91440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">
              <a:extLst>
                <a:ext uri="{FF2B5EF4-FFF2-40B4-BE49-F238E27FC236}">
                  <a16:creationId xmlns:a16="http://schemas.microsoft.com/office/drawing/2014/main" id="{B4A7E3DA-45DC-D2A8-A0F2-DDC8CE4F09D3}"/>
                </a:ext>
              </a:extLst>
            </p:cNvPr>
            <p:cNvSpPr txBox="1"/>
            <p:nvPr/>
          </p:nvSpPr>
          <p:spPr>
            <a:xfrm>
              <a:off x="4935099" y="1707133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633806"/>
                  </a:solidFill>
                </a:rPr>
                <a:t>Issues are 10x cheaper to fix at design vs. production</a:t>
              </a:r>
            </a:p>
          </p:txBody>
        </p:sp>
        <p:sp>
          <p:nvSpPr>
            <p:cNvPr id="47" name="r">
              <a:extLst>
                <a:ext uri="{FF2B5EF4-FFF2-40B4-BE49-F238E27FC236}">
                  <a16:creationId xmlns:a16="http://schemas.microsoft.com/office/drawing/2014/main" id="{A6F94C2F-896B-3310-7D75-90FE9487FAED}"/>
                </a:ext>
              </a:extLst>
            </p:cNvPr>
            <p:cNvSpPr/>
            <p:nvPr/>
          </p:nvSpPr>
          <p:spPr>
            <a:xfrm>
              <a:off x="4782312" y="1982845"/>
              <a:ext cx="91440" cy="91440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">
              <a:extLst>
                <a:ext uri="{FF2B5EF4-FFF2-40B4-BE49-F238E27FC236}">
                  <a16:creationId xmlns:a16="http://schemas.microsoft.com/office/drawing/2014/main" id="{3D00233F-2599-0EA9-2484-ED16E1C243DE}"/>
                </a:ext>
              </a:extLst>
            </p:cNvPr>
            <p:cNvSpPr txBox="1"/>
            <p:nvPr/>
          </p:nvSpPr>
          <p:spPr>
            <a:xfrm>
              <a:off x="4928616" y="1920240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633806"/>
                  </a:solidFill>
                </a:rPr>
                <a:t>Documentation quality improves from 60% to 90% complete</a:t>
              </a:r>
            </a:p>
          </p:txBody>
        </p:sp>
        <p:sp>
          <p:nvSpPr>
            <p:cNvPr id="50" name="r">
              <a:extLst>
                <a:ext uri="{FF2B5EF4-FFF2-40B4-BE49-F238E27FC236}">
                  <a16:creationId xmlns:a16="http://schemas.microsoft.com/office/drawing/2014/main" id="{136120D7-68F3-F9A1-8CB8-F7267218AEA7}"/>
                </a:ext>
              </a:extLst>
            </p:cNvPr>
            <p:cNvSpPr/>
            <p:nvPr/>
          </p:nvSpPr>
          <p:spPr>
            <a:xfrm>
              <a:off x="4782312" y="2176977"/>
              <a:ext cx="91440" cy="91440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">
              <a:extLst>
                <a:ext uri="{FF2B5EF4-FFF2-40B4-BE49-F238E27FC236}">
                  <a16:creationId xmlns:a16="http://schemas.microsoft.com/office/drawing/2014/main" id="{7D83304D-4938-BFBF-5835-AF3933B4378D}"/>
                </a:ext>
              </a:extLst>
            </p:cNvPr>
            <p:cNvSpPr txBox="1"/>
            <p:nvPr/>
          </p:nvSpPr>
          <p:spPr>
            <a:xfrm>
              <a:off x="4928616" y="2139696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633806"/>
                  </a:solidFill>
                </a:rPr>
                <a:t>Standards compliance rises from 70% to 95% per review cycle</a:t>
              </a:r>
            </a:p>
          </p:txBody>
        </p:sp>
        <p:sp>
          <p:nvSpPr>
            <p:cNvPr id="52" name="r">
              <a:extLst>
                <a:ext uri="{FF2B5EF4-FFF2-40B4-BE49-F238E27FC236}">
                  <a16:creationId xmlns:a16="http://schemas.microsoft.com/office/drawing/2014/main" id="{65D04DE0-5638-4462-CE22-BE1D7D71A72F}"/>
                </a:ext>
              </a:extLst>
            </p:cNvPr>
            <p:cNvSpPr/>
            <p:nvPr/>
          </p:nvSpPr>
          <p:spPr>
            <a:xfrm>
              <a:off x="4782312" y="2405929"/>
              <a:ext cx="91440" cy="91440"/>
            </a:xfrm>
            <a:prstGeom prst="rect">
              <a:avLst/>
            </a:prstGeom>
            <a:solidFill>
              <a:srgbClr val="BA7517"/>
            </a:solidFill>
            <a:ln w="0">
              <a:solidFill>
                <a:srgbClr val="BA75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">
              <a:extLst>
                <a:ext uri="{FF2B5EF4-FFF2-40B4-BE49-F238E27FC236}">
                  <a16:creationId xmlns:a16="http://schemas.microsoft.com/office/drawing/2014/main" id="{CC0C2881-BBD5-8A86-3453-73161F69DAA8}"/>
                </a:ext>
              </a:extLst>
            </p:cNvPr>
            <p:cNvSpPr txBox="1"/>
            <p:nvPr/>
          </p:nvSpPr>
          <p:spPr>
            <a:xfrm>
              <a:off x="4928616" y="2359152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633806"/>
                  </a:solidFill>
                </a:rPr>
                <a:t>2-5 second automated analysis vs. 4-8 hours of manual effort</a:t>
              </a:r>
            </a:p>
          </p:txBody>
        </p:sp>
      </p:grpSp>
      <p:grpSp>
        <p:nvGrpSpPr>
          <p:cNvPr id="54" name="GROUP_cost_savings">
            <a:extLst>
              <a:ext uri="{FF2B5EF4-FFF2-40B4-BE49-F238E27FC236}">
                <a16:creationId xmlns:a16="http://schemas.microsoft.com/office/drawing/2014/main" id="{39191569-704F-A927-CAD3-8914F4754A68}"/>
              </a:ext>
            </a:extLst>
          </p:cNvPr>
          <p:cNvGrpSpPr/>
          <p:nvPr/>
        </p:nvGrpSpPr>
        <p:grpSpPr>
          <a:xfrm>
            <a:off x="764636" y="4485115"/>
            <a:ext cx="4814451" cy="1783242"/>
            <a:chOff x="228600" y="2834640"/>
            <a:chExt cx="4206240" cy="1536192"/>
          </a:xfrm>
        </p:grpSpPr>
        <p:sp>
          <p:nvSpPr>
            <p:cNvPr id="55" name="r">
              <a:extLst>
                <a:ext uri="{FF2B5EF4-FFF2-40B4-BE49-F238E27FC236}">
                  <a16:creationId xmlns:a16="http://schemas.microsoft.com/office/drawing/2014/main" id="{F9D84A86-F3E4-68EB-F3EB-B32CF3F61CEE}"/>
                </a:ext>
              </a:extLst>
            </p:cNvPr>
            <p:cNvSpPr/>
            <p:nvPr/>
          </p:nvSpPr>
          <p:spPr>
            <a:xfrm>
              <a:off x="228600" y="2834640"/>
              <a:ext cx="4206240" cy="1536192"/>
            </a:xfrm>
            <a:prstGeom prst="rect">
              <a:avLst/>
            </a:prstGeom>
            <a:solidFill>
              <a:srgbClr val="E1F5EE"/>
            </a:solidFill>
            <a:ln w="9525">
              <a:solidFill>
                <a:srgbClr val="1D9E75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">
              <a:extLst>
                <a:ext uri="{FF2B5EF4-FFF2-40B4-BE49-F238E27FC236}">
                  <a16:creationId xmlns:a16="http://schemas.microsoft.com/office/drawing/2014/main" id="{10E97A41-9AA6-012A-7C25-35FB5E2BAD8B}"/>
                </a:ext>
              </a:extLst>
            </p:cNvPr>
            <p:cNvSpPr/>
            <p:nvPr/>
          </p:nvSpPr>
          <p:spPr>
            <a:xfrm>
              <a:off x="228600" y="2834640"/>
              <a:ext cx="4206240" cy="5943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">
              <a:extLst>
                <a:ext uri="{FF2B5EF4-FFF2-40B4-BE49-F238E27FC236}">
                  <a16:creationId xmlns:a16="http://schemas.microsoft.com/office/drawing/2014/main" id="{CBE46D5C-70E8-08FF-439C-1B030DB8AA4E}"/>
                </a:ext>
              </a:extLst>
            </p:cNvPr>
            <p:cNvSpPr/>
            <p:nvPr/>
          </p:nvSpPr>
          <p:spPr>
            <a:xfrm>
              <a:off x="338328" y="2907792"/>
              <a:ext cx="1501804" cy="201122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">
              <a:extLst>
                <a:ext uri="{FF2B5EF4-FFF2-40B4-BE49-F238E27FC236}">
                  <a16:creationId xmlns:a16="http://schemas.microsoft.com/office/drawing/2014/main" id="{9A97D818-6460-F8F1-D491-A96440FDE418}"/>
                </a:ext>
              </a:extLst>
            </p:cNvPr>
            <p:cNvSpPr txBox="1"/>
            <p:nvPr/>
          </p:nvSpPr>
          <p:spPr>
            <a:xfrm>
              <a:off x="338328" y="2907792"/>
              <a:ext cx="1150572" cy="172689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</a:rPr>
                <a:t>Cost savings</a:t>
              </a:r>
            </a:p>
          </p:txBody>
        </p:sp>
        <p:sp>
          <p:nvSpPr>
            <p:cNvPr id="59" name="t">
              <a:extLst>
                <a:ext uri="{FF2B5EF4-FFF2-40B4-BE49-F238E27FC236}">
                  <a16:creationId xmlns:a16="http://schemas.microsoft.com/office/drawing/2014/main" id="{E29B1B12-6A02-0800-78C8-F746414AA8C3}"/>
                </a:ext>
              </a:extLst>
            </p:cNvPr>
            <p:cNvSpPr txBox="1"/>
            <p:nvPr/>
          </p:nvSpPr>
          <p:spPr>
            <a:xfrm>
              <a:off x="356616" y="3108960"/>
              <a:ext cx="398678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342C"/>
                  </a:solidFill>
                </a:rPr>
                <a:t>80% reduction in manual review overhead</a:t>
              </a:r>
            </a:p>
          </p:txBody>
        </p:sp>
        <p:sp>
          <p:nvSpPr>
            <p:cNvPr id="60" name="r">
              <a:extLst>
                <a:ext uri="{FF2B5EF4-FFF2-40B4-BE49-F238E27FC236}">
                  <a16:creationId xmlns:a16="http://schemas.microsoft.com/office/drawing/2014/main" id="{6217B0C9-309E-FE23-CAAB-E129D1E58D2E}"/>
                </a:ext>
              </a:extLst>
            </p:cNvPr>
            <p:cNvSpPr/>
            <p:nvPr/>
          </p:nvSpPr>
          <p:spPr>
            <a:xfrm>
              <a:off x="393192" y="3369156"/>
              <a:ext cx="91440" cy="91440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">
              <a:extLst>
                <a:ext uri="{FF2B5EF4-FFF2-40B4-BE49-F238E27FC236}">
                  <a16:creationId xmlns:a16="http://schemas.microsoft.com/office/drawing/2014/main" id="{CE920FE2-6835-0DED-9AFF-D818628AE885}"/>
                </a:ext>
              </a:extLst>
            </p:cNvPr>
            <p:cNvSpPr txBox="1"/>
            <p:nvPr/>
          </p:nvSpPr>
          <p:spPr>
            <a:xfrm>
              <a:off x="539496" y="3310128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085041"/>
                  </a:solidFill>
                </a:rPr>
                <a:t>Instant shift-left feedback during spec authoring — before any code is written</a:t>
              </a:r>
            </a:p>
          </p:txBody>
        </p:sp>
        <p:sp>
          <p:nvSpPr>
            <p:cNvPr id="62" name="r">
              <a:extLst>
                <a:ext uri="{FF2B5EF4-FFF2-40B4-BE49-F238E27FC236}">
                  <a16:creationId xmlns:a16="http://schemas.microsoft.com/office/drawing/2014/main" id="{5EACAE30-7E2C-3803-F3FD-075A9E196BCB}"/>
                </a:ext>
              </a:extLst>
            </p:cNvPr>
            <p:cNvSpPr/>
            <p:nvPr/>
          </p:nvSpPr>
          <p:spPr>
            <a:xfrm>
              <a:off x="393192" y="3585217"/>
              <a:ext cx="91440" cy="91440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">
              <a:extLst>
                <a:ext uri="{FF2B5EF4-FFF2-40B4-BE49-F238E27FC236}">
                  <a16:creationId xmlns:a16="http://schemas.microsoft.com/office/drawing/2014/main" id="{8EAD814F-3296-7D10-E1BC-0BAE758EB286}"/>
                </a:ext>
              </a:extLst>
            </p:cNvPr>
            <p:cNvSpPr txBox="1"/>
            <p:nvPr/>
          </p:nvSpPr>
          <p:spPr>
            <a:xfrm>
              <a:off x="539496" y="3529584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00" b="0" dirty="0">
                  <a:solidFill>
                    <a:srgbClr val="085041"/>
                  </a:solidFill>
                </a:rPr>
                <a:t>Prevents fragile API contracts reaching production — reduces integration rework</a:t>
              </a:r>
            </a:p>
          </p:txBody>
        </p:sp>
        <p:sp>
          <p:nvSpPr>
            <p:cNvPr id="64" name="r">
              <a:extLst>
                <a:ext uri="{FF2B5EF4-FFF2-40B4-BE49-F238E27FC236}">
                  <a16:creationId xmlns:a16="http://schemas.microsoft.com/office/drawing/2014/main" id="{A2325CF6-DE88-C1E8-54AE-218083613EA3}"/>
                </a:ext>
              </a:extLst>
            </p:cNvPr>
            <p:cNvSpPr/>
            <p:nvPr/>
          </p:nvSpPr>
          <p:spPr>
            <a:xfrm>
              <a:off x="393192" y="3818253"/>
              <a:ext cx="91440" cy="91440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">
              <a:extLst>
                <a:ext uri="{FF2B5EF4-FFF2-40B4-BE49-F238E27FC236}">
                  <a16:creationId xmlns:a16="http://schemas.microsoft.com/office/drawing/2014/main" id="{4B29EF67-E8AF-4427-9FD7-03F6EB8B771B}"/>
                </a:ext>
              </a:extLst>
            </p:cNvPr>
            <p:cNvSpPr txBox="1"/>
            <p:nvPr/>
          </p:nvSpPr>
          <p:spPr>
            <a:xfrm>
              <a:off x="539496" y="3749039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85041"/>
                  </a:solidFill>
                </a:rPr>
                <a:t>Parallel 5-agent analysis completes in 2-3 sec vs. sequential 5-8 sec</a:t>
              </a:r>
            </a:p>
          </p:txBody>
        </p:sp>
        <p:sp>
          <p:nvSpPr>
            <p:cNvPr id="66" name="r">
              <a:extLst>
                <a:ext uri="{FF2B5EF4-FFF2-40B4-BE49-F238E27FC236}">
                  <a16:creationId xmlns:a16="http://schemas.microsoft.com/office/drawing/2014/main" id="{903F0097-273E-0EEA-ACE2-21365020991B}"/>
                </a:ext>
              </a:extLst>
            </p:cNvPr>
            <p:cNvSpPr/>
            <p:nvPr/>
          </p:nvSpPr>
          <p:spPr>
            <a:xfrm>
              <a:off x="393192" y="4088639"/>
              <a:ext cx="91440" cy="91440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">
              <a:extLst>
                <a:ext uri="{FF2B5EF4-FFF2-40B4-BE49-F238E27FC236}">
                  <a16:creationId xmlns:a16="http://schemas.microsoft.com/office/drawing/2014/main" id="{C2B67F51-5684-9BFB-F831-1285CA497B5D}"/>
                </a:ext>
              </a:extLst>
            </p:cNvPr>
            <p:cNvSpPr txBox="1"/>
            <p:nvPr/>
          </p:nvSpPr>
          <p:spPr>
            <a:xfrm>
              <a:off x="539496" y="4022819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85041"/>
                  </a:solidFill>
                </a:rPr>
                <a:t>Frees architects from repetitive review cycles to focus on high-value design</a:t>
              </a:r>
            </a:p>
          </p:txBody>
        </p:sp>
      </p:grpSp>
      <p:grpSp>
        <p:nvGrpSpPr>
          <p:cNvPr id="68" name="GROUP_reusability">
            <a:extLst>
              <a:ext uri="{FF2B5EF4-FFF2-40B4-BE49-F238E27FC236}">
                <a16:creationId xmlns:a16="http://schemas.microsoft.com/office/drawing/2014/main" id="{FD2DF7CB-FCE7-389F-0367-482E8103402D}"/>
              </a:ext>
            </a:extLst>
          </p:cNvPr>
          <p:cNvGrpSpPr/>
          <p:nvPr/>
        </p:nvGrpSpPr>
        <p:grpSpPr>
          <a:xfrm>
            <a:off x="6005079" y="4517618"/>
            <a:ext cx="4791770" cy="1715270"/>
            <a:chOff x="4617720" y="2834640"/>
            <a:chExt cx="4206240" cy="1536192"/>
          </a:xfrm>
        </p:grpSpPr>
        <p:sp>
          <p:nvSpPr>
            <p:cNvPr id="69" name="r">
              <a:extLst>
                <a:ext uri="{FF2B5EF4-FFF2-40B4-BE49-F238E27FC236}">
                  <a16:creationId xmlns:a16="http://schemas.microsoft.com/office/drawing/2014/main" id="{53384BAF-1528-DED7-81FB-FE4BA283FBDC}"/>
                </a:ext>
              </a:extLst>
            </p:cNvPr>
            <p:cNvSpPr/>
            <p:nvPr/>
          </p:nvSpPr>
          <p:spPr>
            <a:xfrm>
              <a:off x="4617720" y="2834640"/>
              <a:ext cx="4206240" cy="1536192"/>
            </a:xfrm>
            <a:prstGeom prst="rect">
              <a:avLst/>
            </a:prstGeom>
            <a:solidFill>
              <a:srgbClr val="FAECE7"/>
            </a:solidFill>
            <a:ln w="9525">
              <a:solidFill>
                <a:srgbClr val="D85A3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">
              <a:extLst>
                <a:ext uri="{FF2B5EF4-FFF2-40B4-BE49-F238E27FC236}">
                  <a16:creationId xmlns:a16="http://schemas.microsoft.com/office/drawing/2014/main" id="{5F27BE8F-2FA8-876D-6D30-C922CB825798}"/>
                </a:ext>
              </a:extLst>
            </p:cNvPr>
            <p:cNvSpPr/>
            <p:nvPr/>
          </p:nvSpPr>
          <p:spPr>
            <a:xfrm>
              <a:off x="4617720" y="2834640"/>
              <a:ext cx="4206240" cy="5943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r">
              <a:extLst>
                <a:ext uri="{FF2B5EF4-FFF2-40B4-BE49-F238E27FC236}">
                  <a16:creationId xmlns:a16="http://schemas.microsoft.com/office/drawing/2014/main" id="{21B325CF-9895-E3C0-8799-CB996BF01018}"/>
                </a:ext>
              </a:extLst>
            </p:cNvPr>
            <p:cNvSpPr/>
            <p:nvPr/>
          </p:nvSpPr>
          <p:spPr>
            <a:xfrm>
              <a:off x="4727448" y="2907792"/>
              <a:ext cx="1261727" cy="201167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">
              <a:extLst>
                <a:ext uri="{FF2B5EF4-FFF2-40B4-BE49-F238E27FC236}">
                  <a16:creationId xmlns:a16="http://schemas.microsoft.com/office/drawing/2014/main" id="{AD63427A-C131-65B8-BDD0-4D80938D12EE}"/>
                </a:ext>
              </a:extLst>
            </p:cNvPr>
            <p:cNvSpPr txBox="1"/>
            <p:nvPr/>
          </p:nvSpPr>
          <p:spPr>
            <a:xfrm>
              <a:off x="4727447" y="2907792"/>
              <a:ext cx="1112958" cy="18287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</a:rPr>
                <a:t>Reusability</a:t>
              </a:r>
            </a:p>
          </p:txBody>
        </p:sp>
        <p:sp>
          <p:nvSpPr>
            <p:cNvPr id="73" name="t">
              <a:extLst>
                <a:ext uri="{FF2B5EF4-FFF2-40B4-BE49-F238E27FC236}">
                  <a16:creationId xmlns:a16="http://schemas.microsoft.com/office/drawing/2014/main" id="{62CA9EBA-3433-E495-37F8-BCFB2648317C}"/>
                </a:ext>
              </a:extLst>
            </p:cNvPr>
            <p:cNvSpPr txBox="1"/>
            <p:nvPr/>
          </p:nvSpPr>
          <p:spPr>
            <a:xfrm>
              <a:off x="4745736" y="3108960"/>
              <a:ext cx="398678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4A1B0C"/>
                  </a:solidFill>
                </a:rPr>
                <a:t>Modular, extensible, integrable by design</a:t>
              </a:r>
            </a:p>
          </p:txBody>
        </p:sp>
        <p:sp>
          <p:nvSpPr>
            <p:cNvPr id="74" name="r">
              <a:extLst>
                <a:ext uri="{FF2B5EF4-FFF2-40B4-BE49-F238E27FC236}">
                  <a16:creationId xmlns:a16="http://schemas.microsoft.com/office/drawing/2014/main" id="{46280231-4199-E1F9-BE6D-85343988BF54}"/>
                </a:ext>
              </a:extLst>
            </p:cNvPr>
            <p:cNvSpPr/>
            <p:nvPr/>
          </p:nvSpPr>
          <p:spPr>
            <a:xfrm>
              <a:off x="4782312" y="3360181"/>
              <a:ext cx="91440" cy="91440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">
              <a:extLst>
                <a:ext uri="{FF2B5EF4-FFF2-40B4-BE49-F238E27FC236}">
                  <a16:creationId xmlns:a16="http://schemas.microsoft.com/office/drawing/2014/main" id="{939CF5E7-827A-57C5-5505-44D73E173F33}"/>
                </a:ext>
              </a:extLst>
            </p:cNvPr>
            <p:cNvSpPr txBox="1"/>
            <p:nvPr/>
          </p:nvSpPr>
          <p:spPr>
            <a:xfrm>
              <a:off x="4928616" y="3310128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712B13"/>
                  </a:solidFill>
                </a:rPr>
                <a:t>Each engine component (extractor, matcher, scorer) usable independently</a:t>
              </a:r>
            </a:p>
          </p:txBody>
        </p:sp>
        <p:sp>
          <p:nvSpPr>
            <p:cNvPr id="76" name="r">
              <a:extLst>
                <a:ext uri="{FF2B5EF4-FFF2-40B4-BE49-F238E27FC236}">
                  <a16:creationId xmlns:a16="http://schemas.microsoft.com/office/drawing/2014/main" id="{D8D31A45-C86C-1424-924F-FDD3E1995E40}"/>
                </a:ext>
              </a:extLst>
            </p:cNvPr>
            <p:cNvSpPr/>
            <p:nvPr/>
          </p:nvSpPr>
          <p:spPr>
            <a:xfrm>
              <a:off x="4782312" y="3576109"/>
              <a:ext cx="91440" cy="91440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">
              <a:extLst>
                <a:ext uri="{FF2B5EF4-FFF2-40B4-BE49-F238E27FC236}">
                  <a16:creationId xmlns:a16="http://schemas.microsoft.com/office/drawing/2014/main" id="{CBDB3070-6986-2451-F313-78816D64A618}"/>
                </a:ext>
              </a:extLst>
            </p:cNvPr>
            <p:cNvSpPr txBox="1"/>
            <p:nvPr/>
          </p:nvSpPr>
          <p:spPr>
            <a:xfrm>
              <a:off x="4928616" y="3529584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712B13"/>
                  </a:solidFill>
                </a:rPr>
                <a:t>Vector DB rule collections updateable without touching analysis logic</a:t>
              </a:r>
            </a:p>
          </p:txBody>
        </p:sp>
        <p:sp>
          <p:nvSpPr>
            <p:cNvPr id="78" name="r">
              <a:extLst>
                <a:ext uri="{FF2B5EF4-FFF2-40B4-BE49-F238E27FC236}">
                  <a16:creationId xmlns:a16="http://schemas.microsoft.com/office/drawing/2014/main" id="{15DD4F2D-6D79-D9EA-D5E0-28B219B2B682}"/>
                </a:ext>
              </a:extLst>
            </p:cNvPr>
            <p:cNvSpPr/>
            <p:nvPr/>
          </p:nvSpPr>
          <p:spPr>
            <a:xfrm>
              <a:off x="4782312" y="3799093"/>
              <a:ext cx="91440" cy="91440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">
              <a:extLst>
                <a:ext uri="{FF2B5EF4-FFF2-40B4-BE49-F238E27FC236}">
                  <a16:creationId xmlns:a16="http://schemas.microsoft.com/office/drawing/2014/main" id="{90A1D35F-FCAF-4CE4-7EDD-4E4011C3B3AA}"/>
                </a:ext>
              </a:extLst>
            </p:cNvPr>
            <p:cNvSpPr txBox="1"/>
            <p:nvPr/>
          </p:nvSpPr>
          <p:spPr>
            <a:xfrm>
              <a:off x="4928616" y="3749039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712B13"/>
                  </a:solidFill>
                </a:rPr>
                <a:t>REST API &amp; CLI interfaces enable CI/CD and third-party tool integration</a:t>
              </a:r>
            </a:p>
          </p:txBody>
        </p:sp>
        <p:sp>
          <p:nvSpPr>
            <p:cNvPr id="80" name="r">
              <a:extLst>
                <a:ext uri="{FF2B5EF4-FFF2-40B4-BE49-F238E27FC236}">
                  <a16:creationId xmlns:a16="http://schemas.microsoft.com/office/drawing/2014/main" id="{CA9B45DC-C0B7-B4A8-557C-EFBFE642796D}"/>
                </a:ext>
              </a:extLst>
            </p:cNvPr>
            <p:cNvSpPr/>
            <p:nvPr/>
          </p:nvSpPr>
          <p:spPr>
            <a:xfrm>
              <a:off x="4782312" y="4050324"/>
              <a:ext cx="91440" cy="91440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">
              <a:extLst>
                <a:ext uri="{FF2B5EF4-FFF2-40B4-BE49-F238E27FC236}">
                  <a16:creationId xmlns:a16="http://schemas.microsoft.com/office/drawing/2014/main" id="{1B5A9609-DEAD-DD5C-F69B-EC9487B14B38}"/>
                </a:ext>
              </a:extLst>
            </p:cNvPr>
            <p:cNvSpPr txBox="1"/>
            <p:nvPr/>
          </p:nvSpPr>
          <p:spPr>
            <a:xfrm>
              <a:off x="4928616" y="3968496"/>
              <a:ext cx="3803903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712B13"/>
                  </a:solidFill>
                </a:rPr>
                <a:t>AI layer is optional — system runs fully without LLM for offline environments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785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4051-2680-2A46-E909-587F7CBA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8EE87E0D-8DD8-0817-1245-4EE973770A1B}"/>
              </a:ext>
            </a:extLst>
          </p:cNvPr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503E90E-DBE3-6348-8E51-5A620C8A83DB}"/>
              </a:ext>
            </a:extLst>
          </p:cNvPr>
          <p:cNvSpPr/>
          <p:nvPr/>
        </p:nvSpPr>
        <p:spPr>
          <a:xfrm>
            <a:off x="0" y="1172261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114A8F-90D5-8948-AD8E-0F86B3A91CB1}"/>
              </a:ext>
            </a:extLst>
          </p:cNvPr>
          <p:cNvSpPr txBox="1"/>
          <p:nvPr/>
        </p:nvSpPr>
        <p:spPr>
          <a:xfrm>
            <a:off x="571500" y="466344"/>
            <a:ext cx="988811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/>
              <a:t>Future Enhancements/Implementation Scope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299FFC-A8D7-F09D-A612-60F19C83D06C}"/>
              </a:ext>
            </a:extLst>
          </p:cNvPr>
          <p:cNvSpPr/>
          <p:nvPr/>
        </p:nvSpPr>
        <p:spPr>
          <a:xfrm>
            <a:off x="0" y="6372454"/>
            <a:ext cx="12191695" cy="485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6345CBF-8C7A-18A2-4124-B434A8F50B07}"/>
              </a:ext>
            </a:extLst>
          </p:cNvPr>
          <p:cNvSpPr/>
          <p:nvPr/>
        </p:nvSpPr>
        <p:spPr>
          <a:xfrm>
            <a:off x="0" y="6372454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7E04645-6037-F09C-031D-EFD77C8F553B}"/>
              </a:ext>
            </a:extLst>
          </p:cNvPr>
          <p:cNvSpPr txBox="1"/>
          <p:nvPr/>
        </p:nvSpPr>
        <p:spPr>
          <a:xfrm>
            <a:off x="571500" y="6543446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COE Automation Hackathon 2026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87CCF9-4118-A210-7132-30125D36603F}"/>
              </a:ext>
            </a:extLst>
          </p:cNvPr>
          <p:cNvSpPr txBox="1"/>
          <p:nvPr/>
        </p:nvSpPr>
        <p:spPr>
          <a:xfrm>
            <a:off x="10006279" y="6543446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- Internal Use Only</a:t>
            </a:r>
            <a:endParaRPr lang="en-US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C27C04-2B47-1649-49B3-F06571C7E0DE}"/>
              </a:ext>
            </a:extLst>
          </p:cNvPr>
          <p:cNvSpPr txBox="1"/>
          <p:nvPr/>
        </p:nvSpPr>
        <p:spPr>
          <a:xfrm>
            <a:off x="869937" y="124746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B914440-7134-B09C-4C3F-31F37641EE1C}"/>
              </a:ext>
            </a:extLst>
          </p:cNvPr>
          <p:cNvSpPr txBox="1"/>
          <p:nvPr/>
        </p:nvSpPr>
        <p:spPr>
          <a:xfrm>
            <a:off x="571500" y="1737000"/>
            <a:ext cx="988811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GB" sz="1050" dirty="0"/>
          </a:p>
        </p:txBody>
      </p:sp>
      <p:grpSp>
        <p:nvGrpSpPr>
          <p:cNvPr id="12" name="GROUP_legend">
            <a:extLst>
              <a:ext uri="{FF2B5EF4-FFF2-40B4-BE49-F238E27FC236}">
                <a16:creationId xmlns:a16="http://schemas.microsoft.com/office/drawing/2014/main" id="{05A72552-6ABA-7FC6-5516-312CF52A0548}"/>
              </a:ext>
            </a:extLst>
          </p:cNvPr>
          <p:cNvGrpSpPr/>
          <p:nvPr/>
        </p:nvGrpSpPr>
        <p:grpSpPr>
          <a:xfrm>
            <a:off x="475487" y="1260598"/>
            <a:ext cx="11145013" cy="314554"/>
            <a:chOff x="228600" y="530352"/>
            <a:chExt cx="8686800" cy="237744"/>
          </a:xfrm>
        </p:grpSpPr>
        <p:sp>
          <p:nvSpPr>
            <p:cNvPr id="13" name="r">
              <a:extLst>
                <a:ext uri="{FF2B5EF4-FFF2-40B4-BE49-F238E27FC236}">
                  <a16:creationId xmlns:a16="http://schemas.microsoft.com/office/drawing/2014/main" id="{F717D90D-6964-E64B-E3C8-BEDCB2F1ECA0}"/>
                </a:ext>
              </a:extLst>
            </p:cNvPr>
            <p:cNvSpPr/>
            <p:nvPr/>
          </p:nvSpPr>
          <p:spPr>
            <a:xfrm>
              <a:off x="228600" y="530352"/>
              <a:ext cx="8686800" cy="237744"/>
            </a:xfrm>
            <a:prstGeom prst="rect">
              <a:avLst/>
            </a:prstGeom>
            <a:solidFill>
              <a:srgbClr val="EEEDFE"/>
            </a:solidFill>
            <a:ln w="6350">
              <a:solidFill>
                <a:srgbClr val="AFA9E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">
              <a:extLst>
                <a:ext uri="{FF2B5EF4-FFF2-40B4-BE49-F238E27FC236}">
                  <a16:creationId xmlns:a16="http://schemas.microsoft.com/office/drawing/2014/main" id="{AACC5FD3-857B-2C67-3428-1716FFAF5C90}"/>
                </a:ext>
              </a:extLst>
            </p:cNvPr>
            <p:cNvSpPr txBox="1"/>
            <p:nvPr/>
          </p:nvSpPr>
          <p:spPr>
            <a:xfrm>
              <a:off x="365760" y="548640"/>
              <a:ext cx="1188720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3C3489"/>
                  </a:solidFill>
                </a:rPr>
                <a:t>Roadmap phases:</a:t>
              </a:r>
            </a:p>
          </p:txBody>
        </p:sp>
        <p:sp>
          <p:nvSpPr>
            <p:cNvPr id="15" name="r">
              <a:extLst>
                <a:ext uri="{FF2B5EF4-FFF2-40B4-BE49-F238E27FC236}">
                  <a16:creationId xmlns:a16="http://schemas.microsoft.com/office/drawing/2014/main" id="{D0C2B0A4-9408-8957-33B7-C29221AE2A8A}"/>
                </a:ext>
              </a:extLst>
            </p:cNvPr>
            <p:cNvSpPr/>
            <p:nvPr/>
          </p:nvSpPr>
          <p:spPr>
            <a:xfrm>
              <a:off x="1600200" y="576072"/>
              <a:ext cx="128016" cy="12801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">
              <a:extLst>
                <a:ext uri="{FF2B5EF4-FFF2-40B4-BE49-F238E27FC236}">
                  <a16:creationId xmlns:a16="http://schemas.microsoft.com/office/drawing/2014/main" id="{6DADC5BE-439A-CF4D-B47A-39D94F4BB268}"/>
                </a:ext>
              </a:extLst>
            </p:cNvPr>
            <p:cNvSpPr txBox="1"/>
            <p:nvPr/>
          </p:nvSpPr>
          <p:spPr>
            <a:xfrm>
              <a:off x="1764792" y="548640"/>
              <a:ext cx="1920240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444441"/>
                  </a:solidFill>
                </a:rPr>
                <a:t>Near-term  (6-12 months)</a:t>
              </a:r>
            </a:p>
          </p:txBody>
        </p:sp>
        <p:sp>
          <p:nvSpPr>
            <p:cNvPr id="17" name="r">
              <a:extLst>
                <a:ext uri="{FF2B5EF4-FFF2-40B4-BE49-F238E27FC236}">
                  <a16:creationId xmlns:a16="http://schemas.microsoft.com/office/drawing/2014/main" id="{F3696D5C-469B-079B-8911-F96360772FB9}"/>
                </a:ext>
              </a:extLst>
            </p:cNvPr>
            <p:cNvSpPr/>
            <p:nvPr/>
          </p:nvSpPr>
          <p:spPr>
            <a:xfrm>
              <a:off x="3840480" y="576072"/>
              <a:ext cx="128016" cy="12801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">
              <a:extLst>
                <a:ext uri="{FF2B5EF4-FFF2-40B4-BE49-F238E27FC236}">
                  <a16:creationId xmlns:a16="http://schemas.microsoft.com/office/drawing/2014/main" id="{7CF6CB22-AFF8-D9BF-B2E9-8A7A49DA4C3F}"/>
                </a:ext>
              </a:extLst>
            </p:cNvPr>
            <p:cNvSpPr txBox="1"/>
            <p:nvPr/>
          </p:nvSpPr>
          <p:spPr>
            <a:xfrm>
              <a:off x="4005072" y="548640"/>
              <a:ext cx="1920240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444441"/>
                  </a:solidFill>
                </a:rPr>
                <a:t>Mid-term  (12-24 months)</a:t>
              </a:r>
            </a:p>
          </p:txBody>
        </p:sp>
        <p:sp>
          <p:nvSpPr>
            <p:cNvPr id="19" name="r">
              <a:extLst>
                <a:ext uri="{FF2B5EF4-FFF2-40B4-BE49-F238E27FC236}">
                  <a16:creationId xmlns:a16="http://schemas.microsoft.com/office/drawing/2014/main" id="{609E9EB8-EB8C-F4DA-A34B-146E406095A9}"/>
                </a:ext>
              </a:extLst>
            </p:cNvPr>
            <p:cNvSpPr/>
            <p:nvPr/>
          </p:nvSpPr>
          <p:spPr>
            <a:xfrm>
              <a:off x="6080760" y="576072"/>
              <a:ext cx="128016" cy="12801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">
              <a:extLst>
                <a:ext uri="{FF2B5EF4-FFF2-40B4-BE49-F238E27FC236}">
                  <a16:creationId xmlns:a16="http://schemas.microsoft.com/office/drawing/2014/main" id="{29C3FCA3-A159-4BA8-3C2D-FD234C24914F}"/>
                </a:ext>
              </a:extLst>
            </p:cNvPr>
            <p:cNvSpPr txBox="1"/>
            <p:nvPr/>
          </p:nvSpPr>
          <p:spPr>
            <a:xfrm>
              <a:off x="6245352" y="548640"/>
              <a:ext cx="1920240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444441"/>
                  </a:solidFill>
                </a:rPr>
                <a:t>Long-term  (24+ months)</a:t>
              </a:r>
            </a:p>
          </p:txBody>
        </p:sp>
      </p:grpSp>
      <p:grpSp>
        <p:nvGrpSpPr>
          <p:cNvPr id="21" name="DIV_Near-ter">
            <a:extLst>
              <a:ext uri="{FF2B5EF4-FFF2-40B4-BE49-F238E27FC236}">
                <a16:creationId xmlns:a16="http://schemas.microsoft.com/office/drawing/2014/main" id="{D061DED0-CF85-E34A-3E52-7BD92EA3B80F}"/>
              </a:ext>
            </a:extLst>
          </p:cNvPr>
          <p:cNvGrpSpPr/>
          <p:nvPr/>
        </p:nvGrpSpPr>
        <p:grpSpPr>
          <a:xfrm>
            <a:off x="475486" y="1636416"/>
            <a:ext cx="11145014" cy="212248"/>
            <a:chOff x="228600" y="822960"/>
            <a:chExt cx="8686800" cy="201168"/>
          </a:xfrm>
        </p:grpSpPr>
        <p:sp>
          <p:nvSpPr>
            <p:cNvPr id="22" name="r">
              <a:extLst>
                <a:ext uri="{FF2B5EF4-FFF2-40B4-BE49-F238E27FC236}">
                  <a16:creationId xmlns:a16="http://schemas.microsoft.com/office/drawing/2014/main" id="{EB9F7429-A0A6-CE6B-5AC9-06DD1E8EA347}"/>
                </a:ext>
              </a:extLst>
            </p:cNvPr>
            <p:cNvSpPr/>
            <p:nvPr/>
          </p:nvSpPr>
          <p:spPr>
            <a:xfrm>
              <a:off x="228600" y="822960"/>
              <a:ext cx="8686800" cy="201168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3" name="t">
              <a:extLst>
                <a:ext uri="{FF2B5EF4-FFF2-40B4-BE49-F238E27FC236}">
                  <a16:creationId xmlns:a16="http://schemas.microsoft.com/office/drawing/2014/main" id="{50CE0B79-B7E9-C6F4-5302-6E8075E9CE2E}"/>
                </a:ext>
              </a:extLst>
            </p:cNvPr>
            <p:cNvSpPr txBox="1"/>
            <p:nvPr/>
          </p:nvSpPr>
          <p:spPr>
            <a:xfrm>
              <a:off x="347472" y="83210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</a:rPr>
                <a:t>Near-term  (6-12 months)</a:t>
              </a:r>
            </a:p>
          </p:txBody>
        </p:sp>
        <p:sp>
          <p:nvSpPr>
            <p:cNvPr id="24" name="t">
              <a:extLst>
                <a:ext uri="{FF2B5EF4-FFF2-40B4-BE49-F238E27FC236}">
                  <a16:creationId xmlns:a16="http://schemas.microsoft.com/office/drawing/2014/main" id="{9D99DE26-4818-2D52-205B-DA4FFD6E8009}"/>
                </a:ext>
              </a:extLst>
            </p:cNvPr>
            <p:cNvSpPr txBox="1"/>
            <p:nvPr/>
          </p:nvSpPr>
          <p:spPr>
            <a:xfrm>
              <a:off x="2011680" y="832104"/>
              <a:ext cx="676656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FFFFFF"/>
                  </a:solidFill>
                </a:rPr>
                <a:t>Foundation integrations — shift-left feedback, CI/CD gates and autonomous monitoring</a:t>
              </a:r>
            </a:p>
          </p:txBody>
        </p:sp>
      </p:grpSp>
      <p:grpSp>
        <p:nvGrpSpPr>
          <p:cNvPr id="25" name="DIV_Mid-term">
            <a:extLst>
              <a:ext uri="{FF2B5EF4-FFF2-40B4-BE49-F238E27FC236}">
                <a16:creationId xmlns:a16="http://schemas.microsoft.com/office/drawing/2014/main" id="{6BD0964C-4681-8DA1-5635-DFC32B2ECB3D}"/>
              </a:ext>
            </a:extLst>
          </p:cNvPr>
          <p:cNvGrpSpPr/>
          <p:nvPr/>
        </p:nvGrpSpPr>
        <p:grpSpPr>
          <a:xfrm>
            <a:off x="530352" y="3137031"/>
            <a:ext cx="11090148" cy="234266"/>
            <a:chOff x="228600" y="2130552"/>
            <a:chExt cx="8686800" cy="201168"/>
          </a:xfrm>
        </p:grpSpPr>
        <p:sp>
          <p:nvSpPr>
            <p:cNvPr id="26" name="r">
              <a:extLst>
                <a:ext uri="{FF2B5EF4-FFF2-40B4-BE49-F238E27FC236}">
                  <a16:creationId xmlns:a16="http://schemas.microsoft.com/office/drawing/2014/main" id="{957418B2-BA83-C651-3EDD-9A686D1D735C}"/>
                </a:ext>
              </a:extLst>
            </p:cNvPr>
            <p:cNvSpPr/>
            <p:nvPr/>
          </p:nvSpPr>
          <p:spPr>
            <a:xfrm>
              <a:off x="228600" y="2130552"/>
              <a:ext cx="8686800" cy="201168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7" name="t">
              <a:extLst>
                <a:ext uri="{FF2B5EF4-FFF2-40B4-BE49-F238E27FC236}">
                  <a16:creationId xmlns:a16="http://schemas.microsoft.com/office/drawing/2014/main" id="{9EC7A606-35D4-F87F-0887-8731EF2CC8C7}"/>
                </a:ext>
              </a:extLst>
            </p:cNvPr>
            <p:cNvSpPr txBox="1"/>
            <p:nvPr/>
          </p:nvSpPr>
          <p:spPr>
            <a:xfrm>
              <a:off x="347472" y="2139696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</a:rPr>
                <a:t>Mid-term  (12-24 months)</a:t>
              </a:r>
            </a:p>
          </p:txBody>
        </p:sp>
        <p:sp>
          <p:nvSpPr>
            <p:cNvPr id="28" name="t">
              <a:extLst>
                <a:ext uri="{FF2B5EF4-FFF2-40B4-BE49-F238E27FC236}">
                  <a16:creationId xmlns:a16="http://schemas.microsoft.com/office/drawing/2014/main" id="{7ECD7C59-891A-B2DF-F58B-03DD1AFABC42}"/>
                </a:ext>
              </a:extLst>
            </p:cNvPr>
            <p:cNvSpPr txBox="1"/>
            <p:nvPr/>
          </p:nvSpPr>
          <p:spPr>
            <a:xfrm>
              <a:off x="2011680" y="2139696"/>
              <a:ext cx="676656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FFFFFF"/>
                  </a:solidFill>
                </a:rPr>
                <a:t>Governance intelligence — policy dashboards, gateway integration and self-updating rule engine</a:t>
              </a:r>
            </a:p>
          </p:txBody>
        </p:sp>
      </p:grpSp>
      <p:grpSp>
        <p:nvGrpSpPr>
          <p:cNvPr id="29" name="DIV_Long-ter">
            <a:extLst>
              <a:ext uri="{FF2B5EF4-FFF2-40B4-BE49-F238E27FC236}">
                <a16:creationId xmlns:a16="http://schemas.microsoft.com/office/drawing/2014/main" id="{CDD0A056-9F6A-912C-6EE1-CBF582AD2C77}"/>
              </a:ext>
            </a:extLst>
          </p:cNvPr>
          <p:cNvGrpSpPr/>
          <p:nvPr/>
        </p:nvGrpSpPr>
        <p:grpSpPr>
          <a:xfrm>
            <a:off x="530352" y="4874234"/>
            <a:ext cx="11090148" cy="236474"/>
            <a:chOff x="228600" y="3438144"/>
            <a:chExt cx="8686800" cy="201168"/>
          </a:xfrm>
        </p:grpSpPr>
        <p:sp>
          <p:nvSpPr>
            <p:cNvPr id="30" name="r">
              <a:extLst>
                <a:ext uri="{FF2B5EF4-FFF2-40B4-BE49-F238E27FC236}">
                  <a16:creationId xmlns:a16="http://schemas.microsoft.com/office/drawing/2014/main" id="{68561E60-B356-7799-DFCF-B4BD00B3528E}"/>
                </a:ext>
              </a:extLst>
            </p:cNvPr>
            <p:cNvSpPr/>
            <p:nvPr/>
          </p:nvSpPr>
          <p:spPr>
            <a:xfrm>
              <a:off x="228600" y="3438144"/>
              <a:ext cx="8686800" cy="201168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31" name="t">
              <a:extLst>
                <a:ext uri="{FF2B5EF4-FFF2-40B4-BE49-F238E27FC236}">
                  <a16:creationId xmlns:a16="http://schemas.microsoft.com/office/drawing/2014/main" id="{726B8442-9CEC-761A-B459-7393E62214C0}"/>
                </a:ext>
              </a:extLst>
            </p:cNvPr>
            <p:cNvSpPr txBox="1"/>
            <p:nvPr/>
          </p:nvSpPr>
          <p:spPr>
            <a:xfrm>
              <a:off x="347472" y="3447288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</a:rPr>
                <a:t>Long-term  (24+ months)</a:t>
              </a:r>
            </a:p>
          </p:txBody>
        </p:sp>
        <p:sp>
          <p:nvSpPr>
            <p:cNvPr id="32" name="t">
              <a:extLst>
                <a:ext uri="{FF2B5EF4-FFF2-40B4-BE49-F238E27FC236}">
                  <a16:creationId xmlns:a16="http://schemas.microsoft.com/office/drawing/2014/main" id="{004F5292-C186-F21A-21B9-C2996C7CCA3A}"/>
                </a:ext>
              </a:extLst>
            </p:cNvPr>
            <p:cNvSpPr txBox="1"/>
            <p:nvPr/>
          </p:nvSpPr>
          <p:spPr>
            <a:xfrm>
              <a:off x="2011680" y="3447288"/>
              <a:ext cx="6766560" cy="201168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FFFFFF"/>
                  </a:solidFill>
                </a:rPr>
                <a:t>Scale &amp; intelligence — distributed infrastructure, GPU acceleration and advanced ML governance</a:t>
              </a:r>
            </a:p>
          </p:txBody>
        </p:sp>
      </p:grpSp>
      <p:grpSp>
        <p:nvGrpSpPr>
          <p:cNvPr id="33" name="GROUP_CI/CD_integr">
            <a:extLst>
              <a:ext uri="{FF2B5EF4-FFF2-40B4-BE49-F238E27FC236}">
                <a16:creationId xmlns:a16="http://schemas.microsoft.com/office/drawing/2014/main" id="{F6B4846C-C328-AF83-7328-F22D5B040188}"/>
              </a:ext>
            </a:extLst>
          </p:cNvPr>
          <p:cNvGrpSpPr/>
          <p:nvPr/>
        </p:nvGrpSpPr>
        <p:grpSpPr>
          <a:xfrm>
            <a:off x="506706" y="1906846"/>
            <a:ext cx="3391320" cy="1133940"/>
            <a:chOff x="228600" y="1069848"/>
            <a:chExt cx="2743200" cy="1018236"/>
          </a:xfrm>
        </p:grpSpPr>
        <p:sp>
          <p:nvSpPr>
            <p:cNvPr id="34" name="r">
              <a:extLst>
                <a:ext uri="{FF2B5EF4-FFF2-40B4-BE49-F238E27FC236}">
                  <a16:creationId xmlns:a16="http://schemas.microsoft.com/office/drawing/2014/main" id="{F0B2EEB8-434E-26A6-0541-651324675C13}"/>
                </a:ext>
              </a:extLst>
            </p:cNvPr>
            <p:cNvSpPr/>
            <p:nvPr/>
          </p:nvSpPr>
          <p:spPr>
            <a:xfrm>
              <a:off x="228600" y="1069848"/>
              <a:ext cx="2743200" cy="1005840"/>
            </a:xfrm>
            <a:prstGeom prst="rect">
              <a:avLst/>
            </a:prstGeom>
            <a:solidFill>
              <a:srgbClr val="E6F1FB"/>
            </a:solidFill>
            <a:ln w="9525">
              <a:solidFill>
                <a:srgbClr val="85B7EB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5" name="r">
              <a:extLst>
                <a:ext uri="{FF2B5EF4-FFF2-40B4-BE49-F238E27FC236}">
                  <a16:creationId xmlns:a16="http://schemas.microsoft.com/office/drawing/2014/main" id="{2E4FA1B5-D4E7-D5FC-6C90-91D69321BCC8}"/>
                </a:ext>
              </a:extLst>
            </p:cNvPr>
            <p:cNvSpPr/>
            <p:nvPr/>
          </p:nvSpPr>
          <p:spPr>
            <a:xfrm>
              <a:off x="228600" y="1069848"/>
              <a:ext cx="2743200" cy="5943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6" name="r">
              <a:extLst>
                <a:ext uri="{FF2B5EF4-FFF2-40B4-BE49-F238E27FC236}">
                  <a16:creationId xmlns:a16="http://schemas.microsoft.com/office/drawing/2014/main" id="{DC93BD3E-F567-D957-845D-6A2B06BA7BE3}"/>
                </a:ext>
              </a:extLst>
            </p:cNvPr>
            <p:cNvSpPr/>
            <p:nvPr/>
          </p:nvSpPr>
          <p:spPr>
            <a:xfrm>
              <a:off x="2002536" y="1143000"/>
              <a:ext cx="914400" cy="182880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7" name="t">
              <a:extLst>
                <a:ext uri="{FF2B5EF4-FFF2-40B4-BE49-F238E27FC236}">
                  <a16:creationId xmlns:a16="http://schemas.microsoft.com/office/drawing/2014/main" id="{22C75B71-1FCE-BBA2-C6D4-C16BEFEF4A9F}"/>
                </a:ext>
              </a:extLst>
            </p:cNvPr>
            <p:cNvSpPr txBox="1"/>
            <p:nvPr/>
          </p:nvSpPr>
          <p:spPr>
            <a:xfrm>
              <a:off x="2002536" y="114300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</a:rPr>
                <a:t>Near-term</a:t>
              </a:r>
            </a:p>
          </p:txBody>
        </p:sp>
        <p:sp>
          <p:nvSpPr>
            <p:cNvPr id="38" name="t">
              <a:extLst>
                <a:ext uri="{FF2B5EF4-FFF2-40B4-BE49-F238E27FC236}">
                  <a16:creationId xmlns:a16="http://schemas.microsoft.com/office/drawing/2014/main" id="{051920AA-DB6A-E440-694D-EFA52786E903}"/>
                </a:ext>
              </a:extLst>
            </p:cNvPr>
            <p:cNvSpPr txBox="1"/>
            <p:nvPr/>
          </p:nvSpPr>
          <p:spPr>
            <a:xfrm>
              <a:off x="356616" y="1161288"/>
              <a:ext cx="1572768" cy="2377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2C53"/>
                  </a:solidFill>
                </a:rPr>
                <a:t>CI/CD integration</a:t>
              </a:r>
            </a:p>
          </p:txBody>
        </p:sp>
        <p:sp>
          <p:nvSpPr>
            <p:cNvPr id="39" name="r">
              <a:extLst>
                <a:ext uri="{FF2B5EF4-FFF2-40B4-BE49-F238E27FC236}">
                  <a16:creationId xmlns:a16="http://schemas.microsoft.com/office/drawing/2014/main" id="{BEB8E0DA-487D-C153-4A20-6E9327A6D5A2}"/>
                </a:ext>
              </a:extLst>
            </p:cNvPr>
            <p:cNvSpPr/>
            <p:nvPr/>
          </p:nvSpPr>
          <p:spPr>
            <a:xfrm>
              <a:off x="393192" y="1453896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0" name="t">
              <a:extLst>
                <a:ext uri="{FF2B5EF4-FFF2-40B4-BE49-F238E27FC236}">
                  <a16:creationId xmlns:a16="http://schemas.microsoft.com/office/drawing/2014/main" id="{E5A59985-4802-8BC3-4337-C26E2D3F3E6B}"/>
                </a:ext>
              </a:extLst>
            </p:cNvPr>
            <p:cNvSpPr txBox="1"/>
            <p:nvPr/>
          </p:nvSpPr>
          <p:spPr>
            <a:xfrm>
              <a:off x="530352" y="1396681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950" b="0" dirty="0">
                  <a:solidFill>
                    <a:srgbClr val="0C447C"/>
                  </a:solidFill>
                </a:rPr>
                <a:t>Automated PR creation with inline spec fix suggestions</a:t>
              </a:r>
            </a:p>
          </p:txBody>
        </p:sp>
        <p:sp>
          <p:nvSpPr>
            <p:cNvPr id="41" name="r">
              <a:extLst>
                <a:ext uri="{FF2B5EF4-FFF2-40B4-BE49-F238E27FC236}">
                  <a16:creationId xmlns:a16="http://schemas.microsoft.com/office/drawing/2014/main" id="{82307E76-EDB0-5E95-F90A-C70BDC253AFA}"/>
                </a:ext>
              </a:extLst>
            </p:cNvPr>
            <p:cNvSpPr/>
            <p:nvPr/>
          </p:nvSpPr>
          <p:spPr>
            <a:xfrm>
              <a:off x="393192" y="1691640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2" name="t">
              <a:extLst>
                <a:ext uri="{FF2B5EF4-FFF2-40B4-BE49-F238E27FC236}">
                  <a16:creationId xmlns:a16="http://schemas.microsoft.com/office/drawing/2014/main" id="{98425425-F6B4-6D36-9CFA-71F9ED62E1EF}"/>
                </a:ext>
              </a:extLst>
            </p:cNvPr>
            <p:cNvSpPr txBox="1"/>
            <p:nvPr/>
          </p:nvSpPr>
          <p:spPr>
            <a:xfrm>
              <a:off x="530352" y="1637964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C447C"/>
                  </a:solidFill>
                </a:rPr>
                <a:t>GitHub Actions / GitLab CI pipeline plugin</a:t>
              </a:r>
            </a:p>
          </p:txBody>
        </p:sp>
        <p:sp>
          <p:nvSpPr>
            <p:cNvPr id="43" name="r">
              <a:extLst>
                <a:ext uri="{FF2B5EF4-FFF2-40B4-BE49-F238E27FC236}">
                  <a16:creationId xmlns:a16="http://schemas.microsoft.com/office/drawing/2014/main" id="{D1BF5383-B977-7BB4-62D9-87957988BF7E}"/>
                </a:ext>
              </a:extLst>
            </p:cNvPr>
            <p:cNvSpPr/>
            <p:nvPr/>
          </p:nvSpPr>
          <p:spPr>
            <a:xfrm>
              <a:off x="393192" y="1929384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4" name="t">
              <a:extLst>
                <a:ext uri="{FF2B5EF4-FFF2-40B4-BE49-F238E27FC236}">
                  <a16:creationId xmlns:a16="http://schemas.microsoft.com/office/drawing/2014/main" id="{2166565F-8455-A244-24EE-ABD2368521F2}"/>
                </a:ext>
              </a:extLst>
            </p:cNvPr>
            <p:cNvSpPr txBox="1"/>
            <p:nvPr/>
          </p:nvSpPr>
          <p:spPr>
            <a:xfrm>
              <a:off x="530351" y="1868628"/>
              <a:ext cx="238658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950" b="0" dirty="0">
                  <a:solidFill>
                    <a:srgbClr val="0C447C"/>
                  </a:solidFill>
                </a:rPr>
                <a:t>Quality gate: block merges below health score threshold</a:t>
              </a:r>
            </a:p>
          </p:txBody>
        </p:sp>
      </p:grpSp>
      <p:grpSp>
        <p:nvGrpSpPr>
          <p:cNvPr id="45" name="GROUP_Streaming_an">
            <a:extLst>
              <a:ext uri="{FF2B5EF4-FFF2-40B4-BE49-F238E27FC236}">
                <a16:creationId xmlns:a16="http://schemas.microsoft.com/office/drawing/2014/main" id="{D3B68F11-D68D-46D8-5DD2-A703D8C085BC}"/>
              </a:ext>
            </a:extLst>
          </p:cNvPr>
          <p:cNvGrpSpPr/>
          <p:nvPr/>
        </p:nvGrpSpPr>
        <p:grpSpPr>
          <a:xfrm>
            <a:off x="4105169" y="1906846"/>
            <a:ext cx="3639627" cy="1120134"/>
            <a:chOff x="3200398" y="1069848"/>
            <a:chExt cx="2743202" cy="1060704"/>
          </a:xfrm>
        </p:grpSpPr>
        <p:sp>
          <p:nvSpPr>
            <p:cNvPr id="46" name="r">
              <a:extLst>
                <a:ext uri="{FF2B5EF4-FFF2-40B4-BE49-F238E27FC236}">
                  <a16:creationId xmlns:a16="http://schemas.microsoft.com/office/drawing/2014/main" id="{8D2FB22A-EC00-D0B3-A33A-5EA90AE2DDAB}"/>
                </a:ext>
              </a:extLst>
            </p:cNvPr>
            <p:cNvSpPr/>
            <p:nvPr/>
          </p:nvSpPr>
          <p:spPr>
            <a:xfrm>
              <a:off x="3200398" y="1069848"/>
              <a:ext cx="2743200" cy="1060704"/>
            </a:xfrm>
            <a:prstGeom prst="rect">
              <a:avLst/>
            </a:prstGeom>
            <a:solidFill>
              <a:srgbClr val="E6F1FB"/>
            </a:solidFill>
            <a:ln w="9525">
              <a:solidFill>
                <a:srgbClr val="85B7EB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7" name="r">
              <a:extLst>
                <a:ext uri="{FF2B5EF4-FFF2-40B4-BE49-F238E27FC236}">
                  <a16:creationId xmlns:a16="http://schemas.microsoft.com/office/drawing/2014/main" id="{CB80ADFA-E416-D884-FE50-41F66E555471}"/>
                </a:ext>
              </a:extLst>
            </p:cNvPr>
            <p:cNvSpPr/>
            <p:nvPr/>
          </p:nvSpPr>
          <p:spPr>
            <a:xfrm>
              <a:off x="3200400" y="1069848"/>
              <a:ext cx="2743200" cy="5943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8" name="r">
              <a:extLst>
                <a:ext uri="{FF2B5EF4-FFF2-40B4-BE49-F238E27FC236}">
                  <a16:creationId xmlns:a16="http://schemas.microsoft.com/office/drawing/2014/main" id="{1591DCCC-6392-45F9-43D9-F76A38B53213}"/>
                </a:ext>
              </a:extLst>
            </p:cNvPr>
            <p:cNvSpPr/>
            <p:nvPr/>
          </p:nvSpPr>
          <p:spPr>
            <a:xfrm>
              <a:off x="4974336" y="1143000"/>
              <a:ext cx="914400" cy="182880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0" name="t">
              <a:extLst>
                <a:ext uri="{FF2B5EF4-FFF2-40B4-BE49-F238E27FC236}">
                  <a16:creationId xmlns:a16="http://schemas.microsoft.com/office/drawing/2014/main" id="{E1C40E5A-93FA-FFB6-6915-0E205A8A94F1}"/>
                </a:ext>
              </a:extLst>
            </p:cNvPr>
            <p:cNvSpPr txBox="1"/>
            <p:nvPr/>
          </p:nvSpPr>
          <p:spPr>
            <a:xfrm>
              <a:off x="4974336" y="114300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</a:rPr>
                <a:t>Near-term</a:t>
              </a:r>
            </a:p>
          </p:txBody>
        </p:sp>
        <p:sp>
          <p:nvSpPr>
            <p:cNvPr id="51" name="t">
              <a:extLst>
                <a:ext uri="{FF2B5EF4-FFF2-40B4-BE49-F238E27FC236}">
                  <a16:creationId xmlns:a16="http://schemas.microsoft.com/office/drawing/2014/main" id="{3B61212C-2EB2-77E0-9BB2-0D9C798CDB84}"/>
                </a:ext>
              </a:extLst>
            </p:cNvPr>
            <p:cNvSpPr txBox="1"/>
            <p:nvPr/>
          </p:nvSpPr>
          <p:spPr>
            <a:xfrm>
              <a:off x="3328416" y="1161288"/>
              <a:ext cx="1572768" cy="2377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2C53"/>
                  </a:solidFill>
                </a:rPr>
                <a:t>Streaming analysis</a:t>
              </a:r>
            </a:p>
          </p:txBody>
        </p:sp>
        <p:sp>
          <p:nvSpPr>
            <p:cNvPr id="52" name="r">
              <a:extLst>
                <a:ext uri="{FF2B5EF4-FFF2-40B4-BE49-F238E27FC236}">
                  <a16:creationId xmlns:a16="http://schemas.microsoft.com/office/drawing/2014/main" id="{CD7B6EF6-4262-6437-BBFE-89D138A2DA87}"/>
                </a:ext>
              </a:extLst>
            </p:cNvPr>
            <p:cNvSpPr/>
            <p:nvPr/>
          </p:nvSpPr>
          <p:spPr>
            <a:xfrm>
              <a:off x="3364992" y="1453896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3" name="t">
              <a:extLst>
                <a:ext uri="{FF2B5EF4-FFF2-40B4-BE49-F238E27FC236}">
                  <a16:creationId xmlns:a16="http://schemas.microsoft.com/office/drawing/2014/main" id="{939B3D5F-2141-6D6F-0E92-852CE7A6F6D6}"/>
                </a:ext>
              </a:extLst>
            </p:cNvPr>
            <p:cNvSpPr txBox="1"/>
            <p:nvPr/>
          </p:nvSpPr>
          <p:spPr>
            <a:xfrm>
              <a:off x="3502152" y="1398289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C447C"/>
                  </a:solidFill>
                </a:rPr>
                <a:t>Real-time feedback as spec is authored — line-by-line</a:t>
              </a:r>
            </a:p>
          </p:txBody>
        </p:sp>
        <p:sp>
          <p:nvSpPr>
            <p:cNvPr id="54" name="r">
              <a:extLst>
                <a:ext uri="{FF2B5EF4-FFF2-40B4-BE49-F238E27FC236}">
                  <a16:creationId xmlns:a16="http://schemas.microsoft.com/office/drawing/2014/main" id="{CA914C68-D816-C746-552B-A20746DC9F42}"/>
                </a:ext>
              </a:extLst>
            </p:cNvPr>
            <p:cNvSpPr/>
            <p:nvPr/>
          </p:nvSpPr>
          <p:spPr>
            <a:xfrm>
              <a:off x="3364992" y="1691640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5" name="t">
              <a:extLst>
                <a:ext uri="{FF2B5EF4-FFF2-40B4-BE49-F238E27FC236}">
                  <a16:creationId xmlns:a16="http://schemas.microsoft.com/office/drawing/2014/main" id="{16768734-8917-C9FF-0742-DD1493CF9B6A}"/>
                </a:ext>
              </a:extLst>
            </p:cNvPr>
            <p:cNvSpPr txBox="1"/>
            <p:nvPr/>
          </p:nvSpPr>
          <p:spPr>
            <a:xfrm>
              <a:off x="3502152" y="1632301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C447C"/>
                  </a:solidFill>
                </a:rPr>
                <a:t>IDE plugin (VS Code) with inline health indicators</a:t>
              </a:r>
            </a:p>
          </p:txBody>
        </p:sp>
        <p:sp>
          <p:nvSpPr>
            <p:cNvPr id="56" name="r">
              <a:extLst>
                <a:ext uri="{FF2B5EF4-FFF2-40B4-BE49-F238E27FC236}">
                  <a16:creationId xmlns:a16="http://schemas.microsoft.com/office/drawing/2014/main" id="{4F41A040-B6F8-B3BA-5976-48F526633240}"/>
                </a:ext>
              </a:extLst>
            </p:cNvPr>
            <p:cNvSpPr/>
            <p:nvPr/>
          </p:nvSpPr>
          <p:spPr>
            <a:xfrm>
              <a:off x="3364992" y="1929384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7" name="t">
              <a:extLst>
                <a:ext uri="{FF2B5EF4-FFF2-40B4-BE49-F238E27FC236}">
                  <a16:creationId xmlns:a16="http://schemas.microsoft.com/office/drawing/2014/main" id="{497CDDEB-DDC9-829C-85CE-21F21EAD9DBF}"/>
                </a:ext>
              </a:extLst>
            </p:cNvPr>
            <p:cNvSpPr txBox="1"/>
            <p:nvPr/>
          </p:nvSpPr>
          <p:spPr>
            <a:xfrm>
              <a:off x="3502152" y="1873777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C447C"/>
                  </a:solidFill>
                </a:rPr>
                <a:t>Incremental re-analysis of only changed spec sections</a:t>
              </a:r>
            </a:p>
          </p:txBody>
        </p:sp>
      </p:grpSp>
      <p:grpSp>
        <p:nvGrpSpPr>
          <p:cNvPr id="58" name="GROUP_Agentic_API_">
            <a:extLst>
              <a:ext uri="{FF2B5EF4-FFF2-40B4-BE49-F238E27FC236}">
                <a16:creationId xmlns:a16="http://schemas.microsoft.com/office/drawing/2014/main" id="{C8A8AE34-706C-07DA-3097-256D60FDB052}"/>
              </a:ext>
            </a:extLst>
          </p:cNvPr>
          <p:cNvGrpSpPr/>
          <p:nvPr/>
        </p:nvGrpSpPr>
        <p:grpSpPr>
          <a:xfrm>
            <a:off x="7955909" y="1906845"/>
            <a:ext cx="3664591" cy="1120135"/>
            <a:chOff x="6172200" y="1069848"/>
            <a:chExt cx="2743200" cy="1005840"/>
          </a:xfrm>
        </p:grpSpPr>
        <p:sp>
          <p:nvSpPr>
            <p:cNvPr id="59" name="r">
              <a:extLst>
                <a:ext uri="{FF2B5EF4-FFF2-40B4-BE49-F238E27FC236}">
                  <a16:creationId xmlns:a16="http://schemas.microsoft.com/office/drawing/2014/main" id="{28B2658A-9FD7-BCDD-1163-87F074FEA105}"/>
                </a:ext>
              </a:extLst>
            </p:cNvPr>
            <p:cNvSpPr/>
            <p:nvPr/>
          </p:nvSpPr>
          <p:spPr>
            <a:xfrm>
              <a:off x="6172200" y="1069848"/>
              <a:ext cx="2743200" cy="1005840"/>
            </a:xfrm>
            <a:prstGeom prst="rect">
              <a:avLst/>
            </a:prstGeom>
            <a:solidFill>
              <a:srgbClr val="E6F1FB"/>
            </a:solidFill>
            <a:ln w="9525">
              <a:solidFill>
                <a:srgbClr val="85B7EB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0" name="r">
              <a:extLst>
                <a:ext uri="{FF2B5EF4-FFF2-40B4-BE49-F238E27FC236}">
                  <a16:creationId xmlns:a16="http://schemas.microsoft.com/office/drawing/2014/main" id="{A68650C7-6F3F-AFD0-3609-98E6726B139F}"/>
                </a:ext>
              </a:extLst>
            </p:cNvPr>
            <p:cNvSpPr/>
            <p:nvPr/>
          </p:nvSpPr>
          <p:spPr>
            <a:xfrm>
              <a:off x="6172200" y="1069848"/>
              <a:ext cx="2743200" cy="5943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1" name="r">
              <a:extLst>
                <a:ext uri="{FF2B5EF4-FFF2-40B4-BE49-F238E27FC236}">
                  <a16:creationId xmlns:a16="http://schemas.microsoft.com/office/drawing/2014/main" id="{9C05287B-00A5-A80F-0BA7-A7B5262FA55A}"/>
                </a:ext>
              </a:extLst>
            </p:cNvPr>
            <p:cNvSpPr/>
            <p:nvPr/>
          </p:nvSpPr>
          <p:spPr>
            <a:xfrm>
              <a:off x="7946136" y="1143000"/>
              <a:ext cx="914400" cy="182880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2" name="t">
              <a:extLst>
                <a:ext uri="{FF2B5EF4-FFF2-40B4-BE49-F238E27FC236}">
                  <a16:creationId xmlns:a16="http://schemas.microsoft.com/office/drawing/2014/main" id="{681978A3-F03B-CBD7-CB1A-86FBC756BB41}"/>
                </a:ext>
              </a:extLst>
            </p:cNvPr>
            <p:cNvSpPr txBox="1"/>
            <p:nvPr/>
          </p:nvSpPr>
          <p:spPr>
            <a:xfrm>
              <a:off x="7946136" y="114300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</a:rPr>
                <a:t>Near-term</a:t>
              </a:r>
            </a:p>
          </p:txBody>
        </p:sp>
        <p:sp>
          <p:nvSpPr>
            <p:cNvPr id="63" name="t">
              <a:extLst>
                <a:ext uri="{FF2B5EF4-FFF2-40B4-BE49-F238E27FC236}">
                  <a16:creationId xmlns:a16="http://schemas.microsoft.com/office/drawing/2014/main" id="{AC2C232E-E78A-6236-C62E-06DD05037E49}"/>
                </a:ext>
              </a:extLst>
            </p:cNvPr>
            <p:cNvSpPr txBox="1"/>
            <p:nvPr/>
          </p:nvSpPr>
          <p:spPr>
            <a:xfrm>
              <a:off x="6300216" y="1161288"/>
              <a:ext cx="1572768" cy="2377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1" dirty="0">
                  <a:solidFill>
                    <a:srgbClr val="042C53"/>
                  </a:solidFill>
                </a:rPr>
                <a:t>Agentic API monitoring</a:t>
              </a:r>
            </a:p>
          </p:txBody>
        </p:sp>
        <p:sp>
          <p:nvSpPr>
            <p:cNvPr id="64" name="r">
              <a:extLst>
                <a:ext uri="{FF2B5EF4-FFF2-40B4-BE49-F238E27FC236}">
                  <a16:creationId xmlns:a16="http://schemas.microsoft.com/office/drawing/2014/main" id="{011093F1-4FA2-36D6-1703-C22F8D28A508}"/>
                </a:ext>
              </a:extLst>
            </p:cNvPr>
            <p:cNvSpPr/>
            <p:nvPr/>
          </p:nvSpPr>
          <p:spPr>
            <a:xfrm>
              <a:off x="6336792" y="1422045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5" name="t">
              <a:extLst>
                <a:ext uri="{FF2B5EF4-FFF2-40B4-BE49-F238E27FC236}">
                  <a16:creationId xmlns:a16="http://schemas.microsoft.com/office/drawing/2014/main" id="{E28BAD9F-7C53-F4AF-991D-C23E4822B64E}"/>
                </a:ext>
              </a:extLst>
            </p:cNvPr>
            <p:cNvSpPr txBox="1"/>
            <p:nvPr/>
          </p:nvSpPr>
          <p:spPr>
            <a:xfrm>
              <a:off x="6473952" y="1329441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C447C"/>
                  </a:solidFill>
                </a:rPr>
                <a:t>Autonomous agent scans live APIs on a configurable schedule</a:t>
              </a:r>
            </a:p>
          </p:txBody>
        </p:sp>
        <p:sp>
          <p:nvSpPr>
            <p:cNvPr id="66" name="r">
              <a:extLst>
                <a:ext uri="{FF2B5EF4-FFF2-40B4-BE49-F238E27FC236}">
                  <a16:creationId xmlns:a16="http://schemas.microsoft.com/office/drawing/2014/main" id="{675AB253-CFC1-66DD-516A-97755BB5B8EB}"/>
                </a:ext>
              </a:extLst>
            </p:cNvPr>
            <p:cNvSpPr/>
            <p:nvPr/>
          </p:nvSpPr>
          <p:spPr>
            <a:xfrm>
              <a:off x="6336792" y="1670407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7" name="t">
              <a:extLst>
                <a:ext uri="{FF2B5EF4-FFF2-40B4-BE49-F238E27FC236}">
                  <a16:creationId xmlns:a16="http://schemas.microsoft.com/office/drawing/2014/main" id="{BCDDDAB1-63B3-4DF9-51E3-46495E9D55EE}"/>
                </a:ext>
              </a:extLst>
            </p:cNvPr>
            <p:cNvSpPr txBox="1"/>
            <p:nvPr/>
          </p:nvSpPr>
          <p:spPr>
            <a:xfrm>
              <a:off x="6473952" y="1609654"/>
              <a:ext cx="2441448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950" b="0" dirty="0">
                  <a:solidFill>
                    <a:srgbClr val="0C447C"/>
                  </a:solidFill>
                </a:rPr>
                <a:t>Detects drift vs. OpenAPI spec — flags new violations</a:t>
              </a:r>
            </a:p>
          </p:txBody>
        </p:sp>
        <p:sp>
          <p:nvSpPr>
            <p:cNvPr id="68" name="r">
              <a:extLst>
                <a:ext uri="{FF2B5EF4-FFF2-40B4-BE49-F238E27FC236}">
                  <a16:creationId xmlns:a16="http://schemas.microsoft.com/office/drawing/2014/main" id="{EC8B94F5-6872-527A-0AA9-5A8265FAFA36}"/>
                </a:ext>
              </a:extLst>
            </p:cNvPr>
            <p:cNvSpPr/>
            <p:nvPr/>
          </p:nvSpPr>
          <p:spPr>
            <a:xfrm>
              <a:off x="6336792" y="1901075"/>
              <a:ext cx="82296" cy="82296"/>
            </a:xfrm>
            <a:prstGeom prst="rect">
              <a:avLst/>
            </a:prstGeom>
            <a:solidFill>
              <a:srgbClr val="185FA5"/>
            </a:solidFill>
            <a:ln w="0">
              <a:solidFill>
                <a:srgbClr val="185FA5"/>
              </a:solidFill>
            </a:ln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69" name="t">
              <a:extLst>
                <a:ext uri="{FF2B5EF4-FFF2-40B4-BE49-F238E27FC236}">
                  <a16:creationId xmlns:a16="http://schemas.microsoft.com/office/drawing/2014/main" id="{98737088-1894-8FEA-76AA-9ABBEFA3602B}"/>
                </a:ext>
              </a:extLst>
            </p:cNvPr>
            <p:cNvSpPr txBox="1"/>
            <p:nvPr/>
          </p:nvSpPr>
          <p:spPr>
            <a:xfrm>
              <a:off x="6473952" y="1764741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950" b="0" dirty="0">
                  <a:solidFill>
                    <a:srgbClr val="0C447C"/>
                  </a:solidFill>
                </a:rPr>
                <a:t>Auto-emails health report to mapped stakeholders per API team</a:t>
              </a:r>
            </a:p>
          </p:txBody>
        </p:sp>
      </p:grpSp>
      <p:grpSp>
        <p:nvGrpSpPr>
          <p:cNvPr id="70" name="GROUP_Policy-as-co">
            <a:extLst>
              <a:ext uri="{FF2B5EF4-FFF2-40B4-BE49-F238E27FC236}">
                <a16:creationId xmlns:a16="http://schemas.microsoft.com/office/drawing/2014/main" id="{BE7D3F91-C610-EC90-278B-9DE13D961AA7}"/>
              </a:ext>
            </a:extLst>
          </p:cNvPr>
          <p:cNvGrpSpPr/>
          <p:nvPr/>
        </p:nvGrpSpPr>
        <p:grpSpPr>
          <a:xfrm>
            <a:off x="530352" y="3431213"/>
            <a:ext cx="3367674" cy="1373337"/>
            <a:chOff x="228600" y="2377440"/>
            <a:chExt cx="2743200" cy="1005840"/>
          </a:xfrm>
        </p:grpSpPr>
        <p:sp>
          <p:nvSpPr>
            <p:cNvPr id="71" name="r">
              <a:extLst>
                <a:ext uri="{FF2B5EF4-FFF2-40B4-BE49-F238E27FC236}">
                  <a16:creationId xmlns:a16="http://schemas.microsoft.com/office/drawing/2014/main" id="{5B50D403-A8B2-7626-96EF-68CDEEDA6389}"/>
                </a:ext>
              </a:extLst>
            </p:cNvPr>
            <p:cNvSpPr/>
            <p:nvPr/>
          </p:nvSpPr>
          <p:spPr>
            <a:xfrm>
              <a:off x="228600" y="2377440"/>
              <a:ext cx="2743200" cy="1005840"/>
            </a:xfrm>
            <a:prstGeom prst="rect">
              <a:avLst/>
            </a:prstGeom>
            <a:solidFill>
              <a:srgbClr val="E1F5EE"/>
            </a:solidFill>
            <a:ln w="9525">
              <a:solidFill>
                <a:srgbClr val="5DCA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72" name="r">
              <a:extLst>
                <a:ext uri="{FF2B5EF4-FFF2-40B4-BE49-F238E27FC236}">
                  <a16:creationId xmlns:a16="http://schemas.microsoft.com/office/drawing/2014/main" id="{8D26355B-EEDA-B769-C647-925A5707881F}"/>
                </a:ext>
              </a:extLst>
            </p:cNvPr>
            <p:cNvSpPr/>
            <p:nvPr/>
          </p:nvSpPr>
          <p:spPr>
            <a:xfrm>
              <a:off x="228600" y="2377440"/>
              <a:ext cx="2743200" cy="5943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73" name="r">
              <a:extLst>
                <a:ext uri="{FF2B5EF4-FFF2-40B4-BE49-F238E27FC236}">
                  <a16:creationId xmlns:a16="http://schemas.microsoft.com/office/drawing/2014/main" id="{B9C2F7C0-A4C4-9587-6CBA-05033FB027AA}"/>
                </a:ext>
              </a:extLst>
            </p:cNvPr>
            <p:cNvSpPr/>
            <p:nvPr/>
          </p:nvSpPr>
          <p:spPr>
            <a:xfrm>
              <a:off x="2002536" y="2450592"/>
              <a:ext cx="914400" cy="182880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74" name="t">
              <a:extLst>
                <a:ext uri="{FF2B5EF4-FFF2-40B4-BE49-F238E27FC236}">
                  <a16:creationId xmlns:a16="http://schemas.microsoft.com/office/drawing/2014/main" id="{45159D1B-5C3F-6127-2FE7-204751FB259F}"/>
                </a:ext>
              </a:extLst>
            </p:cNvPr>
            <p:cNvSpPr txBox="1"/>
            <p:nvPr/>
          </p:nvSpPr>
          <p:spPr>
            <a:xfrm>
              <a:off x="2002536" y="2450592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Mid-term</a:t>
              </a:r>
            </a:p>
          </p:txBody>
        </p:sp>
        <p:sp>
          <p:nvSpPr>
            <p:cNvPr id="75" name="t">
              <a:extLst>
                <a:ext uri="{FF2B5EF4-FFF2-40B4-BE49-F238E27FC236}">
                  <a16:creationId xmlns:a16="http://schemas.microsoft.com/office/drawing/2014/main" id="{8C6F4811-4AFC-E99F-20BE-492CA8159CFD}"/>
                </a:ext>
              </a:extLst>
            </p:cNvPr>
            <p:cNvSpPr txBox="1"/>
            <p:nvPr/>
          </p:nvSpPr>
          <p:spPr>
            <a:xfrm>
              <a:off x="356616" y="2468880"/>
              <a:ext cx="1572768" cy="2377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200" b="1" dirty="0">
                  <a:solidFill>
                    <a:srgbClr val="04342C"/>
                  </a:solidFill>
                </a:rPr>
                <a:t>Policy-as-code dashboard</a:t>
              </a:r>
            </a:p>
          </p:txBody>
        </p:sp>
        <p:sp>
          <p:nvSpPr>
            <p:cNvPr id="76" name="r">
              <a:extLst>
                <a:ext uri="{FF2B5EF4-FFF2-40B4-BE49-F238E27FC236}">
                  <a16:creationId xmlns:a16="http://schemas.microsoft.com/office/drawing/2014/main" id="{064B3DA8-E9AE-D308-D918-1EDA5C116E92}"/>
                </a:ext>
              </a:extLst>
            </p:cNvPr>
            <p:cNvSpPr/>
            <p:nvPr/>
          </p:nvSpPr>
          <p:spPr>
            <a:xfrm>
              <a:off x="393192" y="2761488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77" name="t">
              <a:extLst>
                <a:ext uri="{FF2B5EF4-FFF2-40B4-BE49-F238E27FC236}">
                  <a16:creationId xmlns:a16="http://schemas.microsoft.com/office/drawing/2014/main" id="{91F96888-F8D9-0901-EC13-9379B6E030A5}"/>
                </a:ext>
              </a:extLst>
            </p:cNvPr>
            <p:cNvSpPr txBox="1"/>
            <p:nvPr/>
          </p:nvSpPr>
          <p:spPr>
            <a:xfrm>
              <a:off x="530352" y="2743200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85041"/>
                  </a:solidFill>
                </a:rPr>
                <a:t>Visual governance dashboard across all APIs in the org</a:t>
              </a:r>
            </a:p>
          </p:txBody>
        </p:sp>
        <p:sp>
          <p:nvSpPr>
            <p:cNvPr id="78" name="r">
              <a:extLst>
                <a:ext uri="{FF2B5EF4-FFF2-40B4-BE49-F238E27FC236}">
                  <a16:creationId xmlns:a16="http://schemas.microsoft.com/office/drawing/2014/main" id="{0DF27F10-3187-E181-8235-11008005B132}"/>
                </a:ext>
              </a:extLst>
            </p:cNvPr>
            <p:cNvSpPr/>
            <p:nvPr/>
          </p:nvSpPr>
          <p:spPr>
            <a:xfrm>
              <a:off x="393192" y="2999232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79" name="t">
              <a:extLst>
                <a:ext uri="{FF2B5EF4-FFF2-40B4-BE49-F238E27FC236}">
                  <a16:creationId xmlns:a16="http://schemas.microsoft.com/office/drawing/2014/main" id="{172AE77E-66CD-7228-DDAB-302639295BBA}"/>
                </a:ext>
              </a:extLst>
            </p:cNvPr>
            <p:cNvSpPr txBox="1"/>
            <p:nvPr/>
          </p:nvSpPr>
          <p:spPr>
            <a:xfrm>
              <a:off x="530352" y="2980944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85041"/>
                  </a:solidFill>
                </a:rPr>
                <a:t>Custom policy definition language for enterprise rules</a:t>
              </a:r>
            </a:p>
          </p:txBody>
        </p:sp>
        <p:sp>
          <p:nvSpPr>
            <p:cNvPr id="80" name="r">
              <a:extLst>
                <a:ext uri="{FF2B5EF4-FFF2-40B4-BE49-F238E27FC236}">
                  <a16:creationId xmlns:a16="http://schemas.microsoft.com/office/drawing/2014/main" id="{706719D8-4C74-4500-731F-D52EC6CB205C}"/>
                </a:ext>
              </a:extLst>
            </p:cNvPr>
            <p:cNvSpPr/>
            <p:nvPr/>
          </p:nvSpPr>
          <p:spPr>
            <a:xfrm>
              <a:off x="393192" y="3236976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81" name="t">
              <a:extLst>
                <a:ext uri="{FF2B5EF4-FFF2-40B4-BE49-F238E27FC236}">
                  <a16:creationId xmlns:a16="http://schemas.microsoft.com/office/drawing/2014/main" id="{F5657749-97CD-4F04-A710-CC2C627441D6}"/>
                </a:ext>
              </a:extLst>
            </p:cNvPr>
            <p:cNvSpPr txBox="1"/>
            <p:nvPr/>
          </p:nvSpPr>
          <p:spPr>
            <a:xfrm>
              <a:off x="530352" y="3218688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85041"/>
                  </a:solidFill>
                </a:rPr>
                <a:t>Trend tracking: health score evolution over time</a:t>
              </a:r>
            </a:p>
          </p:txBody>
        </p:sp>
      </p:grpSp>
      <p:grpSp>
        <p:nvGrpSpPr>
          <p:cNvPr id="82" name="GROUP_API_gateway_">
            <a:extLst>
              <a:ext uri="{FF2B5EF4-FFF2-40B4-BE49-F238E27FC236}">
                <a16:creationId xmlns:a16="http://schemas.microsoft.com/office/drawing/2014/main" id="{2E43C7CB-ACF5-C2EA-3672-9EC11CFA5287}"/>
              </a:ext>
            </a:extLst>
          </p:cNvPr>
          <p:cNvGrpSpPr/>
          <p:nvPr/>
        </p:nvGrpSpPr>
        <p:grpSpPr>
          <a:xfrm>
            <a:off x="4105169" y="3437188"/>
            <a:ext cx="3596286" cy="1337101"/>
            <a:chOff x="3200400" y="2377440"/>
            <a:chExt cx="2743200" cy="1015794"/>
          </a:xfrm>
        </p:grpSpPr>
        <p:sp>
          <p:nvSpPr>
            <p:cNvPr id="83" name="r">
              <a:extLst>
                <a:ext uri="{FF2B5EF4-FFF2-40B4-BE49-F238E27FC236}">
                  <a16:creationId xmlns:a16="http://schemas.microsoft.com/office/drawing/2014/main" id="{EB8DE4A8-002B-599A-CF8E-F115C859F506}"/>
                </a:ext>
              </a:extLst>
            </p:cNvPr>
            <p:cNvSpPr/>
            <p:nvPr/>
          </p:nvSpPr>
          <p:spPr>
            <a:xfrm>
              <a:off x="3200400" y="2377440"/>
              <a:ext cx="2743200" cy="1005840"/>
            </a:xfrm>
            <a:prstGeom prst="rect">
              <a:avLst/>
            </a:prstGeom>
            <a:solidFill>
              <a:srgbClr val="E1F5EE"/>
            </a:solidFill>
            <a:ln w="9525">
              <a:solidFill>
                <a:srgbClr val="5DCAA5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84" name="r">
              <a:extLst>
                <a:ext uri="{FF2B5EF4-FFF2-40B4-BE49-F238E27FC236}">
                  <a16:creationId xmlns:a16="http://schemas.microsoft.com/office/drawing/2014/main" id="{0899D71F-4FA0-09BA-B3A2-5990B9DF637D}"/>
                </a:ext>
              </a:extLst>
            </p:cNvPr>
            <p:cNvSpPr/>
            <p:nvPr/>
          </p:nvSpPr>
          <p:spPr>
            <a:xfrm>
              <a:off x="3200400" y="2377440"/>
              <a:ext cx="2743200" cy="5943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85" name="r">
              <a:extLst>
                <a:ext uri="{FF2B5EF4-FFF2-40B4-BE49-F238E27FC236}">
                  <a16:creationId xmlns:a16="http://schemas.microsoft.com/office/drawing/2014/main" id="{6DDEFE6E-43F4-7D50-0749-B8C5354C8A47}"/>
                </a:ext>
              </a:extLst>
            </p:cNvPr>
            <p:cNvSpPr/>
            <p:nvPr/>
          </p:nvSpPr>
          <p:spPr>
            <a:xfrm>
              <a:off x="4974336" y="2450592"/>
              <a:ext cx="914400" cy="182880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86" name="t">
              <a:extLst>
                <a:ext uri="{FF2B5EF4-FFF2-40B4-BE49-F238E27FC236}">
                  <a16:creationId xmlns:a16="http://schemas.microsoft.com/office/drawing/2014/main" id="{6B4BD9C1-A3F4-FE44-CE95-51E6FFBBD7FB}"/>
                </a:ext>
              </a:extLst>
            </p:cNvPr>
            <p:cNvSpPr txBox="1"/>
            <p:nvPr/>
          </p:nvSpPr>
          <p:spPr>
            <a:xfrm>
              <a:off x="4974336" y="2450592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Mid-term</a:t>
              </a:r>
            </a:p>
          </p:txBody>
        </p:sp>
        <p:sp>
          <p:nvSpPr>
            <p:cNvPr id="87" name="t">
              <a:extLst>
                <a:ext uri="{FF2B5EF4-FFF2-40B4-BE49-F238E27FC236}">
                  <a16:creationId xmlns:a16="http://schemas.microsoft.com/office/drawing/2014/main" id="{A5CF144A-9AA1-B4D1-9BD0-7B44A8161615}"/>
                </a:ext>
              </a:extLst>
            </p:cNvPr>
            <p:cNvSpPr txBox="1"/>
            <p:nvPr/>
          </p:nvSpPr>
          <p:spPr>
            <a:xfrm>
              <a:off x="3328416" y="2468880"/>
              <a:ext cx="1572768" cy="2377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200" b="1" dirty="0">
                  <a:solidFill>
                    <a:srgbClr val="04342C"/>
                  </a:solidFill>
                </a:rPr>
                <a:t>API gateway integration</a:t>
              </a:r>
            </a:p>
          </p:txBody>
        </p:sp>
        <p:sp>
          <p:nvSpPr>
            <p:cNvPr id="88" name="r">
              <a:extLst>
                <a:ext uri="{FF2B5EF4-FFF2-40B4-BE49-F238E27FC236}">
                  <a16:creationId xmlns:a16="http://schemas.microsoft.com/office/drawing/2014/main" id="{D4EE858A-D85C-D85F-970E-7DA59B9A901B}"/>
                </a:ext>
              </a:extLst>
            </p:cNvPr>
            <p:cNvSpPr/>
            <p:nvPr/>
          </p:nvSpPr>
          <p:spPr>
            <a:xfrm>
              <a:off x="3364992" y="2761488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89" name="t">
              <a:extLst>
                <a:ext uri="{FF2B5EF4-FFF2-40B4-BE49-F238E27FC236}">
                  <a16:creationId xmlns:a16="http://schemas.microsoft.com/office/drawing/2014/main" id="{D0B523CF-E45A-0790-ACF8-6AEEB778FAD5}"/>
                </a:ext>
              </a:extLst>
            </p:cNvPr>
            <p:cNvSpPr txBox="1"/>
            <p:nvPr/>
          </p:nvSpPr>
          <p:spPr>
            <a:xfrm>
              <a:off x="3502152" y="2704278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85041"/>
                  </a:solidFill>
                </a:rPr>
                <a:t>Runtime traffic monitoring against spec contracts</a:t>
              </a:r>
            </a:p>
          </p:txBody>
        </p:sp>
        <p:sp>
          <p:nvSpPr>
            <p:cNvPr id="90" name="r">
              <a:extLst>
                <a:ext uri="{FF2B5EF4-FFF2-40B4-BE49-F238E27FC236}">
                  <a16:creationId xmlns:a16="http://schemas.microsoft.com/office/drawing/2014/main" id="{77C06ADD-0266-5A2A-1522-EF5A6C92A87A}"/>
                </a:ext>
              </a:extLst>
            </p:cNvPr>
            <p:cNvSpPr/>
            <p:nvPr/>
          </p:nvSpPr>
          <p:spPr>
            <a:xfrm>
              <a:off x="3364992" y="2960310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91" name="t">
              <a:extLst>
                <a:ext uri="{FF2B5EF4-FFF2-40B4-BE49-F238E27FC236}">
                  <a16:creationId xmlns:a16="http://schemas.microsoft.com/office/drawing/2014/main" id="{A17F9F93-FABD-D999-5EA1-18F5E39026CD}"/>
                </a:ext>
              </a:extLst>
            </p:cNvPr>
            <p:cNvSpPr txBox="1"/>
            <p:nvPr/>
          </p:nvSpPr>
          <p:spPr>
            <a:xfrm>
              <a:off x="3502152" y="2873157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 err="1">
                  <a:solidFill>
                    <a:srgbClr val="085041"/>
                  </a:solidFill>
                </a:rPr>
                <a:t>webMethods</a:t>
              </a:r>
              <a:r>
                <a:rPr lang="en-US" sz="1050" b="0" dirty="0">
                  <a:solidFill>
                    <a:srgbClr val="085041"/>
                  </a:solidFill>
                </a:rPr>
                <a:t> </a:t>
              </a:r>
              <a:r>
                <a:rPr lang="en-US" sz="1050" b="0" dirty="0" err="1">
                  <a:solidFill>
                    <a:srgbClr val="085041"/>
                  </a:solidFill>
                </a:rPr>
                <a:t>APIGateway</a:t>
              </a:r>
              <a:r>
                <a:rPr lang="en-US" sz="1050" b="0" dirty="0">
                  <a:solidFill>
                    <a:srgbClr val="085041"/>
                  </a:solidFill>
                </a:rPr>
                <a:t>/ API Connect / Kong / Apigee adapter layer</a:t>
              </a:r>
            </a:p>
          </p:txBody>
        </p:sp>
        <p:sp>
          <p:nvSpPr>
            <p:cNvPr id="92" name="r">
              <a:extLst>
                <a:ext uri="{FF2B5EF4-FFF2-40B4-BE49-F238E27FC236}">
                  <a16:creationId xmlns:a16="http://schemas.microsoft.com/office/drawing/2014/main" id="{5851F0C2-6E66-DEC8-44D0-F2F6E341E1C5}"/>
                </a:ext>
              </a:extLst>
            </p:cNvPr>
            <p:cNvSpPr/>
            <p:nvPr/>
          </p:nvSpPr>
          <p:spPr>
            <a:xfrm>
              <a:off x="3364992" y="3227994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93" name="t">
              <a:extLst>
                <a:ext uri="{FF2B5EF4-FFF2-40B4-BE49-F238E27FC236}">
                  <a16:creationId xmlns:a16="http://schemas.microsoft.com/office/drawing/2014/main" id="{2C37DE0B-0CDF-F770-EF95-53BF9CA36D5B}"/>
                </a:ext>
              </a:extLst>
            </p:cNvPr>
            <p:cNvSpPr txBox="1"/>
            <p:nvPr/>
          </p:nvSpPr>
          <p:spPr>
            <a:xfrm>
              <a:off x="3502152" y="3173778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050" b="0" dirty="0">
                  <a:solidFill>
                    <a:srgbClr val="085041"/>
                  </a:solidFill>
                </a:rPr>
                <a:t>Live drift detection: running API vs. OpenAPI spec</a:t>
              </a:r>
            </a:p>
          </p:txBody>
        </p:sp>
      </p:grpSp>
      <p:grpSp>
        <p:nvGrpSpPr>
          <p:cNvPr id="94" name="GROUP_Agentic_rule">
            <a:extLst>
              <a:ext uri="{FF2B5EF4-FFF2-40B4-BE49-F238E27FC236}">
                <a16:creationId xmlns:a16="http://schemas.microsoft.com/office/drawing/2014/main" id="{4EF9BEFC-EF9F-23F0-D37B-0BBEF8431B9B}"/>
              </a:ext>
            </a:extLst>
          </p:cNvPr>
          <p:cNvGrpSpPr/>
          <p:nvPr/>
        </p:nvGrpSpPr>
        <p:grpSpPr>
          <a:xfrm>
            <a:off x="7995688" y="3439749"/>
            <a:ext cx="3624812" cy="1329333"/>
            <a:chOff x="6172200" y="2377440"/>
            <a:chExt cx="2743200" cy="1098169"/>
          </a:xfrm>
        </p:grpSpPr>
        <p:sp>
          <p:nvSpPr>
            <p:cNvPr id="95" name="r">
              <a:extLst>
                <a:ext uri="{FF2B5EF4-FFF2-40B4-BE49-F238E27FC236}">
                  <a16:creationId xmlns:a16="http://schemas.microsoft.com/office/drawing/2014/main" id="{3E96E7AD-8394-5720-783B-E28DB913FF56}"/>
                </a:ext>
              </a:extLst>
            </p:cNvPr>
            <p:cNvSpPr/>
            <p:nvPr/>
          </p:nvSpPr>
          <p:spPr>
            <a:xfrm>
              <a:off x="6172200" y="2377440"/>
              <a:ext cx="2743200" cy="1098169"/>
            </a:xfrm>
            <a:prstGeom prst="rect">
              <a:avLst/>
            </a:prstGeom>
            <a:solidFill>
              <a:srgbClr val="E1F5EE"/>
            </a:solidFill>
            <a:ln w="9525">
              <a:solidFill>
                <a:srgbClr val="5DCAA5"/>
              </a:solidFill>
            </a:ln>
          </p:spPr>
          <p:txBody>
            <a:bodyPr/>
            <a:lstStyle/>
            <a:p>
              <a:endParaRPr lang="en-US" sz="2800" dirty="0"/>
            </a:p>
          </p:txBody>
        </p:sp>
        <p:sp>
          <p:nvSpPr>
            <p:cNvPr id="96" name="r">
              <a:extLst>
                <a:ext uri="{FF2B5EF4-FFF2-40B4-BE49-F238E27FC236}">
                  <a16:creationId xmlns:a16="http://schemas.microsoft.com/office/drawing/2014/main" id="{2C5EFCE1-B4A1-8D59-3E76-D9F4CBCE588B}"/>
                </a:ext>
              </a:extLst>
            </p:cNvPr>
            <p:cNvSpPr/>
            <p:nvPr/>
          </p:nvSpPr>
          <p:spPr>
            <a:xfrm>
              <a:off x="6172200" y="2377440"/>
              <a:ext cx="2743200" cy="5943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97" name="r">
              <a:extLst>
                <a:ext uri="{FF2B5EF4-FFF2-40B4-BE49-F238E27FC236}">
                  <a16:creationId xmlns:a16="http://schemas.microsoft.com/office/drawing/2014/main" id="{9B7F1D98-1434-4563-3F5D-6A5E7EBD7347}"/>
                </a:ext>
              </a:extLst>
            </p:cNvPr>
            <p:cNvSpPr/>
            <p:nvPr/>
          </p:nvSpPr>
          <p:spPr>
            <a:xfrm>
              <a:off x="7946136" y="2450592"/>
              <a:ext cx="914400" cy="182880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98" name="t">
              <a:extLst>
                <a:ext uri="{FF2B5EF4-FFF2-40B4-BE49-F238E27FC236}">
                  <a16:creationId xmlns:a16="http://schemas.microsoft.com/office/drawing/2014/main" id="{B47A4F20-67CB-3E51-F728-9E5EC15832C7}"/>
                </a:ext>
              </a:extLst>
            </p:cNvPr>
            <p:cNvSpPr txBox="1"/>
            <p:nvPr/>
          </p:nvSpPr>
          <p:spPr>
            <a:xfrm>
              <a:off x="7946136" y="2450592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Mid-term</a:t>
              </a:r>
            </a:p>
          </p:txBody>
        </p:sp>
        <p:sp>
          <p:nvSpPr>
            <p:cNvPr id="99" name="t">
              <a:extLst>
                <a:ext uri="{FF2B5EF4-FFF2-40B4-BE49-F238E27FC236}">
                  <a16:creationId xmlns:a16="http://schemas.microsoft.com/office/drawing/2014/main" id="{3D91E4EC-AE3C-F811-F899-D65B2696F515}"/>
                </a:ext>
              </a:extLst>
            </p:cNvPr>
            <p:cNvSpPr txBox="1"/>
            <p:nvPr/>
          </p:nvSpPr>
          <p:spPr>
            <a:xfrm>
              <a:off x="6300216" y="2468880"/>
              <a:ext cx="1572768" cy="2377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200" b="1" dirty="0">
                  <a:solidFill>
                    <a:srgbClr val="04342C"/>
                  </a:solidFill>
                </a:rPr>
                <a:t>Agentic rule repo self-update</a:t>
              </a:r>
            </a:p>
          </p:txBody>
        </p:sp>
        <p:sp>
          <p:nvSpPr>
            <p:cNvPr id="100" name="r">
              <a:extLst>
                <a:ext uri="{FF2B5EF4-FFF2-40B4-BE49-F238E27FC236}">
                  <a16:creationId xmlns:a16="http://schemas.microsoft.com/office/drawing/2014/main" id="{A61288B3-2DD2-61A8-CAB9-4D87921365B4}"/>
                </a:ext>
              </a:extLst>
            </p:cNvPr>
            <p:cNvSpPr/>
            <p:nvPr/>
          </p:nvSpPr>
          <p:spPr>
            <a:xfrm>
              <a:off x="6336792" y="2761488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01" name="t">
              <a:extLst>
                <a:ext uri="{FF2B5EF4-FFF2-40B4-BE49-F238E27FC236}">
                  <a16:creationId xmlns:a16="http://schemas.microsoft.com/office/drawing/2014/main" id="{39181A94-2DCF-3159-881D-61468DBF9DC3}"/>
                </a:ext>
              </a:extLst>
            </p:cNvPr>
            <p:cNvSpPr txBox="1"/>
            <p:nvPr/>
          </p:nvSpPr>
          <p:spPr>
            <a:xfrm>
              <a:off x="6473952" y="2684600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950" b="0" dirty="0">
                  <a:solidFill>
                    <a:srgbClr val="085041"/>
                  </a:solidFill>
                </a:rPr>
                <a:t>Continuously scrapes OWASP, OpenAPI, RFC &amp; CVE for new rules</a:t>
              </a:r>
            </a:p>
          </p:txBody>
        </p:sp>
        <p:sp>
          <p:nvSpPr>
            <p:cNvPr id="102" name="r">
              <a:extLst>
                <a:ext uri="{FF2B5EF4-FFF2-40B4-BE49-F238E27FC236}">
                  <a16:creationId xmlns:a16="http://schemas.microsoft.com/office/drawing/2014/main" id="{CF2E404F-DA67-18A3-3D77-048E813A924D}"/>
                </a:ext>
              </a:extLst>
            </p:cNvPr>
            <p:cNvSpPr/>
            <p:nvPr/>
          </p:nvSpPr>
          <p:spPr>
            <a:xfrm>
              <a:off x="6336792" y="2999232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03" name="t">
              <a:extLst>
                <a:ext uri="{FF2B5EF4-FFF2-40B4-BE49-F238E27FC236}">
                  <a16:creationId xmlns:a16="http://schemas.microsoft.com/office/drawing/2014/main" id="{9EFAD046-29C2-8262-5DD3-C089CE4EBE5F}"/>
                </a:ext>
              </a:extLst>
            </p:cNvPr>
            <p:cNvSpPr txBox="1"/>
            <p:nvPr/>
          </p:nvSpPr>
          <p:spPr>
            <a:xfrm>
              <a:off x="6473952" y="2935366"/>
              <a:ext cx="2441448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950" b="0" dirty="0">
                  <a:solidFill>
                    <a:srgbClr val="085041"/>
                  </a:solidFill>
                </a:rPr>
                <a:t>Evaluates, vectorises &amp; stages rules — flags conflicts for review</a:t>
              </a:r>
            </a:p>
          </p:txBody>
        </p:sp>
        <p:sp>
          <p:nvSpPr>
            <p:cNvPr id="104" name="r">
              <a:extLst>
                <a:ext uri="{FF2B5EF4-FFF2-40B4-BE49-F238E27FC236}">
                  <a16:creationId xmlns:a16="http://schemas.microsoft.com/office/drawing/2014/main" id="{CFAAAA8E-D613-EBDB-6D4E-207B174730F3}"/>
                </a:ext>
              </a:extLst>
            </p:cNvPr>
            <p:cNvSpPr/>
            <p:nvPr/>
          </p:nvSpPr>
          <p:spPr>
            <a:xfrm>
              <a:off x="6336792" y="3236976"/>
              <a:ext cx="82296" cy="82296"/>
            </a:xfrm>
            <a:prstGeom prst="rect">
              <a:avLst/>
            </a:prstGeom>
            <a:solidFill>
              <a:srgbClr val="0F6E56"/>
            </a:solidFill>
            <a:ln w="0">
              <a:solidFill>
                <a:srgbClr val="0F6E56"/>
              </a:solidFill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05" name="t">
              <a:extLst>
                <a:ext uri="{FF2B5EF4-FFF2-40B4-BE49-F238E27FC236}">
                  <a16:creationId xmlns:a16="http://schemas.microsoft.com/office/drawing/2014/main" id="{0B637348-C228-0A95-3578-E4AD0E878F7B}"/>
                </a:ext>
              </a:extLst>
            </p:cNvPr>
            <p:cNvSpPr txBox="1"/>
            <p:nvPr/>
          </p:nvSpPr>
          <p:spPr>
            <a:xfrm>
              <a:off x="6473952" y="3176364"/>
              <a:ext cx="2340864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950" b="0" dirty="0">
                  <a:solidFill>
                    <a:srgbClr val="085041"/>
                  </a:solidFill>
                </a:rPr>
                <a:t>Auto-merges approved rules into ChromaDB — zero maintenance</a:t>
              </a:r>
            </a:p>
          </p:txBody>
        </p:sp>
      </p:grpSp>
      <p:grpSp>
        <p:nvGrpSpPr>
          <p:cNvPr id="106" name="GROUP_Distributed_">
            <a:extLst>
              <a:ext uri="{FF2B5EF4-FFF2-40B4-BE49-F238E27FC236}">
                <a16:creationId xmlns:a16="http://schemas.microsoft.com/office/drawing/2014/main" id="{D72B1D6C-5831-D016-77DE-7FD246024385}"/>
              </a:ext>
            </a:extLst>
          </p:cNvPr>
          <p:cNvGrpSpPr/>
          <p:nvPr/>
        </p:nvGrpSpPr>
        <p:grpSpPr>
          <a:xfrm>
            <a:off x="534292" y="5180216"/>
            <a:ext cx="4959991" cy="1153669"/>
            <a:chOff x="228600" y="3685032"/>
            <a:chExt cx="4229100" cy="1005840"/>
          </a:xfrm>
        </p:grpSpPr>
        <p:sp>
          <p:nvSpPr>
            <p:cNvPr id="107" name="r">
              <a:extLst>
                <a:ext uri="{FF2B5EF4-FFF2-40B4-BE49-F238E27FC236}">
                  <a16:creationId xmlns:a16="http://schemas.microsoft.com/office/drawing/2014/main" id="{C23F8235-874C-3F25-DCC8-92CF31AA839D}"/>
                </a:ext>
              </a:extLst>
            </p:cNvPr>
            <p:cNvSpPr/>
            <p:nvPr/>
          </p:nvSpPr>
          <p:spPr>
            <a:xfrm>
              <a:off x="228600" y="3685032"/>
              <a:ext cx="4229100" cy="1005840"/>
            </a:xfrm>
            <a:prstGeom prst="rect">
              <a:avLst/>
            </a:prstGeom>
            <a:solidFill>
              <a:srgbClr val="FAECE7"/>
            </a:solidFill>
            <a:ln w="9525">
              <a:solidFill>
                <a:srgbClr val="F0997B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08" name="r">
              <a:extLst>
                <a:ext uri="{FF2B5EF4-FFF2-40B4-BE49-F238E27FC236}">
                  <a16:creationId xmlns:a16="http://schemas.microsoft.com/office/drawing/2014/main" id="{29EC348D-548A-D4C8-DC1B-3B8C8070471F}"/>
                </a:ext>
              </a:extLst>
            </p:cNvPr>
            <p:cNvSpPr/>
            <p:nvPr/>
          </p:nvSpPr>
          <p:spPr>
            <a:xfrm>
              <a:off x="228600" y="3685032"/>
              <a:ext cx="4229100" cy="5943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09" name="r">
              <a:extLst>
                <a:ext uri="{FF2B5EF4-FFF2-40B4-BE49-F238E27FC236}">
                  <a16:creationId xmlns:a16="http://schemas.microsoft.com/office/drawing/2014/main" id="{587049B9-E21B-19A1-0177-0DD17EAD9323}"/>
                </a:ext>
              </a:extLst>
            </p:cNvPr>
            <p:cNvSpPr/>
            <p:nvPr/>
          </p:nvSpPr>
          <p:spPr>
            <a:xfrm>
              <a:off x="3488436" y="3758184"/>
              <a:ext cx="914400" cy="182880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10" name="t">
              <a:extLst>
                <a:ext uri="{FF2B5EF4-FFF2-40B4-BE49-F238E27FC236}">
                  <a16:creationId xmlns:a16="http://schemas.microsoft.com/office/drawing/2014/main" id="{9613EC2E-5DEF-C889-A2BD-DC67E4C7DA7B}"/>
                </a:ext>
              </a:extLst>
            </p:cNvPr>
            <p:cNvSpPr txBox="1"/>
            <p:nvPr/>
          </p:nvSpPr>
          <p:spPr>
            <a:xfrm>
              <a:off x="3488436" y="3758184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</a:rPr>
                <a:t>Long-term</a:t>
              </a:r>
            </a:p>
          </p:txBody>
        </p:sp>
        <p:sp>
          <p:nvSpPr>
            <p:cNvPr id="111" name="t">
              <a:extLst>
                <a:ext uri="{FF2B5EF4-FFF2-40B4-BE49-F238E27FC236}">
                  <a16:creationId xmlns:a16="http://schemas.microsoft.com/office/drawing/2014/main" id="{C22ED27A-AAB7-3BC3-8973-CAE53C6D8E0D}"/>
                </a:ext>
              </a:extLst>
            </p:cNvPr>
            <p:cNvSpPr txBox="1"/>
            <p:nvPr/>
          </p:nvSpPr>
          <p:spPr>
            <a:xfrm>
              <a:off x="356616" y="3776472"/>
              <a:ext cx="3058668" cy="2377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400" b="1" dirty="0">
                  <a:solidFill>
                    <a:srgbClr val="4A1B0C"/>
                  </a:solidFill>
                </a:rPr>
                <a:t>Distributed multi-agent</a:t>
              </a:r>
            </a:p>
          </p:txBody>
        </p:sp>
        <p:sp>
          <p:nvSpPr>
            <p:cNvPr id="112" name="r">
              <a:extLst>
                <a:ext uri="{FF2B5EF4-FFF2-40B4-BE49-F238E27FC236}">
                  <a16:creationId xmlns:a16="http://schemas.microsoft.com/office/drawing/2014/main" id="{4725EDCC-8195-83F5-2705-E59A6BDEB04D}"/>
                </a:ext>
              </a:extLst>
            </p:cNvPr>
            <p:cNvSpPr/>
            <p:nvPr/>
          </p:nvSpPr>
          <p:spPr>
            <a:xfrm>
              <a:off x="393192" y="4069080"/>
              <a:ext cx="82296" cy="8229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13" name="t">
              <a:extLst>
                <a:ext uri="{FF2B5EF4-FFF2-40B4-BE49-F238E27FC236}">
                  <a16:creationId xmlns:a16="http://schemas.microsoft.com/office/drawing/2014/main" id="{E9A0FAB2-96E8-DD2C-CB28-1CE64D1FC242}"/>
                </a:ext>
              </a:extLst>
            </p:cNvPr>
            <p:cNvSpPr txBox="1"/>
            <p:nvPr/>
          </p:nvSpPr>
          <p:spPr>
            <a:xfrm>
              <a:off x="530352" y="4001059"/>
              <a:ext cx="3826763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712B13"/>
                  </a:solidFill>
                </a:rPr>
                <a:t>Horizontally scaled agent cluster for large API estates</a:t>
              </a:r>
            </a:p>
          </p:txBody>
        </p:sp>
        <p:sp>
          <p:nvSpPr>
            <p:cNvPr id="114" name="r">
              <a:extLst>
                <a:ext uri="{FF2B5EF4-FFF2-40B4-BE49-F238E27FC236}">
                  <a16:creationId xmlns:a16="http://schemas.microsoft.com/office/drawing/2014/main" id="{DD54EAA9-B044-BB57-C1A6-A4277B9E2FAE}"/>
                </a:ext>
              </a:extLst>
            </p:cNvPr>
            <p:cNvSpPr/>
            <p:nvPr/>
          </p:nvSpPr>
          <p:spPr>
            <a:xfrm>
              <a:off x="393192" y="4306824"/>
              <a:ext cx="82296" cy="8229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15" name="t">
              <a:extLst>
                <a:ext uri="{FF2B5EF4-FFF2-40B4-BE49-F238E27FC236}">
                  <a16:creationId xmlns:a16="http://schemas.microsoft.com/office/drawing/2014/main" id="{E30DB7A9-20DF-5257-2C02-068ACF9F8DC3}"/>
                </a:ext>
              </a:extLst>
            </p:cNvPr>
            <p:cNvSpPr txBox="1"/>
            <p:nvPr/>
          </p:nvSpPr>
          <p:spPr>
            <a:xfrm>
              <a:off x="530352" y="4228144"/>
              <a:ext cx="3826763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712B13"/>
                  </a:solidFill>
                </a:rPr>
                <a:t>Distributed ChromaDB — millions of governance rules</a:t>
              </a:r>
            </a:p>
          </p:txBody>
        </p:sp>
        <p:sp>
          <p:nvSpPr>
            <p:cNvPr id="116" name="r">
              <a:extLst>
                <a:ext uri="{FF2B5EF4-FFF2-40B4-BE49-F238E27FC236}">
                  <a16:creationId xmlns:a16="http://schemas.microsoft.com/office/drawing/2014/main" id="{AFA0A620-6121-3B8F-151A-568184A49B88}"/>
                </a:ext>
              </a:extLst>
            </p:cNvPr>
            <p:cNvSpPr/>
            <p:nvPr/>
          </p:nvSpPr>
          <p:spPr>
            <a:xfrm>
              <a:off x="393192" y="4544568"/>
              <a:ext cx="82296" cy="8229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17" name="t">
              <a:extLst>
                <a:ext uri="{FF2B5EF4-FFF2-40B4-BE49-F238E27FC236}">
                  <a16:creationId xmlns:a16="http://schemas.microsoft.com/office/drawing/2014/main" id="{06363AB8-1B5A-8B7B-75FA-15D7B845BBCE}"/>
                </a:ext>
              </a:extLst>
            </p:cNvPr>
            <p:cNvSpPr txBox="1"/>
            <p:nvPr/>
          </p:nvSpPr>
          <p:spPr>
            <a:xfrm>
              <a:off x="530352" y="4465890"/>
              <a:ext cx="3826763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712B13"/>
                  </a:solidFill>
                </a:rPr>
                <a:t>GPU-accelerated embedding generation for 10x throughput</a:t>
              </a:r>
            </a:p>
          </p:txBody>
        </p:sp>
      </p:grpSp>
      <p:grpSp>
        <p:nvGrpSpPr>
          <p:cNvPr id="118" name="GROUP_Advanced_ML_">
            <a:extLst>
              <a:ext uri="{FF2B5EF4-FFF2-40B4-BE49-F238E27FC236}">
                <a16:creationId xmlns:a16="http://schemas.microsoft.com/office/drawing/2014/main" id="{C50C8D5D-31B0-4F38-1B40-B8E9703CC271}"/>
              </a:ext>
            </a:extLst>
          </p:cNvPr>
          <p:cNvGrpSpPr/>
          <p:nvPr/>
        </p:nvGrpSpPr>
        <p:grpSpPr>
          <a:xfrm>
            <a:off x="5908369" y="5191667"/>
            <a:ext cx="5668780" cy="1142218"/>
            <a:chOff x="4686300" y="3685032"/>
            <a:chExt cx="4229100" cy="1005840"/>
          </a:xfrm>
        </p:grpSpPr>
        <p:sp>
          <p:nvSpPr>
            <p:cNvPr id="119" name="r">
              <a:extLst>
                <a:ext uri="{FF2B5EF4-FFF2-40B4-BE49-F238E27FC236}">
                  <a16:creationId xmlns:a16="http://schemas.microsoft.com/office/drawing/2014/main" id="{BA1BD465-4FB3-1592-6DEC-DA84885FFEF6}"/>
                </a:ext>
              </a:extLst>
            </p:cNvPr>
            <p:cNvSpPr/>
            <p:nvPr/>
          </p:nvSpPr>
          <p:spPr>
            <a:xfrm>
              <a:off x="4686300" y="3685032"/>
              <a:ext cx="4229100" cy="1005840"/>
            </a:xfrm>
            <a:prstGeom prst="rect">
              <a:avLst/>
            </a:prstGeom>
            <a:solidFill>
              <a:srgbClr val="FAECE7"/>
            </a:solidFill>
            <a:ln w="9525">
              <a:solidFill>
                <a:srgbClr val="F0997B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20" name="r">
              <a:extLst>
                <a:ext uri="{FF2B5EF4-FFF2-40B4-BE49-F238E27FC236}">
                  <a16:creationId xmlns:a16="http://schemas.microsoft.com/office/drawing/2014/main" id="{1B300480-7F8C-FE93-452C-27517B38D5C1}"/>
                </a:ext>
              </a:extLst>
            </p:cNvPr>
            <p:cNvSpPr/>
            <p:nvPr/>
          </p:nvSpPr>
          <p:spPr>
            <a:xfrm>
              <a:off x="4686300" y="3685032"/>
              <a:ext cx="4229100" cy="5943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21" name="r">
              <a:extLst>
                <a:ext uri="{FF2B5EF4-FFF2-40B4-BE49-F238E27FC236}">
                  <a16:creationId xmlns:a16="http://schemas.microsoft.com/office/drawing/2014/main" id="{5F64493A-1765-9A3F-A891-C927D2E5CCC1}"/>
                </a:ext>
              </a:extLst>
            </p:cNvPr>
            <p:cNvSpPr/>
            <p:nvPr/>
          </p:nvSpPr>
          <p:spPr>
            <a:xfrm>
              <a:off x="7946136" y="3758184"/>
              <a:ext cx="914400" cy="182880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22" name="t">
              <a:extLst>
                <a:ext uri="{FF2B5EF4-FFF2-40B4-BE49-F238E27FC236}">
                  <a16:creationId xmlns:a16="http://schemas.microsoft.com/office/drawing/2014/main" id="{57B88D9B-BDF9-0764-7BA0-D63A91B6096B}"/>
                </a:ext>
              </a:extLst>
            </p:cNvPr>
            <p:cNvSpPr txBox="1"/>
            <p:nvPr/>
          </p:nvSpPr>
          <p:spPr>
            <a:xfrm>
              <a:off x="7946136" y="3758184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</a:rPr>
                <a:t>Long-term</a:t>
              </a:r>
            </a:p>
          </p:txBody>
        </p:sp>
        <p:sp>
          <p:nvSpPr>
            <p:cNvPr id="123" name="t">
              <a:extLst>
                <a:ext uri="{FF2B5EF4-FFF2-40B4-BE49-F238E27FC236}">
                  <a16:creationId xmlns:a16="http://schemas.microsoft.com/office/drawing/2014/main" id="{6085B42D-3F88-9C70-52C6-924699B15B79}"/>
                </a:ext>
              </a:extLst>
            </p:cNvPr>
            <p:cNvSpPr txBox="1"/>
            <p:nvPr/>
          </p:nvSpPr>
          <p:spPr>
            <a:xfrm>
              <a:off x="4814316" y="3776472"/>
              <a:ext cx="3058668" cy="237744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400" b="1" dirty="0">
                  <a:solidFill>
                    <a:srgbClr val="4A1B0C"/>
                  </a:solidFill>
                </a:rPr>
                <a:t>Advanced ML governance</a:t>
              </a:r>
            </a:p>
          </p:txBody>
        </p:sp>
        <p:sp>
          <p:nvSpPr>
            <p:cNvPr id="124" name="r">
              <a:extLst>
                <a:ext uri="{FF2B5EF4-FFF2-40B4-BE49-F238E27FC236}">
                  <a16:creationId xmlns:a16="http://schemas.microsoft.com/office/drawing/2014/main" id="{C17B5284-22D1-DFB6-B88F-51B4ECBFE6E1}"/>
                </a:ext>
              </a:extLst>
            </p:cNvPr>
            <p:cNvSpPr/>
            <p:nvPr/>
          </p:nvSpPr>
          <p:spPr>
            <a:xfrm>
              <a:off x="4850892" y="4069080"/>
              <a:ext cx="82296" cy="8229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25" name="t">
              <a:extLst>
                <a:ext uri="{FF2B5EF4-FFF2-40B4-BE49-F238E27FC236}">
                  <a16:creationId xmlns:a16="http://schemas.microsoft.com/office/drawing/2014/main" id="{D1F19F9B-93EC-CF72-1AF2-0C2E1FA125E0}"/>
                </a:ext>
              </a:extLst>
            </p:cNvPr>
            <p:cNvSpPr txBox="1"/>
            <p:nvPr/>
          </p:nvSpPr>
          <p:spPr>
            <a:xfrm>
              <a:off x="4988052" y="4002210"/>
              <a:ext cx="3826763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712B13"/>
                  </a:solidFill>
                </a:rPr>
                <a:t>Fine-tuned LLM on enterprise API corpus for deep insights</a:t>
              </a:r>
            </a:p>
          </p:txBody>
        </p:sp>
        <p:sp>
          <p:nvSpPr>
            <p:cNvPr id="126" name="r">
              <a:extLst>
                <a:ext uri="{FF2B5EF4-FFF2-40B4-BE49-F238E27FC236}">
                  <a16:creationId xmlns:a16="http://schemas.microsoft.com/office/drawing/2014/main" id="{FC8A1C98-E384-AF32-EB99-9A8C542EB849}"/>
                </a:ext>
              </a:extLst>
            </p:cNvPr>
            <p:cNvSpPr/>
            <p:nvPr/>
          </p:nvSpPr>
          <p:spPr>
            <a:xfrm>
              <a:off x="4850892" y="4306824"/>
              <a:ext cx="82296" cy="8229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27" name="t">
              <a:extLst>
                <a:ext uri="{FF2B5EF4-FFF2-40B4-BE49-F238E27FC236}">
                  <a16:creationId xmlns:a16="http://schemas.microsoft.com/office/drawing/2014/main" id="{161E1088-F1FA-A470-6CE8-443F380EBDAF}"/>
                </a:ext>
              </a:extLst>
            </p:cNvPr>
            <p:cNvSpPr txBox="1"/>
            <p:nvPr/>
          </p:nvSpPr>
          <p:spPr>
            <a:xfrm>
              <a:off x="4988052" y="4225004"/>
              <a:ext cx="3826763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712B13"/>
                  </a:solidFill>
                </a:rPr>
                <a:t>Edge deployment — offline analysis without cloud dependency</a:t>
              </a:r>
            </a:p>
          </p:txBody>
        </p:sp>
        <p:sp>
          <p:nvSpPr>
            <p:cNvPr id="128" name="r">
              <a:extLst>
                <a:ext uri="{FF2B5EF4-FFF2-40B4-BE49-F238E27FC236}">
                  <a16:creationId xmlns:a16="http://schemas.microsoft.com/office/drawing/2014/main" id="{9AF936EE-F6C5-0C5F-267D-79D52344212D}"/>
                </a:ext>
              </a:extLst>
            </p:cNvPr>
            <p:cNvSpPr/>
            <p:nvPr/>
          </p:nvSpPr>
          <p:spPr>
            <a:xfrm>
              <a:off x="4850892" y="4544568"/>
              <a:ext cx="82296" cy="82296"/>
            </a:xfrm>
            <a:prstGeom prst="rect">
              <a:avLst/>
            </a:prstGeom>
            <a:solidFill>
              <a:srgbClr val="993C1D"/>
            </a:solidFill>
            <a:ln w="0">
              <a:solidFill>
                <a:srgbClr val="993C1D"/>
              </a:solidFill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29" name="t">
              <a:extLst>
                <a:ext uri="{FF2B5EF4-FFF2-40B4-BE49-F238E27FC236}">
                  <a16:creationId xmlns:a16="http://schemas.microsoft.com/office/drawing/2014/main" id="{63F5124F-6373-791C-23C8-C3C55BAF4EC7}"/>
                </a:ext>
              </a:extLst>
            </p:cNvPr>
            <p:cNvSpPr txBox="1"/>
            <p:nvPr/>
          </p:nvSpPr>
          <p:spPr>
            <a:xfrm>
              <a:off x="4988052" y="4466488"/>
              <a:ext cx="3826763" cy="219456"/>
            </a:xfrm>
            <a:prstGeom prst="rect">
              <a:avLst/>
            </a:prstGeom>
            <a:noFill/>
            <a:ln/>
          </p:spPr>
          <p:txBody>
            <a:bodyPr wrap="square" rtlCol="0"/>
            <a:lstStyle/>
            <a:p>
              <a:pPr algn="l"/>
              <a:r>
                <a:rPr lang="en-US" sz="1100" b="0" dirty="0">
                  <a:solidFill>
                    <a:srgbClr val="712B13"/>
                  </a:solidFill>
                </a:rPr>
                <a:t>ML-based anomaly detection across API change history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33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5296-5758-C3EB-C045-286784AD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828CE4-C862-17B8-0572-C7154E83481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52C340-A669-5DDC-476E-D273E66BD9E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301E81-C02C-2BCE-512D-DA016B786473}"/>
              </a:ext>
            </a:extLst>
          </p:cNvPr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8C07AF-8A05-573C-BC5B-3338EAF0D8F3}"/>
              </a:ext>
            </a:extLst>
          </p:cNvPr>
          <p:cNvSpPr/>
          <p:nvPr/>
        </p:nvSpPr>
        <p:spPr>
          <a:xfrm>
            <a:off x="0" y="1172261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4B6941C-5316-7E02-2A7F-628635A92298}"/>
              </a:ext>
            </a:extLst>
          </p:cNvPr>
          <p:cNvSpPr txBox="1"/>
          <p:nvPr/>
        </p:nvSpPr>
        <p:spPr>
          <a:xfrm>
            <a:off x="571500" y="466344"/>
            <a:ext cx="988811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and Code base</a:t>
            </a:r>
            <a:endParaRPr lang="en-US" sz="3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FA45D39-11A7-3AF1-F5F4-C54A565249B9}"/>
              </a:ext>
            </a:extLst>
          </p:cNvPr>
          <p:cNvSpPr/>
          <p:nvPr/>
        </p:nvSpPr>
        <p:spPr>
          <a:xfrm>
            <a:off x="0" y="6372454"/>
            <a:ext cx="12191695" cy="485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509287-AC60-F0E6-F7F4-1B01C0A2A224}"/>
              </a:ext>
            </a:extLst>
          </p:cNvPr>
          <p:cNvSpPr/>
          <p:nvPr/>
        </p:nvSpPr>
        <p:spPr>
          <a:xfrm>
            <a:off x="0" y="6372454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A29793-F0C3-08F4-FDF7-34E5AB2A7494}"/>
              </a:ext>
            </a:extLst>
          </p:cNvPr>
          <p:cNvSpPr txBox="1"/>
          <p:nvPr/>
        </p:nvSpPr>
        <p:spPr>
          <a:xfrm>
            <a:off x="571500" y="6543446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COE Automation Hackathon 2026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20565D9-0596-E4CF-AF20-AB90D7857D44}"/>
              </a:ext>
            </a:extLst>
          </p:cNvPr>
          <p:cNvSpPr txBox="1"/>
          <p:nvPr/>
        </p:nvSpPr>
        <p:spPr>
          <a:xfrm>
            <a:off x="10006279" y="6543446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- Internal Use Only</a:t>
            </a:r>
            <a:endParaRPr lang="en-US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D0AA34-062C-C15C-23C6-9A0A8CFB49AF}"/>
              </a:ext>
            </a:extLst>
          </p:cNvPr>
          <p:cNvSpPr txBox="1"/>
          <p:nvPr/>
        </p:nvSpPr>
        <p:spPr>
          <a:xfrm>
            <a:off x="869937" y="124746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C45EC98-F5C6-6142-0BFD-16C9F528C3BA}"/>
              </a:ext>
            </a:extLst>
          </p:cNvPr>
          <p:cNvSpPr txBox="1"/>
          <p:nvPr/>
        </p:nvSpPr>
        <p:spPr>
          <a:xfrm>
            <a:off x="571500" y="1737000"/>
            <a:ext cx="988811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 the accessible links to the recorded Demo and the Solution code base.</a:t>
            </a:r>
            <a:endParaRPr lang="en-US" sz="2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9D1E0CD-5085-E893-870D-BDC128EB3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732827"/>
              </p:ext>
            </p:extLst>
          </p:nvPr>
        </p:nvGraphicFramePr>
        <p:xfrm>
          <a:off x="940238" y="2532886"/>
          <a:ext cx="8605783" cy="1651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97216">
                  <a:extLst>
                    <a:ext uri="{9D8B030D-6E8A-4147-A177-3AD203B41FA5}">
                      <a16:colId xmlns:a16="http://schemas.microsoft.com/office/drawing/2014/main" val="2579732285"/>
                    </a:ext>
                  </a:extLst>
                </a:gridCol>
                <a:gridCol w="7308567">
                  <a:extLst>
                    <a:ext uri="{9D8B030D-6E8A-4147-A177-3AD203B41FA5}">
                      <a16:colId xmlns:a16="http://schemas.microsoft.com/office/drawing/2014/main" val="4059799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https://ibm.box.com/s/2nifq7arom2umnqa7eok26hg93ug8zhz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57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https://ibm.box.com/s/2ni5xiv5256heqf6tpg3s2lyy8ezg7su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52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6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4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CC65F-C195-E666-A9F2-9C358CE3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E14045-FBC3-60B4-1EF4-ACD825A0855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E81C1F9-53A2-7CB8-2160-575D5ABC10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69F592-8FB8-886F-5254-C229A4B72F19}"/>
              </a:ext>
            </a:extLst>
          </p:cNvPr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FBD0B1-2ADB-5480-94A6-21F03071DFB2}"/>
              </a:ext>
            </a:extLst>
          </p:cNvPr>
          <p:cNvSpPr/>
          <p:nvPr/>
        </p:nvSpPr>
        <p:spPr>
          <a:xfrm>
            <a:off x="0" y="1172261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F046DB-9C13-D287-3AAC-0BA4A9CAB077}"/>
              </a:ext>
            </a:extLst>
          </p:cNvPr>
          <p:cNvSpPr txBox="1"/>
          <p:nvPr/>
        </p:nvSpPr>
        <p:spPr>
          <a:xfrm>
            <a:off x="571500" y="466344"/>
            <a:ext cx="988811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B8DAD51-CF03-B8FE-17CA-D79CF4A67BB9}"/>
              </a:ext>
            </a:extLst>
          </p:cNvPr>
          <p:cNvSpPr/>
          <p:nvPr/>
        </p:nvSpPr>
        <p:spPr>
          <a:xfrm>
            <a:off x="0" y="6372454"/>
            <a:ext cx="12191695" cy="4855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EF816C-0932-B86A-A982-69E445639CF2}"/>
              </a:ext>
            </a:extLst>
          </p:cNvPr>
          <p:cNvSpPr/>
          <p:nvPr/>
        </p:nvSpPr>
        <p:spPr>
          <a:xfrm>
            <a:off x="0" y="6372454"/>
            <a:ext cx="12191695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8A90CE-4EEA-C404-78C7-D9D6AC148F0E}"/>
              </a:ext>
            </a:extLst>
          </p:cNvPr>
          <p:cNvSpPr txBox="1"/>
          <p:nvPr/>
        </p:nvSpPr>
        <p:spPr>
          <a:xfrm>
            <a:off x="571500" y="6543446"/>
            <a:ext cx="1828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COE Automation Hackathon 2026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94FABE-8640-82B0-CE46-E532034FA345}"/>
              </a:ext>
            </a:extLst>
          </p:cNvPr>
          <p:cNvSpPr txBox="1"/>
          <p:nvPr/>
        </p:nvSpPr>
        <p:spPr>
          <a:xfrm>
            <a:off x="10006279" y="6543446"/>
            <a:ext cx="17053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- Internal Use Only</a:t>
            </a:r>
            <a:endParaRPr lang="en-US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F8D29C-E8CE-D609-52CA-20EEFB92CFA8}"/>
              </a:ext>
            </a:extLst>
          </p:cNvPr>
          <p:cNvSpPr txBox="1"/>
          <p:nvPr/>
        </p:nvSpPr>
        <p:spPr>
          <a:xfrm>
            <a:off x="869937" y="124746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5633F09-C434-07A7-2EFE-0319F663A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437250"/>
              </p:ext>
            </p:extLst>
          </p:nvPr>
        </p:nvGraphicFramePr>
        <p:xfrm>
          <a:off x="571499" y="1696705"/>
          <a:ext cx="9494784" cy="165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47392">
                  <a:extLst>
                    <a:ext uri="{9D8B030D-6E8A-4147-A177-3AD203B41FA5}">
                      <a16:colId xmlns:a16="http://schemas.microsoft.com/office/drawing/2014/main" val="1805199088"/>
                    </a:ext>
                  </a:extLst>
                </a:gridCol>
                <a:gridCol w="4747392">
                  <a:extLst>
                    <a:ext uri="{9D8B030D-6E8A-4147-A177-3AD203B41FA5}">
                      <a16:colId xmlns:a16="http://schemas.microsoft.com/office/drawing/2014/main" val="2098396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Team Name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 dirty="0" err="1"/>
                        <a:t>SpecSentinel</a:t>
                      </a:r>
                      <a:endParaRPr lang="en-GB" sz="18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67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Team Members &amp; Roles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Debapriyo Dasgupta (Lead engineer) </a:t>
                      </a:r>
                    </a:p>
                    <a:p>
                      <a:r>
                        <a:rPr lang="en-US" b="0" dirty="0" err="1"/>
                        <a:t>Niveed</a:t>
                      </a:r>
                      <a:r>
                        <a:rPr lang="en-US" b="0" dirty="0"/>
                        <a:t> Kumar Reddy </a:t>
                      </a:r>
                      <a:r>
                        <a:rPr lang="en-US" b="0" dirty="0" err="1"/>
                        <a:t>Bollapally</a:t>
                      </a:r>
                      <a:r>
                        <a:rPr lang="en-US" b="0" dirty="0"/>
                        <a:t> (Contributor)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3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Track / Theme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Automation powered by AI fundamental model and Agentic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89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266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4175</TotalTime>
  <Words>1476</Words>
  <Application>Microsoft Office PowerPoint</Application>
  <PresentationFormat>Widescreen</PresentationFormat>
  <Paragraphs>251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Debapriyo Dasgupta</cp:lastModifiedBy>
  <cp:revision>44</cp:revision>
  <dcterms:created xsi:type="dcterms:W3CDTF">2026-01-20T06:23:25Z</dcterms:created>
  <dcterms:modified xsi:type="dcterms:W3CDTF">2026-03-24T14:12:49Z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7a545dd-2446-49e5-a657-8b9dadc6fc8d_Enabled">
    <vt:lpwstr>true</vt:lpwstr>
  </property>
  <property fmtid="{D5CDD505-2E9C-101B-9397-08002B2CF9AE}" pid="3" name="MSIP_Label_67a545dd-2446-49e5-a657-8b9dadc6fc8d_SetDate">
    <vt:lpwstr>2026-03-23T14:04:12Z</vt:lpwstr>
  </property>
  <property fmtid="{D5CDD505-2E9C-101B-9397-08002B2CF9AE}" pid="4" name="MSIP_Label_67a545dd-2446-49e5-a657-8b9dadc6fc8d_Method">
    <vt:lpwstr>Privileged</vt:lpwstr>
  </property>
  <property fmtid="{D5CDD505-2E9C-101B-9397-08002B2CF9AE}" pid="5" name="MSIP_Label_67a545dd-2446-49e5-a657-8b9dadc6fc8d_Name">
    <vt:lpwstr>IBM Confidential – Internal Sharing Only</vt:lpwstr>
  </property>
  <property fmtid="{D5CDD505-2E9C-101B-9397-08002B2CF9AE}" pid="6" name="MSIP_Label_67a545dd-2446-49e5-a657-8b9dadc6fc8d_SiteId">
    <vt:lpwstr>fcf67057-50c9-4ad4-98f3-ffca64add9e9</vt:lpwstr>
  </property>
  <property fmtid="{D5CDD505-2E9C-101B-9397-08002B2CF9AE}" pid="7" name="MSIP_Label_67a545dd-2446-49e5-a657-8b9dadc6fc8d_ActionId">
    <vt:lpwstr>f964fd3e-8102-41a7-b0ab-6df8cc9674af</vt:lpwstr>
  </property>
  <property fmtid="{D5CDD505-2E9C-101B-9397-08002B2CF9AE}" pid="8" name="MSIP_Label_67a545dd-2446-49e5-a657-8b9dadc6fc8d_ContentBits">
    <vt:lpwstr>0</vt:lpwstr>
  </property>
  <property fmtid="{D5CDD505-2E9C-101B-9397-08002B2CF9AE}" pid="9" name="MSIP_Label_67a545dd-2446-49e5-a657-8b9dadc6fc8d_Tag">
    <vt:lpwstr>10, 0, 1, 1</vt:lpwstr>
  </property>
</Properties>
</file>